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257" r:id="rId4"/>
    <p:sldId id="274" r:id="rId5"/>
    <p:sldId id="276" r:id="rId6"/>
    <p:sldId id="277" r:id="rId7"/>
    <p:sldId id="278" r:id="rId8"/>
    <p:sldId id="279" r:id="rId9"/>
    <p:sldId id="280" r:id="rId10"/>
    <p:sldId id="283" r:id="rId11"/>
    <p:sldId id="284" r:id="rId12"/>
    <p:sldId id="285" r:id="rId13"/>
    <p:sldId id="286" r:id="rId14"/>
    <p:sldId id="287" r:id="rId15"/>
    <p:sldId id="273" r:id="rId16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494"/>
  </p:normalViewPr>
  <p:slideViewPr>
    <p:cSldViewPr>
      <p:cViewPr varScale="1">
        <p:scale>
          <a:sx n="69" d="100"/>
          <a:sy n="69" d="100"/>
        </p:scale>
        <p:origin x="1584" y="77"/>
      </p:cViewPr>
      <p:guideLst>
        <p:guide orient="horz" pos="2381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>
                <a:latin typeface="Arial"/>
              </a:rPr>
              <a:t>Click to edit the notes format</a:t>
            </a:r>
            <a:endParaRPr/>
          </a:p>
        </p:txBody>
      </p:sp>
      <p:sp>
        <p:nvSpPr>
          <p:cNvPr id="84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>
                <a:latin typeface="Times New Roman"/>
              </a:rPr>
              <a:t>&lt;header&gt;</a:t>
            </a:r>
            <a:endParaRPr/>
          </a:p>
        </p:txBody>
      </p:sp>
      <p:sp>
        <p:nvSpPr>
          <p:cNvPr id="85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>
                <a:latin typeface="Times New Roman"/>
              </a:rPr>
              <a:t>&lt;date/time&gt;</a:t>
            </a:r>
            <a:endParaRPr/>
          </a:p>
        </p:txBody>
      </p:sp>
      <p:sp>
        <p:nvSpPr>
          <p:cNvPr id="86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>
                <a:latin typeface="Times New Roman"/>
              </a:rPr>
              <a:t>&lt;footer&gt;</a:t>
            </a:r>
            <a:endParaRPr/>
          </a:p>
        </p:txBody>
      </p:sp>
      <p:sp>
        <p:nvSpPr>
          <p:cNvPr id="87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60CC8DB6-E66B-4975-A4C2-4EF89854D6E8}" type="slidenum">
              <a:rPr lang="en-US" sz="1400">
                <a:latin typeface="Times New Roman"/>
              </a:rPr>
              <a:pPr algn="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750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CustomShape 2"/>
          <p:cNvSpPr/>
          <p:nvPr/>
        </p:nvSpPr>
        <p:spPr>
          <a:xfrm>
            <a:off x="4282200" y="10155600"/>
            <a:ext cx="3273840" cy="5324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97440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99" name="CustomShape 2"/>
          <p:cNvSpPr/>
          <p:nvPr/>
        </p:nvSpPr>
        <p:spPr>
          <a:xfrm>
            <a:off x="4282200" y="10155600"/>
            <a:ext cx="3273840" cy="5324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144821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40" name="Picture 39"/>
          <p:cNvPicPr/>
          <p:nvPr/>
        </p:nvPicPr>
        <p:blipFill>
          <a:blip r:embed="rId2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  <p:pic>
        <p:nvPicPr>
          <p:cNvPr id="41" name="Picture 40"/>
          <p:cNvPicPr/>
          <p:nvPr/>
        </p:nvPicPr>
        <p:blipFill>
          <a:blip r:embed="rId2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81" name="Picture 80"/>
          <p:cNvPicPr/>
          <p:nvPr/>
        </p:nvPicPr>
        <p:blipFill>
          <a:blip r:embed="rId2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  <p:pic>
        <p:nvPicPr>
          <p:cNvPr id="82" name="Picture 81"/>
          <p:cNvPicPr/>
          <p:nvPr/>
        </p:nvPicPr>
        <p:blipFill>
          <a:blip r:embed="rId2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/>
          <p:nvPr/>
        </p:nvPicPr>
        <p:blipFill>
          <a:blip r:embed="rId14"/>
          <a:stretch/>
        </p:blipFill>
        <p:spPr>
          <a:xfrm>
            <a:off x="0" y="5040"/>
            <a:ext cx="10077840" cy="7124040"/>
          </a:xfrm>
          <a:prstGeom prst="rect">
            <a:avLst/>
          </a:prstGeom>
          <a:ln>
            <a:noFill/>
          </a:ln>
        </p:spPr>
      </p:pic>
      <p:sp>
        <p:nvSpPr>
          <p:cNvPr id="9" name="CustomShape 1"/>
          <p:cNvSpPr/>
          <p:nvPr/>
        </p:nvSpPr>
        <p:spPr>
          <a:xfrm>
            <a:off x="0" y="5685120"/>
            <a:ext cx="10077840" cy="1872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Picture 14"/>
          <p:cNvPicPr/>
          <p:nvPr/>
        </p:nvPicPr>
        <p:blipFill>
          <a:blip r:embed="rId15"/>
          <a:stretch/>
        </p:blipFill>
        <p:spPr>
          <a:xfrm>
            <a:off x="0" y="0"/>
            <a:ext cx="10077840" cy="1149480"/>
          </a:xfrm>
          <a:prstGeom prst="rect">
            <a:avLst/>
          </a:prstGeom>
          <a:ln>
            <a:noFill/>
          </a:ln>
        </p:spPr>
      </p:pic>
      <p:pic>
        <p:nvPicPr>
          <p:cNvPr id="3" name="Picture 1"/>
          <p:cNvPicPr/>
          <p:nvPr/>
        </p:nvPicPr>
        <p:blipFill>
          <a:blip r:embed="rId16"/>
          <a:stretch/>
        </p:blipFill>
        <p:spPr>
          <a:xfrm>
            <a:off x="5040" y="5040"/>
            <a:ext cx="10072800" cy="7120440"/>
          </a:xfrm>
          <a:prstGeom prst="rect">
            <a:avLst/>
          </a:prstGeom>
          <a:ln>
            <a:noFill/>
          </a:ln>
        </p:spPr>
      </p:pic>
      <p:sp>
        <p:nvSpPr>
          <p:cNvPr id="4" name="CustomShape 2"/>
          <p:cNvSpPr/>
          <p:nvPr/>
        </p:nvSpPr>
        <p:spPr>
          <a:xfrm>
            <a:off x="0" y="5685120"/>
            <a:ext cx="10077840" cy="1872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CustomShape 3"/>
          <p:cNvSpPr/>
          <p:nvPr/>
        </p:nvSpPr>
        <p:spPr>
          <a:xfrm>
            <a:off x="1864800" y="1794960"/>
            <a:ext cx="8213040" cy="576252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1"/>
          <p:cNvPicPr/>
          <p:nvPr/>
        </p:nvPicPr>
        <p:blipFill>
          <a:blip r:embed="rId14"/>
          <a:stretch/>
        </p:blipFill>
        <p:spPr>
          <a:xfrm>
            <a:off x="0" y="5040"/>
            <a:ext cx="10077840" cy="7124040"/>
          </a:xfrm>
          <a:prstGeom prst="rect">
            <a:avLst/>
          </a:prstGeom>
          <a:ln>
            <a:noFill/>
          </a:ln>
        </p:spPr>
      </p:pic>
      <p:sp>
        <p:nvSpPr>
          <p:cNvPr id="43" name="CustomShape 1"/>
          <p:cNvSpPr/>
          <p:nvPr/>
        </p:nvSpPr>
        <p:spPr>
          <a:xfrm>
            <a:off x="0" y="5685120"/>
            <a:ext cx="10077840" cy="1872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4" name="Picture 14"/>
          <p:cNvPicPr/>
          <p:nvPr/>
        </p:nvPicPr>
        <p:blipFill>
          <a:blip r:embed="rId15"/>
          <a:stretch/>
        </p:blipFill>
        <p:spPr>
          <a:xfrm>
            <a:off x="0" y="0"/>
            <a:ext cx="10077840" cy="1149480"/>
          </a:xfrm>
          <a:prstGeom prst="rect">
            <a:avLst/>
          </a:prstGeom>
          <a:ln>
            <a:noFill/>
          </a:ln>
        </p:spPr>
      </p:pic>
      <p:pic>
        <p:nvPicPr>
          <p:cNvPr id="45" name="Picture 1"/>
          <p:cNvPicPr/>
          <p:nvPr/>
        </p:nvPicPr>
        <p:blipFill>
          <a:blip r:embed="rId14"/>
          <a:stretch/>
        </p:blipFill>
        <p:spPr>
          <a:xfrm>
            <a:off x="0" y="-15480"/>
            <a:ext cx="10077840" cy="7124040"/>
          </a:xfrm>
          <a:prstGeom prst="rect">
            <a:avLst/>
          </a:prstGeom>
          <a:ln>
            <a:noFill/>
          </a:ln>
        </p:spPr>
      </p:pic>
      <p:sp>
        <p:nvSpPr>
          <p:cNvPr id="46" name="CustomShape 2"/>
          <p:cNvSpPr/>
          <p:nvPr/>
        </p:nvSpPr>
        <p:spPr>
          <a:xfrm>
            <a:off x="0" y="5685120"/>
            <a:ext cx="10077840" cy="1872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2023200" y="2986200"/>
            <a:ext cx="7856280" cy="161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9" name="CustomShape 2"/>
          <p:cNvSpPr/>
          <p:nvPr/>
        </p:nvSpPr>
        <p:spPr>
          <a:xfrm>
            <a:off x="1864440" y="1794960"/>
            <a:ext cx="9684000" cy="1005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dirty="0">
                <a:solidFill>
                  <a:srgbClr val="FFFFFF"/>
                </a:solidFill>
                <a:latin typeface="Tahoma"/>
                <a:ea typeface="DejaVu Sans"/>
              </a:rPr>
              <a:t>Subject	</a:t>
            </a:r>
            <a:r>
              <a:rPr lang="en-US" sz="2400" b="1" dirty="0">
                <a:solidFill>
                  <a:srgbClr val="FFFFFF"/>
                </a:solidFill>
                <a:latin typeface="Tahoma"/>
                <a:ea typeface="DejaVu Sans"/>
              </a:rPr>
              <a:t>: Software Security</a:t>
            </a:r>
            <a:endParaRPr lang="en-US" sz="2400" b="1" strike="noStrike" dirty="0">
              <a:solidFill>
                <a:srgbClr val="FFFFFF"/>
              </a:solidFill>
              <a:latin typeface="Tahoma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dirty="0">
                <a:solidFill>
                  <a:srgbClr val="FFFFFF"/>
                </a:solidFill>
                <a:latin typeface="Tahoma"/>
                <a:ea typeface="DejaVu Sans"/>
              </a:rPr>
              <a:t>Year		: 2019</a:t>
            </a:r>
            <a:endParaRPr dirty="0"/>
          </a:p>
        </p:txBody>
      </p:sp>
      <p:sp>
        <p:nvSpPr>
          <p:cNvPr id="90" name="CustomShape 3"/>
          <p:cNvSpPr/>
          <p:nvPr/>
        </p:nvSpPr>
        <p:spPr>
          <a:xfrm>
            <a:off x="2011680" y="4023360"/>
            <a:ext cx="7953480" cy="189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US" sz="3200" b="1" strike="noStrike" dirty="0">
                <a:solidFill>
                  <a:srgbClr val="FFFFFF"/>
                </a:solidFill>
                <a:latin typeface="Open Sans"/>
                <a:ea typeface="DejaVu Sans"/>
              </a:rPr>
              <a:t>Threat Modelling Tools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1931760" y="1512000"/>
            <a:ext cx="7534800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Learning Outcomes</a:t>
            </a:r>
            <a:endParaRPr dirty="0"/>
          </a:p>
        </p:txBody>
      </p:sp>
      <p:sp>
        <p:nvSpPr>
          <p:cNvPr id="93" name="CustomShape 3"/>
          <p:cNvSpPr/>
          <p:nvPr/>
        </p:nvSpPr>
        <p:spPr>
          <a:xfrm>
            <a:off x="7223760" y="7113600"/>
            <a:ext cx="2350080" cy="40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4"/>
          <p:cNvSpPr/>
          <p:nvPr/>
        </p:nvSpPr>
        <p:spPr>
          <a:xfrm>
            <a:off x="1008000" y="2520000"/>
            <a:ext cx="8650080" cy="4100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000" strike="noStrike" dirty="0">
                <a:solidFill>
                  <a:srgbClr val="000000"/>
                </a:solidFill>
                <a:latin typeface="Tahoma"/>
                <a:ea typeface="DejaVu Sans"/>
              </a:rPr>
              <a:t>At the end of this session, student will be able to: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/>
              </a:rPr>
              <a:t>) Using Open source tools for threat modelling</a:t>
            </a:r>
            <a:endParaRPr dirty="0"/>
          </a:p>
          <a:p>
            <a:pPr>
              <a:lnSpc>
                <a:spcPct val="9000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US" sz="1800" dirty="0"/>
              <a:t>This chapter covers tools to help you threat model. Tooling can help threat</a:t>
            </a:r>
          </a:p>
          <a:p>
            <a:r>
              <a:rPr lang="en-US" sz="1800" dirty="0"/>
              <a:t>modeling in a number of ways. It can help you create better models, or create</a:t>
            </a:r>
          </a:p>
          <a:p>
            <a:r>
              <a:rPr lang="en-US" sz="1800" dirty="0"/>
              <a:t>models more </a:t>
            </a:r>
            <a:r>
              <a:rPr lang="en-US" sz="1800" dirty="0" err="1"/>
              <a:t>fl</a:t>
            </a:r>
            <a:r>
              <a:rPr lang="en-US" sz="1800" dirty="0"/>
              <a:t> </a:t>
            </a:r>
            <a:r>
              <a:rPr lang="en-US" sz="1800" dirty="0" err="1"/>
              <a:t>uidly</a:t>
            </a:r>
            <a:r>
              <a:rPr lang="en-US" sz="1800" dirty="0"/>
              <a:t>. Tools can help you remember to engage in various steps,</a:t>
            </a:r>
          </a:p>
          <a:p>
            <a:r>
              <a:rPr lang="en-US" sz="1800" dirty="0"/>
              <a:t>or provide assistance performing those steps. Tools can help create a more</a:t>
            </a:r>
          </a:p>
          <a:p>
            <a:r>
              <a:rPr lang="en-US" sz="1800" dirty="0"/>
              <a:t>legible or even beautiful threat model document. Tools can help you check your</a:t>
            </a:r>
          </a:p>
          <a:p>
            <a:r>
              <a:rPr lang="en-US" sz="1800" dirty="0"/>
              <a:t>threat model for completeness. Finally, tools can help you create actionable</a:t>
            </a:r>
          </a:p>
          <a:p>
            <a:r>
              <a:rPr lang="en-US" sz="1800" dirty="0"/>
              <a:t>output from a threat model.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Introduction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553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ID" sz="1800" b="1" dirty="0"/>
              <a:t>Whiteboards</a:t>
            </a:r>
          </a:p>
          <a:p>
            <a:r>
              <a:rPr lang="en-US" sz="1800" dirty="0"/>
              <a:t>I can hardly imagine threat modeling without a whiteboard. No technology I’ve</a:t>
            </a:r>
          </a:p>
          <a:p>
            <a:r>
              <a:rPr lang="en-US" sz="1800" dirty="0"/>
              <a:t>used has the immediacy, flexibility, and visibility to a group than a whiteboard</a:t>
            </a:r>
          </a:p>
          <a:p>
            <a:r>
              <a:rPr lang="en-US" sz="1800" dirty="0"/>
              <a:t>when iteratively drawing system architecture. Whiteboards also have the advantage</a:t>
            </a:r>
          </a:p>
          <a:p>
            <a:r>
              <a:rPr lang="en-US" sz="1800" dirty="0"/>
              <a:t>of transience—drawing on paper just isn’t the same.</a:t>
            </a:r>
          </a:p>
          <a:p>
            <a:endParaRPr lang="en-US" dirty="0"/>
          </a:p>
          <a:p>
            <a:r>
              <a:rPr lang="en-ID" sz="1800" b="1" dirty="0"/>
              <a:t>Office Suites</a:t>
            </a:r>
          </a:p>
          <a:p>
            <a:r>
              <a:rPr lang="en-US" sz="1800" dirty="0"/>
              <a:t>Microsoft Office contains a number of tools that are very useful in threat</a:t>
            </a:r>
          </a:p>
          <a:p>
            <a:r>
              <a:rPr lang="en-US" sz="1800" dirty="0"/>
              <a:t>modeling. Word is a great tool for recording threats in free-form.</a:t>
            </a:r>
          </a:p>
          <a:p>
            <a:endParaRPr lang="en-US" dirty="0"/>
          </a:p>
          <a:p>
            <a:r>
              <a:rPr lang="en-ID" sz="1800" b="1" dirty="0"/>
              <a:t>Bug-Tracking Systems</a:t>
            </a:r>
          </a:p>
          <a:p>
            <a:r>
              <a:rPr lang="en-US" sz="1800" dirty="0"/>
              <a:t>Whatever bug-tracking system you use should also be used to track threats. A</a:t>
            </a:r>
          </a:p>
          <a:p>
            <a:r>
              <a:rPr lang="en-US" sz="1800" dirty="0"/>
              <a:t>good bug from threat modeling can take many forms.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Generally Useful Tools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4516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US" sz="1800" dirty="0"/>
              <a:t>■ </a:t>
            </a:r>
            <a:r>
              <a:rPr lang="en-US" sz="1800" b="1" dirty="0"/>
              <a:t>The threat itself</a:t>
            </a:r>
            <a:r>
              <a:rPr lang="en-US" sz="1800" dirty="0"/>
              <a:t>: Here the bug title is of a form such as “an attacker can</a:t>
            </a:r>
          </a:p>
          <a:p>
            <a:r>
              <a:rPr lang="en-US" sz="1800" dirty="0"/>
              <a:t>threaten the component” or “the component is vulnerable to threat.” For example, “the front end is vulnerable to </a:t>
            </a:r>
            <a:r>
              <a:rPr lang="en-US" sz="1800" dirty="0" err="1"/>
              <a:t>spoofi</a:t>
            </a:r>
            <a:r>
              <a:rPr lang="en-US" sz="1800" dirty="0"/>
              <a:t> ng because we use</a:t>
            </a:r>
          </a:p>
          <a:p>
            <a:r>
              <a:rPr lang="en-ID" sz="1800" dirty="0"/>
              <a:t>reusable passwords.”</a:t>
            </a:r>
          </a:p>
          <a:p>
            <a:r>
              <a:rPr lang="en-US" sz="1800" dirty="0"/>
              <a:t>■ </a:t>
            </a:r>
            <a:r>
              <a:rPr lang="en-US" sz="1800" b="1" dirty="0"/>
              <a:t>The mitigation: </a:t>
            </a:r>
            <a:r>
              <a:rPr lang="en-US" sz="1800" dirty="0"/>
              <a:t>Here, the bug title is of a form such as “the component</a:t>
            </a:r>
          </a:p>
          <a:p>
            <a:r>
              <a:rPr lang="en-US" sz="1800" dirty="0"/>
              <a:t>needs mitigation.” For example, “the front end needs to run only over</a:t>
            </a:r>
          </a:p>
          <a:p>
            <a:r>
              <a:rPr lang="en-US" sz="1800" dirty="0"/>
              <a:t>SSH.” In the text of the bug, you should also explain the threat.</a:t>
            </a:r>
          </a:p>
          <a:p>
            <a:r>
              <a:rPr lang="en-US" sz="1800" dirty="0"/>
              <a:t>■ </a:t>
            </a:r>
            <a:r>
              <a:rPr lang="en-US" sz="1800" b="1" dirty="0"/>
              <a:t>The need to test a mitigation: </a:t>
            </a:r>
            <a:r>
              <a:rPr lang="en-US" sz="1800" dirty="0"/>
              <a:t>This is what you can title a bug if someone</a:t>
            </a:r>
          </a:p>
          <a:p>
            <a:r>
              <a:rPr lang="en-US" sz="1800" dirty="0"/>
              <a:t>says, “Oh, the front end isn’t vulnerable to that.” Rather than absorb time</a:t>
            </a:r>
          </a:p>
          <a:p>
            <a:r>
              <a:rPr lang="en-US" sz="1800" dirty="0"/>
              <a:t>in the meeting to discuss or check the threat, fi le a bug, “Test front end</a:t>
            </a:r>
          </a:p>
          <a:p>
            <a:r>
              <a:rPr lang="en-US" sz="1800" dirty="0"/>
              <a:t>vulnerability to </a:t>
            </a:r>
            <a:r>
              <a:rPr lang="en-US" sz="1800" i="1" dirty="0"/>
              <a:t>threat</a:t>
            </a:r>
            <a:r>
              <a:rPr lang="en-US" sz="1800" dirty="0"/>
              <a:t>” and ensure that there are good tests for the bug.</a:t>
            </a: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Bug Tracking Systems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7930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US" sz="1800" dirty="0"/>
              <a:t>■ </a:t>
            </a:r>
            <a:r>
              <a:rPr lang="en-US" sz="1800" b="1" dirty="0"/>
              <a:t>The need to validate an assumption: </a:t>
            </a:r>
            <a:r>
              <a:rPr lang="en-US" sz="1800" dirty="0"/>
              <a:t>These bugs are fi led to ensure that</a:t>
            </a:r>
          </a:p>
          <a:p>
            <a:r>
              <a:rPr lang="en-US" sz="1800" dirty="0"/>
              <a:t>someone follows up on an assumption you discover while threat modeling,</a:t>
            </a:r>
          </a:p>
          <a:p>
            <a:r>
              <a:rPr lang="en-US" sz="1800" dirty="0"/>
              <a:t>and on which you depend for a security property. The bug should have</a:t>
            </a:r>
          </a:p>
          <a:p>
            <a:r>
              <a:rPr lang="en-US" sz="1800" dirty="0"/>
              <a:t>a title such as “security depends on assumption A” or “security property</a:t>
            </a:r>
          </a:p>
          <a:p>
            <a:r>
              <a:rPr lang="en-US" sz="1800" dirty="0"/>
              <a:t>X of component Y depends on assumption Z.” For example, “Security</a:t>
            </a:r>
          </a:p>
          <a:p>
            <a:r>
              <a:rPr lang="en-US" sz="1800" dirty="0"/>
              <a:t>depends on the assumption that no one would ever fi </a:t>
            </a:r>
            <a:r>
              <a:rPr lang="en-US" sz="1800" dirty="0" err="1"/>
              <a:t>nd</a:t>
            </a:r>
            <a:r>
              <a:rPr lang="en-US" sz="1800" dirty="0"/>
              <a:t> the key in the</a:t>
            </a:r>
          </a:p>
          <a:p>
            <a:r>
              <a:rPr lang="en-US" sz="1800" dirty="0"/>
              <a:t>fake rock that looks exactly like the rocks at our last house.”</a:t>
            </a:r>
          </a:p>
          <a:p>
            <a:r>
              <a:rPr lang="en-US" sz="1800" dirty="0"/>
              <a:t>■ </a:t>
            </a:r>
            <a:r>
              <a:rPr lang="en-US" sz="1800" b="1" dirty="0"/>
              <a:t>Other tracking items: </a:t>
            </a:r>
            <a:r>
              <a:rPr lang="en-US" sz="1800" dirty="0"/>
              <a:t>You should treat the preceding items as suggestions,</a:t>
            </a:r>
          </a:p>
          <a:p>
            <a:r>
              <a:rPr lang="en-US" sz="1800" dirty="0"/>
              <a:t>not a form into which all bugs need to fi t. If you fi </a:t>
            </a:r>
            <a:r>
              <a:rPr lang="en-US" sz="1800" dirty="0" err="1"/>
              <a:t>nd</a:t>
            </a:r>
            <a:r>
              <a:rPr lang="en-US" sz="1800" dirty="0"/>
              <a:t> something</a:t>
            </a:r>
          </a:p>
          <a:p>
            <a:r>
              <a:rPr lang="en-US" sz="1800" dirty="0"/>
              <a:t>worth tracking, fi le a bug.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9B8"/>
                </a:solidFill>
                <a:latin typeface="Tahoma"/>
              </a:rPr>
              <a:t>Bug Tracking System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938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ID" sz="1800" b="1" dirty="0"/>
              <a:t>TRIKE</a:t>
            </a:r>
          </a:p>
          <a:p>
            <a:r>
              <a:rPr lang="en-US" sz="1800" dirty="0"/>
              <a:t>There are two tools named TRIKE. The fi </a:t>
            </a:r>
            <a:r>
              <a:rPr lang="en-US" sz="1800" dirty="0" err="1"/>
              <a:t>rst</a:t>
            </a:r>
            <a:r>
              <a:rPr lang="en-US" sz="1800" dirty="0"/>
              <a:t> was a standalone desktop tool,</a:t>
            </a:r>
          </a:p>
          <a:p>
            <a:r>
              <a:rPr lang="en-US" sz="1800" dirty="0"/>
              <a:t>written in Smalltalk. That tool is no longer being maintained, and TRIKE is</a:t>
            </a:r>
          </a:p>
          <a:p>
            <a:r>
              <a:rPr lang="en-US" sz="1800" dirty="0"/>
              <a:t>now implemented in a spreadsheet. According to documentation, it works best</a:t>
            </a:r>
          </a:p>
          <a:p>
            <a:r>
              <a:rPr lang="en-US" sz="1800" dirty="0"/>
              <a:t>in Excel 2011 for the Macintosh (Trike, 2013). TRIKE is sometimes referred to</a:t>
            </a:r>
          </a:p>
          <a:p>
            <a:r>
              <a:rPr lang="en-ID" sz="1800" dirty="0"/>
              <a:t>as “</a:t>
            </a:r>
            <a:r>
              <a:rPr lang="en-ID" sz="1800" dirty="0" err="1"/>
              <a:t>OctoTrike</a:t>
            </a:r>
            <a:r>
              <a:rPr lang="en-ID" sz="1800" dirty="0"/>
              <a:t>.”</a:t>
            </a:r>
          </a:p>
          <a:p>
            <a:endParaRPr lang="en-ID" dirty="0"/>
          </a:p>
          <a:p>
            <a:r>
              <a:rPr lang="en-ID" sz="1800" b="1" dirty="0" err="1"/>
              <a:t>SeaMonster</a:t>
            </a:r>
            <a:endParaRPr lang="en-ID" sz="1800" b="1" dirty="0"/>
          </a:p>
          <a:p>
            <a:r>
              <a:rPr lang="en-US" sz="1800" dirty="0" err="1"/>
              <a:t>SeaMonster</a:t>
            </a:r>
            <a:r>
              <a:rPr lang="en-US" sz="1800" dirty="0"/>
              <a:t> is an Eclipse-based attack tree and misuse case tool that was developed</a:t>
            </a:r>
          </a:p>
          <a:p>
            <a:r>
              <a:rPr lang="en-US" sz="1800" dirty="0"/>
              <a:t>by students at the Norwegian University of Science and Technology.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Open Source Tools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423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ID" sz="1800" b="1" dirty="0" err="1"/>
              <a:t>ThreatModeler</a:t>
            </a:r>
            <a:endParaRPr lang="en-ID" sz="1800" b="1" dirty="0"/>
          </a:p>
          <a:p>
            <a:r>
              <a:rPr lang="en-US" sz="1800" dirty="0" err="1"/>
              <a:t>ThreatModeler</a:t>
            </a:r>
            <a:r>
              <a:rPr lang="en-US" sz="1800" dirty="0"/>
              <a:t> from MyAppSecurity.com is a defense-oriented tool based on</a:t>
            </a:r>
          </a:p>
          <a:p>
            <a:r>
              <a:rPr lang="en-US" sz="1800" dirty="0"/>
              <a:t>data elements, roles, and components. It uses a set of attack libraries, including</a:t>
            </a:r>
          </a:p>
          <a:p>
            <a:r>
              <a:rPr lang="en-US" sz="1800" dirty="0"/>
              <a:t>the MITRE CAPEC (see Chapter 4, “Attack Trees”), the WASC threat </a:t>
            </a:r>
            <a:r>
              <a:rPr lang="en-US" sz="1800" dirty="0" err="1"/>
              <a:t>classifi</a:t>
            </a:r>
            <a:r>
              <a:rPr lang="en-US" sz="1800" dirty="0"/>
              <a:t> cation,</a:t>
            </a:r>
          </a:p>
          <a:p>
            <a:r>
              <a:rPr lang="en-US" sz="1800" dirty="0"/>
              <a:t>and others. The tool generates attack trees with the component as the root,</a:t>
            </a:r>
          </a:p>
          <a:p>
            <a:r>
              <a:rPr lang="en-US" sz="1800" dirty="0"/>
              <a:t>requirements that can be violated as a fi </a:t>
            </a:r>
            <a:r>
              <a:rPr lang="en-US" sz="1800" dirty="0" err="1"/>
              <a:t>rst</a:t>
            </a:r>
            <a:r>
              <a:rPr lang="en-US" sz="1800" dirty="0"/>
              <a:t> level of </a:t>
            </a:r>
            <a:r>
              <a:rPr lang="en-US" sz="1800" dirty="0" err="1"/>
              <a:t>subnode</a:t>
            </a:r>
            <a:r>
              <a:rPr lang="en-US" sz="1800" dirty="0"/>
              <a:t>, and then threats</a:t>
            </a:r>
          </a:p>
          <a:p>
            <a:r>
              <a:rPr lang="en-US" sz="1800" dirty="0"/>
              <a:t>and attacks as the next layers. According to the documentation, </a:t>
            </a:r>
            <a:r>
              <a:rPr lang="en-US" sz="1800" dirty="0" err="1"/>
              <a:t>ThreatModeler</a:t>
            </a:r>
            <a:endParaRPr lang="en-US" sz="1800" dirty="0"/>
          </a:p>
          <a:p>
            <a:r>
              <a:rPr lang="en-US" sz="1800" dirty="0"/>
              <a:t>is intended to be used by architects, developers, security professionals, QA</a:t>
            </a:r>
          </a:p>
          <a:p>
            <a:r>
              <a:rPr lang="en-US" sz="1800" dirty="0"/>
              <a:t>professionals, or senior executives. </a:t>
            </a:r>
            <a:r>
              <a:rPr lang="en-US" sz="1800" dirty="0" err="1"/>
              <a:t>ThreatModeler</a:t>
            </a:r>
            <a:r>
              <a:rPr lang="en-US" sz="1800" dirty="0"/>
              <a:t> requires Windows.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Commercial Tools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6447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ID" sz="1800" b="1" dirty="0"/>
              <a:t>Corporate Threat Modeller</a:t>
            </a:r>
          </a:p>
          <a:p>
            <a:r>
              <a:rPr lang="en-US" sz="1800" dirty="0"/>
              <a:t>Corporate Threat </a:t>
            </a:r>
            <a:r>
              <a:rPr lang="en-US" sz="1800" dirty="0" err="1"/>
              <a:t>Modeller</a:t>
            </a:r>
            <a:r>
              <a:rPr lang="en-US" sz="1800" dirty="0"/>
              <a:t> from </a:t>
            </a:r>
            <a:r>
              <a:rPr lang="en-US" sz="1800" dirty="0" err="1"/>
              <a:t>SensePost</a:t>
            </a:r>
            <a:r>
              <a:rPr lang="en-US" sz="1800" dirty="0"/>
              <a:t> is a tool built to support a methodology</a:t>
            </a:r>
          </a:p>
          <a:p>
            <a:r>
              <a:rPr lang="en-US" sz="1800" dirty="0"/>
              <a:t>designed after an analysis of the strengths and weaknesses of a number of threat modeling approaches. Those approaches included threat trees and OCTAVE, a US-CERT-originated system for threat modeling a business (White, </a:t>
            </a:r>
            <a:r>
              <a:rPr lang="en-ID" sz="1800" dirty="0"/>
              <a:t>2010).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Commercial Tools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2655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ID" sz="1800" b="1" dirty="0" err="1"/>
              <a:t>Secur</a:t>
            </a:r>
            <a:r>
              <a:rPr lang="en-ID" sz="1800" b="1" i="1" dirty="0" err="1"/>
              <a:t>IT</a:t>
            </a:r>
            <a:r>
              <a:rPr lang="en-ID" sz="1800" b="1" dirty="0" err="1"/>
              <a:t>ree</a:t>
            </a:r>
            <a:endParaRPr lang="en-ID" sz="1800" b="1" dirty="0"/>
          </a:p>
          <a:p>
            <a:r>
              <a:rPr lang="en-US" sz="1800" dirty="0" err="1"/>
              <a:t>Secur</a:t>
            </a:r>
            <a:r>
              <a:rPr lang="en-US" sz="1800" i="1" dirty="0" err="1"/>
              <a:t>IT</a:t>
            </a:r>
            <a:r>
              <a:rPr lang="en-US" sz="1800" dirty="0" err="1"/>
              <a:t>ree</a:t>
            </a:r>
            <a:r>
              <a:rPr lang="en-US" sz="1800" dirty="0"/>
              <a:t> is threat risk software from </a:t>
            </a:r>
            <a:r>
              <a:rPr lang="en-US" sz="1800" dirty="0" err="1"/>
              <a:t>Amenaza</a:t>
            </a:r>
            <a:r>
              <a:rPr lang="en-US" sz="1800" dirty="0"/>
              <a:t> Technologies, which launched</a:t>
            </a:r>
          </a:p>
          <a:p>
            <a:r>
              <a:rPr lang="en-US" sz="1800" dirty="0"/>
              <a:t>in 2007 to positive reviews (SC Magazine, 2007). The product seems like a well</a:t>
            </a:r>
          </a:p>
          <a:p>
            <a:r>
              <a:rPr lang="en-US" sz="1800" dirty="0"/>
              <a:t>thought through tool for constructing, managing and interpreting threat trees.</a:t>
            </a:r>
          </a:p>
          <a:p>
            <a:r>
              <a:rPr lang="en-US" sz="1800" dirty="0"/>
              <a:t>It contains not only the ability to manage trees, but a set of ways to fi </a:t>
            </a:r>
            <a:r>
              <a:rPr lang="en-US" sz="1800" dirty="0" err="1"/>
              <a:t>lter</a:t>
            </a:r>
            <a:r>
              <a:rPr lang="en-US" sz="1800" dirty="0"/>
              <a:t> those</a:t>
            </a:r>
          </a:p>
          <a:p>
            <a:r>
              <a:rPr lang="en-ID" sz="1800" dirty="0"/>
              <a:t>trees.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Commercial Tools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9428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ID" sz="1800" b="1" dirty="0"/>
              <a:t>Little-JIL</a:t>
            </a:r>
          </a:p>
          <a:p>
            <a:r>
              <a:rPr lang="en-US" sz="1800" dirty="0"/>
              <a:t>If you’re making use of threat trees at a research institution, the Little-JIL software</a:t>
            </a:r>
          </a:p>
          <a:p>
            <a:r>
              <a:rPr lang="en-US" sz="1800" dirty="0"/>
              <a:t>may be helpful. “Little-JIL is a graphical language for </a:t>
            </a:r>
            <a:r>
              <a:rPr lang="en-US" sz="1800" dirty="0" err="1"/>
              <a:t>defi</a:t>
            </a:r>
            <a:r>
              <a:rPr lang="en-US" sz="1800" dirty="0"/>
              <a:t> </a:t>
            </a:r>
            <a:r>
              <a:rPr lang="en-US" sz="1800" dirty="0" err="1"/>
              <a:t>ning</a:t>
            </a:r>
            <a:r>
              <a:rPr lang="en-US" sz="1800" dirty="0"/>
              <a:t> processes</a:t>
            </a:r>
          </a:p>
          <a:p>
            <a:r>
              <a:rPr lang="en-US" sz="1800" dirty="0"/>
              <a:t>that coordinate the activities of autonomous agents and their use of resources</a:t>
            </a:r>
          </a:p>
          <a:p>
            <a:r>
              <a:rPr lang="en-US" sz="1800" dirty="0"/>
              <a:t>during the performance of a task.”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Commercial Tools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9500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US" sz="1800" b="1" dirty="0"/>
              <a:t>Microsoft’s SDL Threat Modeling Tool</a:t>
            </a:r>
          </a:p>
          <a:p>
            <a:r>
              <a:rPr lang="en-US" sz="1800" dirty="0"/>
              <a:t>Microsoft has shipped at least four families of threat modeling tools. They are</a:t>
            </a:r>
          </a:p>
          <a:p>
            <a:r>
              <a:rPr lang="en-US" sz="1800" dirty="0"/>
              <a:t>the </a:t>
            </a:r>
            <a:r>
              <a:rPr lang="en-US" sz="1800" i="1" dirty="0"/>
              <a:t>Elevation of Privilege </a:t>
            </a:r>
            <a:r>
              <a:rPr lang="en-US" sz="1800" dirty="0"/>
              <a:t>card game, the SDL Threat Modeling Tool v3, the Threat</a:t>
            </a:r>
          </a:p>
          <a:p>
            <a:r>
              <a:rPr lang="en-US" sz="1800" dirty="0"/>
              <a:t>Analysis and Modeling Tool, and the Threat Modeling Tool v1 and 2. I was the</a:t>
            </a:r>
          </a:p>
          <a:p>
            <a:r>
              <a:rPr lang="en-US" sz="1800" dirty="0"/>
              <a:t>project lead for </a:t>
            </a:r>
            <a:r>
              <a:rPr lang="en-US" sz="1800" i="1" dirty="0"/>
              <a:t>Elevation of Privilege </a:t>
            </a:r>
            <a:r>
              <a:rPr lang="en-US" sz="1800" dirty="0"/>
              <a:t>and the SDL Threat Modeling Tool v3 and</a:t>
            </a:r>
          </a:p>
          <a:p>
            <a:r>
              <a:rPr lang="en-US" sz="1800" dirty="0"/>
              <a:t>3.1. The currently available SDL Threat Modeling Tool is (or has been) available</a:t>
            </a:r>
          </a:p>
          <a:p>
            <a:r>
              <a:rPr lang="en-ID" sz="1800" dirty="0"/>
              <a:t>free from Microsoft.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Commercial Tools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168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9B8215-EB7D-415A-879D-7EDE0A341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77912" y="1768680"/>
            <a:ext cx="8498088" cy="4384080"/>
          </a:xfrm>
        </p:spPr>
        <p:txBody>
          <a:bodyPr/>
          <a:lstStyle/>
          <a:p>
            <a:r>
              <a:rPr lang="en-US" sz="1800" b="1" dirty="0"/>
              <a:t>Microsoft’s SDL Threat Modeling Tool</a:t>
            </a:r>
          </a:p>
          <a:p>
            <a:r>
              <a:rPr lang="en-US" sz="1800" dirty="0"/>
              <a:t>Microsoft has shipped at least four families of threat modeling tools. They are</a:t>
            </a:r>
          </a:p>
          <a:p>
            <a:r>
              <a:rPr lang="en-US" sz="1800" dirty="0"/>
              <a:t>the </a:t>
            </a:r>
            <a:r>
              <a:rPr lang="en-US" sz="1800" i="1" dirty="0"/>
              <a:t>Elevation of Privilege </a:t>
            </a:r>
            <a:r>
              <a:rPr lang="en-US" sz="1800" dirty="0"/>
              <a:t>card game, the SDL Threat Modeling Tool v3, the Threat</a:t>
            </a:r>
          </a:p>
          <a:p>
            <a:r>
              <a:rPr lang="en-US" sz="1800" dirty="0"/>
              <a:t>Analysis and Modeling Tool, and the Threat Modeling Tool v1 and 2. I was the</a:t>
            </a:r>
          </a:p>
          <a:p>
            <a:r>
              <a:rPr lang="en-US" sz="1800" dirty="0"/>
              <a:t>project lead for </a:t>
            </a:r>
            <a:r>
              <a:rPr lang="en-US" sz="1800" i="1" dirty="0"/>
              <a:t>Elevation of Privilege </a:t>
            </a:r>
            <a:r>
              <a:rPr lang="en-US" sz="1800" dirty="0"/>
              <a:t>and the SDL Threat Modeling Tool v3 and</a:t>
            </a:r>
          </a:p>
          <a:p>
            <a:r>
              <a:rPr lang="en-US" sz="1800" dirty="0"/>
              <a:t>3.1. The currently available SDL Threat Modeling Tool is (or has been) available</a:t>
            </a:r>
          </a:p>
          <a:p>
            <a:r>
              <a:rPr lang="en-ID" sz="1800" dirty="0"/>
              <a:t>free from Microsoft.</a:t>
            </a:r>
            <a:endParaRPr lang="en-ID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6AF2ED6-A9CD-416C-A4C7-00CE2EE80F8F}"/>
              </a:ext>
            </a:extLst>
          </p:cNvPr>
          <p:cNvSpPr/>
          <p:nvPr/>
        </p:nvSpPr>
        <p:spPr>
          <a:xfrm>
            <a:off x="3516311" y="350837"/>
            <a:ext cx="6477001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Commercial Tools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4207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3440112" y="274637"/>
            <a:ext cx="6391800" cy="8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000" b="1" strike="noStrike" dirty="0">
                <a:solidFill>
                  <a:srgbClr val="0079B8"/>
                </a:solidFill>
                <a:latin typeface="Tahoma"/>
                <a:ea typeface="DejaVu Sans"/>
              </a:rPr>
              <a:t>References</a:t>
            </a:r>
            <a:endParaRPr dirty="0"/>
          </a:p>
        </p:txBody>
      </p:sp>
      <p:sp>
        <p:nvSpPr>
          <p:cNvPr id="96" name="CustomShape 2"/>
          <p:cNvSpPr/>
          <p:nvPr/>
        </p:nvSpPr>
        <p:spPr>
          <a:xfrm>
            <a:off x="7223760" y="7113600"/>
            <a:ext cx="2350080" cy="40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68A847-F792-4D2A-A049-61219355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214511"/>
              </p:ext>
            </p:extLst>
          </p:nvPr>
        </p:nvGraphicFramePr>
        <p:xfrm>
          <a:off x="1008063" y="2713037"/>
          <a:ext cx="9072562" cy="880110"/>
        </p:xfrm>
        <a:graphic>
          <a:graphicData uri="http://schemas.openxmlformats.org/drawingml/2006/table">
            <a:tbl>
              <a:tblPr/>
              <a:tblGrid>
                <a:gridCol w="9072562">
                  <a:extLst>
                    <a:ext uri="{9D8B030D-6E8A-4147-A177-3AD203B41FA5}">
                      <a16:colId xmlns:a16="http://schemas.microsoft.com/office/drawing/2014/main" val="4034170153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pPr fontAlgn="t"/>
                      <a:br>
                        <a:rPr lang="en-US" dirty="0">
                          <a:effectLst/>
                        </a:rPr>
                      </a:br>
                      <a:r>
                        <a:rPr lang="en-US" dirty="0" err="1">
                          <a:effectLst/>
                        </a:rPr>
                        <a:t>Shostack</a:t>
                      </a:r>
                      <a:r>
                        <a:rPr lang="en-US" dirty="0">
                          <a:effectLst/>
                        </a:rPr>
                        <a:t>, A. 2014. Threat Modelling Designing for security. Wiley. ISBN:</a:t>
                      </a:r>
                      <a:r>
                        <a:rPr lang="en-ID" sz="1800" b="0" i="0" u="none" strike="noStrik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978-1-118-80999-0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95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92083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16573</TotalTime>
  <Words>1126</Words>
  <Application>Microsoft Office PowerPoint</Application>
  <PresentationFormat>Custom</PresentationFormat>
  <Paragraphs>106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Open Sans</vt:lpstr>
      <vt:lpstr>StarSymbol</vt:lpstr>
      <vt:lpstr>Tahoma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</dc:creator>
  <cp:lastModifiedBy>Yohan Muliono</cp:lastModifiedBy>
  <cp:revision>221</cp:revision>
  <dcterms:created xsi:type="dcterms:W3CDTF">2015-06-05T10:28:43Z</dcterms:created>
  <dcterms:modified xsi:type="dcterms:W3CDTF">2019-12-23T12:09:26Z</dcterms:modified>
  <dc:language>en-US</dc:language>
</cp:coreProperties>
</file>