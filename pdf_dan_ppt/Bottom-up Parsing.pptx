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6" r:id="rId2"/>
    <p:sldId id="579" r:id="rId3"/>
    <p:sldId id="580" r:id="rId4"/>
    <p:sldId id="582" r:id="rId5"/>
    <p:sldId id="602" r:id="rId6"/>
    <p:sldId id="583" r:id="rId7"/>
    <p:sldId id="584" r:id="rId8"/>
    <p:sldId id="587" r:id="rId9"/>
    <p:sldId id="608" r:id="rId10"/>
    <p:sldId id="588" r:id="rId11"/>
    <p:sldId id="603" r:id="rId12"/>
    <p:sldId id="589" r:id="rId13"/>
    <p:sldId id="590" r:id="rId14"/>
    <p:sldId id="604" r:id="rId15"/>
    <p:sldId id="592" r:id="rId16"/>
    <p:sldId id="593" r:id="rId17"/>
    <p:sldId id="594" r:id="rId18"/>
    <p:sldId id="595" r:id="rId19"/>
    <p:sldId id="585" r:id="rId20"/>
    <p:sldId id="609" r:id="rId21"/>
    <p:sldId id="586" r:id="rId22"/>
    <p:sldId id="596" r:id="rId23"/>
    <p:sldId id="605" r:id="rId24"/>
    <p:sldId id="597" r:id="rId25"/>
    <p:sldId id="598" r:id="rId26"/>
    <p:sldId id="599" r:id="rId27"/>
    <p:sldId id="607" r:id="rId28"/>
    <p:sldId id="601" r:id="rId29"/>
    <p:sldId id="600" r:id="rId30"/>
  </p:sldIdLst>
  <p:sldSz cx="9144000" cy="6858000" type="screen4x3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727C0728-BFBA-4018-A895-7E45D940962F}">
          <p14:sldIdLst>
            <p14:sldId id="256"/>
            <p14:sldId id="579"/>
            <p14:sldId id="580"/>
            <p14:sldId id="582"/>
            <p14:sldId id="602"/>
            <p14:sldId id="583"/>
            <p14:sldId id="584"/>
            <p14:sldId id="587"/>
            <p14:sldId id="608"/>
            <p14:sldId id="588"/>
            <p14:sldId id="603"/>
            <p14:sldId id="589"/>
            <p14:sldId id="590"/>
            <p14:sldId id="604"/>
            <p14:sldId id="592"/>
            <p14:sldId id="593"/>
            <p14:sldId id="594"/>
            <p14:sldId id="595"/>
            <p14:sldId id="585"/>
            <p14:sldId id="609"/>
            <p14:sldId id="586"/>
            <p14:sldId id="596"/>
            <p14:sldId id="605"/>
            <p14:sldId id="597"/>
            <p14:sldId id="598"/>
            <p14:sldId id="599"/>
            <p14:sldId id="607"/>
            <p14:sldId id="601"/>
            <p14:sldId id="600"/>
          </p14:sldIdLst>
        </p14:section>
        <p14:section name="COURSE CONTENT" id="{F4927CBE-FA17-46D1-BAAE-887D0AF2CCBF}">
          <p14:sldIdLst/>
        </p14:section>
        <p14:section name="REFERENCE" id="{82098E28-DACF-4424-86A1-E861B2DCC6FF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F7F7"/>
    <a:srgbClr val="008FD5"/>
    <a:srgbClr val="558FD5"/>
    <a:srgbClr val="0079B8"/>
    <a:srgbClr val="0081BD"/>
    <a:srgbClr val="33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63"/>
  </p:normalViewPr>
  <p:slideViewPr>
    <p:cSldViewPr>
      <p:cViewPr varScale="1">
        <p:scale>
          <a:sx n="112" d="100"/>
          <a:sy n="112" d="100"/>
        </p:scale>
        <p:origin x="1544" y="20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1E212E-13FC-4488-A226-21CA1BD2390E}" type="datetimeFigureOut">
              <a:rPr lang="en-US" smtClean="0"/>
              <a:pPr/>
              <a:t>11/28/23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7A5169-68C4-43C9-9E8D-B5BBEBC896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7303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 descr="Background 01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" y="4763"/>
            <a:ext cx="9139237" cy="6461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8"/>
          <p:cNvSpPr/>
          <p:nvPr userDrawn="1"/>
        </p:nvSpPr>
        <p:spPr>
          <a:xfrm>
            <a:off x="0" y="5157192"/>
            <a:ext cx="9143998" cy="1700808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8" name="Rectangle 7"/>
          <p:cNvSpPr/>
          <p:nvPr userDrawn="1"/>
        </p:nvSpPr>
        <p:spPr>
          <a:xfrm>
            <a:off x="1691679" y="1628800"/>
            <a:ext cx="7452319" cy="5229200"/>
          </a:xfrm>
          <a:prstGeom prst="rect">
            <a:avLst/>
          </a:prstGeom>
          <a:solidFill>
            <a:srgbClr val="008F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835696" y="2708920"/>
            <a:ext cx="7128792" cy="1470025"/>
          </a:xfrm>
        </p:spPr>
        <p:txBody>
          <a:bodyPr/>
          <a:lstStyle>
            <a:lvl1pPr eaLnBrk="1" hangingPunct="1">
              <a:defRPr sz="4400">
                <a:solidFill>
                  <a:schemeClr val="bg1"/>
                </a:solidFill>
              </a:defRPr>
            </a:lvl1pPr>
          </a:lstStyle>
          <a:p>
            <a:pPr eaLnBrk="1" hangingPunct="1"/>
            <a:r>
              <a:rPr lang="en-US" sz="3200" b="1" dirty="0">
                <a:solidFill>
                  <a:schemeClr val="bg1"/>
                </a:solidFill>
                <a:latin typeface="Open Sans" pitchFamily="-84" charset="0"/>
                <a:ea typeface="ＭＳ Ｐゴシック" pitchFamily="34" charset="-128"/>
              </a:rPr>
              <a:t>Headline Open Sans Bold 32pt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67744" y="4295527"/>
            <a:ext cx="6400800" cy="576064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Open San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id-ID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453336"/>
            <a:ext cx="2133600" cy="365125"/>
          </a:xfrm>
        </p:spPr>
        <p:txBody>
          <a:bodyPr/>
          <a:lstStyle/>
          <a:p>
            <a:fld id="{5EF9B71C-2D91-4D15-BAB7-ADA66F828B46}" type="datetimeFigureOut">
              <a:rPr lang="id-ID" smtClean="0"/>
              <a:pPr/>
              <a:t>28/11/23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53336"/>
            <a:ext cx="2895600" cy="365125"/>
          </a:xfrm>
        </p:spPr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453336"/>
            <a:ext cx="2133600" cy="365125"/>
          </a:xfrm>
        </p:spPr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725141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 descr="Background 02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3937"/>
            <a:ext cx="9143999" cy="6464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angle 10"/>
          <p:cNvSpPr/>
          <p:nvPr userDrawn="1"/>
        </p:nvSpPr>
        <p:spPr>
          <a:xfrm>
            <a:off x="0" y="5157192"/>
            <a:ext cx="9143998" cy="1700808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1350" y="2060848"/>
            <a:ext cx="6837114" cy="792088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rgbClr val="0079B8"/>
                </a:solidFill>
                <a:latin typeface="Open Sans"/>
              </a:defRPr>
            </a:lvl1pPr>
          </a:lstStyle>
          <a:p>
            <a:r>
              <a:rPr lang="en-US"/>
              <a:t>Click to edit Master title style</a:t>
            </a:r>
            <a:endParaRPr lang="id-ID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453336"/>
            <a:ext cx="2133600" cy="365125"/>
          </a:xfrm>
        </p:spPr>
        <p:txBody>
          <a:bodyPr/>
          <a:lstStyle/>
          <a:p>
            <a:fld id="{5EF9B71C-2D91-4D15-BAB7-ADA66F828B46}" type="datetimeFigureOut">
              <a:rPr lang="id-ID" smtClean="0"/>
              <a:pPr/>
              <a:t>28/11/23</a:t>
            </a:fld>
            <a:endParaRPr lang="id-ID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53336"/>
            <a:ext cx="2895600" cy="365125"/>
          </a:xfrm>
        </p:spPr>
        <p:txBody>
          <a:bodyPr/>
          <a:lstStyle/>
          <a:p>
            <a:endParaRPr lang="id-ID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453336"/>
            <a:ext cx="2133600" cy="365125"/>
          </a:xfrm>
        </p:spPr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1911350" y="3429001"/>
            <a:ext cx="6837114" cy="3040422"/>
          </a:xfrm>
        </p:spPr>
        <p:txBody>
          <a:bodyPr/>
          <a:lstStyle>
            <a:lvl1pPr>
              <a:defRPr>
                <a:latin typeface="Open Sans"/>
              </a:defRPr>
            </a:lvl1pPr>
            <a:lvl2pPr>
              <a:defRPr>
                <a:latin typeface="Open Sans"/>
              </a:defRPr>
            </a:lvl2pPr>
            <a:lvl3pPr>
              <a:defRPr>
                <a:latin typeface="Open Sans"/>
              </a:defRPr>
            </a:lvl3pPr>
            <a:lvl4pPr>
              <a:defRPr>
                <a:latin typeface="Open Sans"/>
              </a:defRPr>
            </a:lvl4pPr>
            <a:lvl5pPr>
              <a:defRPr>
                <a:latin typeface="Open San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 dirty="0"/>
          </a:p>
        </p:txBody>
      </p:sp>
      <p:sp>
        <p:nvSpPr>
          <p:cNvPr id="16" name="Subtitle 2"/>
          <p:cNvSpPr>
            <a:spLocks noGrp="1"/>
          </p:cNvSpPr>
          <p:nvPr>
            <p:ph type="subTitle" idx="13"/>
          </p:nvPr>
        </p:nvSpPr>
        <p:spPr>
          <a:xfrm>
            <a:off x="1907704" y="2852936"/>
            <a:ext cx="6840760" cy="504056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id-ID" sz="2200" b="1" dirty="0">
                <a:solidFill>
                  <a:srgbClr val="0079B8"/>
                </a:solidFill>
                <a:latin typeface="Open Sans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  <a:buNone/>
            </a:pPr>
            <a:r>
              <a:rPr lang="en-US"/>
              <a:t>Click to edit Master subtitle style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7618699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1640" y="4406901"/>
            <a:ext cx="7344816" cy="678284"/>
          </a:xfrm>
        </p:spPr>
        <p:txBody>
          <a:bodyPr anchor="t">
            <a:noAutofit/>
          </a:bodyPr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  <a:endParaRPr lang="id-ID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31640" y="2906713"/>
            <a:ext cx="7344816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B71C-2D91-4D15-BAB7-ADA66F828B46}" type="datetimeFigureOut">
              <a:rPr lang="id-ID" smtClean="0"/>
              <a:pPr/>
              <a:t>28/11/23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5936489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19672" y="2636912"/>
            <a:ext cx="3456384" cy="348925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8064" y="2636912"/>
            <a:ext cx="3538736" cy="348925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B71C-2D91-4D15-BAB7-ADA66F828B46}" type="datetimeFigureOut">
              <a:rPr lang="id-ID" smtClean="0"/>
              <a:pPr/>
              <a:t>28/11/23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0163279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9672" y="1484784"/>
            <a:ext cx="7067128" cy="100811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19672" y="2132856"/>
            <a:ext cx="3456384" cy="639762"/>
          </a:xfrm>
        </p:spPr>
        <p:txBody>
          <a:bodyPr anchor="b">
            <a:no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19672" y="2708920"/>
            <a:ext cx="3456384" cy="3456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220072" y="2708919"/>
            <a:ext cx="3466728" cy="345638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B71C-2D91-4D15-BAB7-ADA66F828B46}" type="datetimeFigureOut">
              <a:rPr lang="id-ID" smtClean="0"/>
              <a:pPr/>
              <a:t>28/11/23</a:t>
            </a:fld>
            <a:endParaRPr lang="id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10" name="Text Placeholder 2"/>
          <p:cNvSpPr>
            <a:spLocks noGrp="1"/>
          </p:cNvSpPr>
          <p:nvPr>
            <p:ph type="body" idx="13"/>
          </p:nvPr>
        </p:nvSpPr>
        <p:spPr>
          <a:xfrm>
            <a:off x="5220072" y="2132856"/>
            <a:ext cx="3456384" cy="639762"/>
          </a:xfrm>
        </p:spPr>
        <p:txBody>
          <a:bodyPr anchor="b">
            <a:no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59855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B71C-2D91-4D15-BAB7-ADA66F828B46}" type="datetimeFigureOut">
              <a:rPr lang="id-ID" smtClean="0"/>
              <a:pPr/>
              <a:t>28/11/23</a:t>
            </a:fld>
            <a:endParaRPr lang="id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4355148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B71C-2D91-4D15-BAB7-ADA66F828B46}" type="datetimeFigureOut">
              <a:rPr lang="id-ID" smtClean="0"/>
              <a:pPr/>
              <a:t>28/11/23</a:t>
            </a:fld>
            <a:endParaRPr lang="id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  <p:pic>
        <p:nvPicPr>
          <p:cNvPr id="5" name="Picture 1" descr="Background 03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693629" cy="685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313250" y="2859881"/>
            <a:ext cx="7067128" cy="1143000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2736973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7704" y="1628800"/>
            <a:ext cx="6768752" cy="802010"/>
          </a:xfrm>
        </p:spPr>
        <p:txBody>
          <a:bodyPr anchor="b">
            <a:normAutofit/>
          </a:bodyPr>
          <a:lstStyle>
            <a:lvl1pPr algn="l">
              <a:defRPr sz="3000" b="1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7705" y="2564904"/>
            <a:ext cx="3168352" cy="3672408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20072" y="2564904"/>
            <a:ext cx="3430017" cy="367216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B71C-2D91-4D15-BAB7-ADA66F828B46}" type="datetimeFigureOut">
              <a:rPr lang="id-ID" smtClean="0"/>
              <a:pPr/>
              <a:t>28/11/23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1617041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6884168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916832"/>
            <a:ext cx="6884168" cy="281074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6884168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B71C-2D91-4D15-BAB7-ADA66F828B46}" type="datetimeFigureOut">
              <a:rPr lang="id-ID" smtClean="0"/>
              <a:pPr/>
              <a:t>28/11/23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193814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B71C-2D91-4D15-BAB7-ADA66F828B46}" type="datetimeFigureOut">
              <a:rPr lang="id-ID" smtClean="0"/>
              <a:pPr/>
              <a:t>28/11/23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6359690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84784"/>
            <a:ext cx="2057400" cy="46413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43608" y="1484784"/>
            <a:ext cx="5433392" cy="46413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B71C-2D91-4D15-BAB7-ADA66F828B46}" type="datetimeFigureOut">
              <a:rPr lang="id-ID" smtClean="0"/>
              <a:pPr/>
              <a:t>28/11/23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1887607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Bina Nusantara University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5CABF3-250F-4E8E-B7E1-A2E9756F4EC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" descr="Background 02.jpg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4"/>
            <a:ext cx="9143999" cy="6464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/>
        </p:nvSpPr>
        <p:spPr>
          <a:xfrm>
            <a:off x="0" y="5157192"/>
            <a:ext cx="9143998" cy="1700808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19672" y="1484784"/>
            <a:ext cx="706712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d-ID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19672" y="2636912"/>
            <a:ext cx="7067128" cy="34892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45333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F9B71C-2D91-4D15-BAB7-ADA66F828B46}" type="datetimeFigureOut">
              <a:rPr lang="id-ID" smtClean="0"/>
              <a:pPr/>
              <a:t>28/11/23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45333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45333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818913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3000" b="1" kern="1200">
          <a:solidFill>
            <a:srgbClr val="0079B8"/>
          </a:solidFill>
          <a:latin typeface="Open Sans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Open Sans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Open Sans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Open Sans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Open Sans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Open Sans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s.tau.ac.il/~msagiv/courses/wcc05/parsing1.ppt" TargetMode="External"/><Relationship Id="rId2" Type="http://schemas.openxmlformats.org/officeDocument/2006/relationships/hyperlink" Target="http://dragonbook.stanford.edu/lecture-notes/Stanford-CS143/08-Bottom-Up-Parsing.pdf" TargetMode="Externa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1766887" y="1676400"/>
            <a:ext cx="7377113" cy="935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  <a:tabLst>
                <a:tab pos="2292350" algn="l"/>
                <a:tab pos="2517775" algn="l"/>
              </a:tabLst>
            </a:pPr>
            <a:r>
              <a:rPr lang="en-US" sz="2000" dirty="0">
                <a:solidFill>
                  <a:schemeClr val="bg1"/>
                </a:solidFill>
                <a:latin typeface="Open Sans"/>
              </a:rPr>
              <a:t>Course	: Comp6062 - Compilation Techniques</a:t>
            </a:r>
          </a:p>
          <a:p>
            <a:pPr>
              <a:spcBef>
                <a:spcPct val="20000"/>
              </a:spcBef>
              <a:tabLst>
                <a:tab pos="2292350" algn="l"/>
                <a:tab pos="2517775" algn="l"/>
              </a:tabLst>
            </a:pPr>
            <a:r>
              <a:rPr lang="en-US" sz="2000" dirty="0">
                <a:solidFill>
                  <a:schemeClr val="bg1"/>
                </a:solidFill>
                <a:latin typeface="Open Sans"/>
              </a:rPr>
              <a:t>Effective Period	: September 2023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ctrTitle"/>
          </p:nvPr>
        </p:nvSpPr>
        <p:spPr>
          <a:xfrm>
            <a:off x="1676400" y="3352800"/>
            <a:ext cx="7467600" cy="2384425"/>
          </a:xfrm>
          <a:noFill/>
        </p:spPr>
        <p:txBody>
          <a:bodyPr>
            <a:normAutofit/>
          </a:bodyPr>
          <a:lstStyle/>
          <a:p>
            <a:r>
              <a:rPr lang="en-AU" sz="4000"/>
              <a:t>Bottom Up Parsing</a:t>
            </a:r>
            <a:br>
              <a:rPr lang="en-AU" dirty="0">
                <a:solidFill>
                  <a:schemeClr val="bg1"/>
                </a:solidFill>
              </a:rPr>
            </a:br>
            <a:r>
              <a:rPr lang="en-US" sz="2800">
                <a:solidFill>
                  <a:schemeClr val="bg1"/>
                </a:solidFill>
              </a:rPr>
              <a:t>Session  14-15-16</a:t>
            </a:r>
            <a:endParaRPr 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44211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3124200" y="228600"/>
            <a:ext cx="5791200" cy="838200"/>
          </a:xfrm>
        </p:spPr>
        <p:txBody>
          <a:bodyPr/>
          <a:lstStyle/>
          <a:p>
            <a:r>
              <a:rPr lang="en-US" sz="2800" dirty="0"/>
              <a:t>Learning Outcomes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43000" y="1752600"/>
            <a:ext cx="7543800" cy="4495800"/>
          </a:xfrm>
        </p:spPr>
        <p:txBody>
          <a:bodyPr>
            <a:normAutofit/>
          </a:bodyPr>
          <a:lstStyle/>
          <a:p>
            <a:pPr marL="0" indent="0" algn="just">
              <a:buFontTx/>
              <a:buNone/>
            </a:pPr>
            <a:r>
              <a:rPr lang="en-US" sz="2400" dirty="0"/>
              <a:t>At the end of this meeting, student</a:t>
            </a:r>
            <a:br>
              <a:rPr lang="en-US" sz="2400" dirty="0"/>
            </a:br>
            <a:r>
              <a:rPr lang="en-US" sz="2400" dirty="0"/>
              <a:t>will be able to :</a:t>
            </a:r>
          </a:p>
          <a:p>
            <a:pPr algn="just"/>
            <a:r>
              <a:rPr lang="en-US" sz="2400" dirty="0"/>
              <a:t>Students can explain the working principle of bottom-up parsing is implemented with a stack </a:t>
            </a:r>
          </a:p>
          <a:p>
            <a:pPr algn="just"/>
            <a:r>
              <a:rPr lang="en-US" sz="2400" dirty="0"/>
              <a:t>Students can demonstrate the making of LR parsing </a:t>
            </a:r>
          </a:p>
          <a:p>
            <a:pPr algn="just"/>
            <a:r>
              <a:rPr lang="en-US" sz="2400" dirty="0"/>
              <a:t>Students can demonstrate the manufacture of SLR parsing table and the parsing process.</a:t>
            </a:r>
          </a:p>
          <a:p>
            <a:pPr algn="just">
              <a:buFontTx/>
              <a:buNone/>
            </a:pPr>
            <a:endParaRPr lang="en-AU" sz="2400" dirty="0">
              <a:cs typeface="Arial" pitchFamily="34" charset="0"/>
            </a:endParaRPr>
          </a:p>
        </p:txBody>
      </p:sp>
      <p:sp>
        <p:nvSpPr>
          <p:cNvPr id="5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Bina</a:t>
            </a:r>
            <a:r>
              <a:rPr lang="en-US" dirty="0"/>
              <a:t> Nusantara University</a:t>
            </a:r>
          </a:p>
        </p:txBody>
      </p:sp>
      <p:sp>
        <p:nvSpPr>
          <p:cNvPr id="410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9D56EAB-C2A3-4D25-A671-DEB092980E6E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3124200" y="609600"/>
            <a:ext cx="5867400" cy="762000"/>
          </a:xfrm>
        </p:spPr>
        <p:txBody>
          <a:bodyPr/>
          <a:lstStyle/>
          <a:p>
            <a:r>
              <a:rPr lang="en-US" sz="2800" dirty="0"/>
              <a:t>Content Outline 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43000" y="1676400"/>
            <a:ext cx="7543800" cy="4648200"/>
          </a:xfrm>
        </p:spPr>
        <p:txBody>
          <a:bodyPr>
            <a:noAutofit/>
          </a:bodyPr>
          <a:lstStyle/>
          <a:p>
            <a:pPr algn="just"/>
            <a:r>
              <a:rPr lang="en-US" dirty="0"/>
              <a:t>The types of bottom-up parsing and </a:t>
            </a:r>
            <a:r>
              <a:rPr lang="en-US" altLang="ko-KR" dirty="0">
                <a:ea typeface="굴림" pitchFamily="50" charset="-127"/>
              </a:rPr>
              <a:t>Introduction of Bottom-Up Parsing</a:t>
            </a:r>
          </a:p>
          <a:p>
            <a:pPr algn="just"/>
            <a:r>
              <a:rPr lang="en-US" dirty="0"/>
              <a:t>Shift reduce parsing - </a:t>
            </a:r>
            <a:r>
              <a:rPr lang="en-US" altLang="ko-KR" dirty="0">
                <a:ea typeface="굴림" pitchFamily="50" charset="-127"/>
              </a:rPr>
              <a:t>Handles of String</a:t>
            </a:r>
          </a:p>
          <a:p>
            <a:pPr algn="just"/>
            <a:r>
              <a:rPr lang="en-US" altLang="ko-KR" dirty="0">
                <a:ea typeface="굴림" pitchFamily="50" charset="-127"/>
              </a:rPr>
              <a:t>Stack Implementation of Shift-Reduce Parsing</a:t>
            </a:r>
          </a:p>
          <a:p>
            <a:pPr algn="just"/>
            <a:r>
              <a:rPr lang="en-US" altLang="ko-KR" dirty="0">
                <a:ea typeface="굴림" pitchFamily="50" charset="-127"/>
              </a:rPr>
              <a:t>Conflict During Shift-Reduce Parsing</a:t>
            </a:r>
          </a:p>
          <a:p>
            <a:pPr algn="just"/>
            <a:r>
              <a:rPr lang="en-US" dirty="0"/>
              <a:t>Operator precedence parsing</a:t>
            </a:r>
          </a:p>
          <a:p>
            <a:pPr algn="just"/>
            <a:r>
              <a:rPr lang="en-US" dirty="0"/>
              <a:t>LR-parsing</a:t>
            </a:r>
          </a:p>
          <a:p>
            <a:pPr lvl="1" algn="just"/>
            <a:r>
              <a:rPr lang="en-US" dirty="0"/>
              <a:t>LR parsing algorithm</a:t>
            </a:r>
          </a:p>
          <a:p>
            <a:pPr lvl="1" algn="just"/>
            <a:r>
              <a:rPr lang="en-US" altLang="ko-KR" dirty="0">
                <a:ea typeface="굴림" pitchFamily="50" charset="-127"/>
              </a:rPr>
              <a:t>Constructing SLR (Simple LR) Parser</a:t>
            </a:r>
          </a:p>
          <a:p>
            <a:pPr lvl="1" algn="just"/>
            <a:r>
              <a:rPr lang="en-US" dirty="0"/>
              <a:t>Construction of LR parsing table</a:t>
            </a:r>
          </a:p>
          <a:p>
            <a:pPr lvl="1" algn="just"/>
            <a:r>
              <a:rPr lang="en-US" altLang="ko-KR" dirty="0">
                <a:ea typeface="굴림" pitchFamily="50" charset="-127"/>
              </a:rPr>
              <a:t>LALR Parsing Table</a:t>
            </a:r>
          </a:p>
          <a:p>
            <a:pPr lvl="1" algn="just"/>
            <a:r>
              <a:rPr lang="en-US" dirty="0"/>
              <a:t>SLR parsing table construction</a:t>
            </a:r>
          </a:p>
          <a:p>
            <a:pPr algn="just"/>
            <a:r>
              <a:rPr lang="en-US" altLang="ko-KR" dirty="0">
                <a:ea typeface="굴림" pitchFamily="50" charset="-127"/>
              </a:rPr>
              <a:t>Using Ambiguous Grammars</a:t>
            </a:r>
          </a:p>
          <a:p>
            <a:endParaRPr lang="en-US" dirty="0"/>
          </a:p>
          <a:p>
            <a:endParaRPr lang="en-AU" dirty="0">
              <a:cs typeface="Arial" pitchFamily="34" charset="0"/>
            </a:endParaRPr>
          </a:p>
        </p:txBody>
      </p:sp>
      <p:sp>
        <p:nvSpPr>
          <p:cNvPr id="5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Bina</a:t>
            </a:r>
            <a:r>
              <a:rPr lang="en-US" dirty="0"/>
              <a:t> Nusantara University</a:t>
            </a:r>
          </a:p>
        </p:txBody>
      </p:sp>
      <p:sp>
        <p:nvSpPr>
          <p:cNvPr id="512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3663C5E-CE31-4F0B-AFCC-1909AC785301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3124200" y="228600"/>
            <a:ext cx="5847928" cy="685800"/>
          </a:xfrm>
        </p:spPr>
        <p:txBody>
          <a:bodyPr>
            <a:normAutofit fontScale="90000"/>
          </a:bodyPr>
          <a:lstStyle/>
          <a:p>
            <a:r>
              <a:rPr lang="en-US" altLang="ko-KR" sz="2800" dirty="0">
                <a:ea typeface="굴림" pitchFamily="50" charset="-127"/>
              </a:rPr>
              <a:t>Introduction of Bottom-Up Parser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71600" y="1905000"/>
            <a:ext cx="7315200" cy="4191000"/>
          </a:xfrm>
        </p:spPr>
        <p:txBody>
          <a:bodyPr>
            <a:noAutofit/>
          </a:bodyPr>
          <a:lstStyle/>
          <a:p>
            <a:pPr marL="0" indent="0" algn="just">
              <a:lnSpc>
                <a:spcPct val="90000"/>
              </a:lnSpc>
              <a:buNone/>
            </a:pPr>
            <a:r>
              <a:rPr lang="en-US" altLang="ko-KR" sz="2200" dirty="0">
                <a:ea typeface="굴림" pitchFamily="50" charset="-127"/>
              </a:rPr>
              <a:t>Bottom-Up Parser</a:t>
            </a:r>
          </a:p>
          <a:p>
            <a:pPr algn="just">
              <a:lnSpc>
                <a:spcPct val="90000"/>
              </a:lnSpc>
            </a:pPr>
            <a:r>
              <a:rPr lang="en-US" altLang="ko-KR" sz="2200" dirty="0">
                <a:ea typeface="굴림" pitchFamily="50" charset="-127"/>
              </a:rPr>
              <a:t>Also called shift-reduce parser </a:t>
            </a:r>
          </a:p>
          <a:p>
            <a:pPr algn="just">
              <a:lnSpc>
                <a:spcPct val="90000"/>
              </a:lnSpc>
              <a:buNone/>
            </a:pPr>
            <a:endParaRPr lang="en-US" altLang="ko-KR" sz="2200" dirty="0">
              <a:ea typeface="굴림" pitchFamily="50" charset="-127"/>
            </a:endParaRPr>
          </a:p>
          <a:p>
            <a:pPr algn="just">
              <a:lnSpc>
                <a:spcPct val="90000"/>
              </a:lnSpc>
            </a:pPr>
            <a:r>
              <a:rPr lang="en-US" altLang="ko-KR" sz="2200" dirty="0">
                <a:ea typeface="굴림" pitchFamily="50" charset="-127"/>
              </a:rPr>
              <a:t>Construct a parse tree for an input string beginning at the leaves and working up toward the root</a:t>
            </a:r>
          </a:p>
          <a:p>
            <a:pPr lvl="1" algn="just">
              <a:lnSpc>
                <a:spcPct val="90000"/>
              </a:lnSpc>
            </a:pPr>
            <a:r>
              <a:rPr lang="en-US" altLang="ko-KR" sz="2200" dirty="0">
                <a:ea typeface="굴림" pitchFamily="50" charset="-127"/>
              </a:rPr>
              <a:t>Reducing a string w to the start symbol S</a:t>
            </a:r>
          </a:p>
          <a:p>
            <a:pPr lvl="1" algn="just">
              <a:lnSpc>
                <a:spcPct val="90000"/>
              </a:lnSpc>
              <a:buNone/>
            </a:pPr>
            <a:endParaRPr lang="en-US" altLang="ko-KR" sz="2200" dirty="0">
              <a:ea typeface="굴림" pitchFamily="50" charset="-127"/>
            </a:endParaRPr>
          </a:p>
          <a:p>
            <a:pPr algn="just">
              <a:lnSpc>
                <a:spcPct val="90000"/>
              </a:lnSpc>
            </a:pPr>
            <a:r>
              <a:rPr lang="en-US" altLang="ko-KR" sz="2200" dirty="0">
                <a:ea typeface="굴림" pitchFamily="50" charset="-127"/>
              </a:rPr>
              <a:t>At each reduction step, a particular substring RHS of production is replaced with by the symbol on LHS 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Bina</a:t>
            </a:r>
            <a:r>
              <a:rPr lang="en-US" dirty="0"/>
              <a:t> Nusantara University</a:t>
            </a:r>
          </a:p>
        </p:txBody>
      </p:sp>
      <p:sp>
        <p:nvSpPr>
          <p:cNvPr id="717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86EAF72-515A-4FB9-84EC-DAC979BB7E67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3124200" y="228600"/>
            <a:ext cx="5847928" cy="685800"/>
          </a:xfrm>
        </p:spPr>
        <p:txBody>
          <a:bodyPr>
            <a:normAutofit fontScale="90000"/>
          </a:bodyPr>
          <a:lstStyle/>
          <a:p>
            <a:r>
              <a:rPr lang="en-US" altLang="ko-KR" sz="2800" dirty="0">
                <a:ea typeface="굴림" pitchFamily="50" charset="-127"/>
              </a:rPr>
              <a:t>Introduction of Bottom-Up Parser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00200" y="1828800"/>
            <a:ext cx="7086600" cy="3810000"/>
          </a:xfrm>
        </p:spPr>
        <p:txBody>
          <a:bodyPr>
            <a:noAutofit/>
          </a:bodyPr>
          <a:lstStyle/>
          <a:p>
            <a:pPr marL="0" indent="0" algn="just">
              <a:lnSpc>
                <a:spcPct val="90000"/>
              </a:lnSpc>
              <a:buNone/>
            </a:pPr>
            <a:r>
              <a:rPr lang="en-US" altLang="ko-KR" sz="2200" dirty="0">
                <a:ea typeface="굴림" pitchFamily="50" charset="-127"/>
              </a:rPr>
              <a:t>Example :</a:t>
            </a:r>
          </a:p>
          <a:p>
            <a:pPr algn="just">
              <a:lnSpc>
                <a:spcPct val="90000"/>
              </a:lnSpc>
              <a:buNone/>
            </a:pPr>
            <a:r>
              <a:rPr lang="en-US" altLang="ko-KR" sz="2200" dirty="0">
                <a:ea typeface="굴림" pitchFamily="50" charset="-127"/>
              </a:rPr>
              <a:t>	S → </a:t>
            </a:r>
            <a:r>
              <a:rPr lang="en-US" altLang="ko-KR" sz="2200" dirty="0" err="1">
                <a:ea typeface="굴림" pitchFamily="50" charset="-127"/>
              </a:rPr>
              <a:t>aABe</a:t>
            </a:r>
            <a:r>
              <a:rPr lang="en-US" altLang="ko-KR" sz="2200" dirty="0">
                <a:ea typeface="굴림" pitchFamily="50" charset="-127"/>
              </a:rPr>
              <a:t> </a:t>
            </a:r>
          </a:p>
          <a:p>
            <a:pPr algn="just">
              <a:lnSpc>
                <a:spcPct val="90000"/>
              </a:lnSpc>
              <a:buNone/>
            </a:pPr>
            <a:r>
              <a:rPr lang="en-US" altLang="ko-KR" sz="2200" dirty="0">
                <a:ea typeface="굴림" pitchFamily="50" charset="-127"/>
              </a:rPr>
              <a:t>	A → </a:t>
            </a:r>
            <a:r>
              <a:rPr lang="en-US" altLang="ko-KR" sz="2200" dirty="0" err="1">
                <a:ea typeface="굴림" pitchFamily="50" charset="-127"/>
              </a:rPr>
              <a:t>Abc</a:t>
            </a:r>
            <a:r>
              <a:rPr lang="en-US" altLang="ko-KR" sz="2200" dirty="0">
                <a:ea typeface="굴림" pitchFamily="50" charset="-127"/>
              </a:rPr>
              <a:t> | b </a:t>
            </a:r>
          </a:p>
          <a:p>
            <a:pPr algn="just">
              <a:lnSpc>
                <a:spcPct val="90000"/>
              </a:lnSpc>
              <a:buNone/>
            </a:pPr>
            <a:r>
              <a:rPr lang="en-US" altLang="ko-KR" sz="2200" dirty="0">
                <a:ea typeface="굴림" pitchFamily="50" charset="-127"/>
              </a:rPr>
              <a:t>	B → d </a:t>
            </a:r>
          </a:p>
          <a:p>
            <a:pPr marL="57150" indent="0" algn="just">
              <a:lnSpc>
                <a:spcPct val="90000"/>
              </a:lnSpc>
              <a:buNone/>
            </a:pPr>
            <a:endParaRPr lang="en-US" altLang="ko-KR" sz="2200" dirty="0">
              <a:ea typeface="굴림" pitchFamily="50" charset="-127"/>
            </a:endParaRPr>
          </a:p>
          <a:p>
            <a:pPr marL="57150" indent="0" algn="just">
              <a:lnSpc>
                <a:spcPct val="90000"/>
              </a:lnSpc>
              <a:buNone/>
            </a:pPr>
            <a:r>
              <a:rPr lang="en-US" altLang="ko-KR" sz="2200" dirty="0">
                <a:ea typeface="굴림" pitchFamily="50" charset="-127"/>
              </a:rPr>
              <a:t>Process w = </a:t>
            </a:r>
            <a:r>
              <a:rPr lang="en-US" altLang="ko-KR" sz="2200" dirty="0" err="1">
                <a:ea typeface="굴림" pitchFamily="50" charset="-127"/>
              </a:rPr>
              <a:t>abbcde</a:t>
            </a:r>
            <a:r>
              <a:rPr lang="en-US" altLang="ko-KR" sz="2200" dirty="0">
                <a:ea typeface="굴림" pitchFamily="50" charset="-127"/>
              </a:rPr>
              <a:t> </a:t>
            </a:r>
          </a:p>
          <a:p>
            <a:pPr algn="just">
              <a:lnSpc>
                <a:spcPct val="90000"/>
              </a:lnSpc>
            </a:pPr>
            <a:r>
              <a:rPr lang="en-US" altLang="ko-KR" sz="2200" dirty="0">
                <a:ea typeface="굴림" pitchFamily="50" charset="-127"/>
              </a:rPr>
              <a:t>Then </a:t>
            </a:r>
            <a:r>
              <a:rPr lang="en-US" altLang="ko-KR" sz="2200" dirty="0" err="1">
                <a:ea typeface="굴림" pitchFamily="50" charset="-127"/>
              </a:rPr>
              <a:t>abbcde</a:t>
            </a:r>
            <a:r>
              <a:rPr lang="en-US" altLang="ko-KR" sz="2200" dirty="0">
                <a:ea typeface="굴림" pitchFamily="50" charset="-127"/>
              </a:rPr>
              <a:t> → </a:t>
            </a:r>
            <a:r>
              <a:rPr lang="en-US" altLang="ko-KR" sz="2200" dirty="0" err="1">
                <a:ea typeface="굴림" pitchFamily="50" charset="-127"/>
              </a:rPr>
              <a:t>aAbcde</a:t>
            </a:r>
            <a:r>
              <a:rPr lang="en-US" altLang="ko-KR" sz="2200" dirty="0">
                <a:ea typeface="굴림" pitchFamily="50" charset="-127"/>
              </a:rPr>
              <a:t> → </a:t>
            </a:r>
            <a:r>
              <a:rPr lang="en-US" altLang="ko-KR" sz="2200" dirty="0" err="1">
                <a:ea typeface="굴림" pitchFamily="50" charset="-127"/>
              </a:rPr>
              <a:t>aAde</a:t>
            </a:r>
            <a:r>
              <a:rPr lang="en-US" altLang="ko-KR" sz="2200" dirty="0">
                <a:ea typeface="굴림" pitchFamily="50" charset="-127"/>
              </a:rPr>
              <a:t> → </a:t>
            </a:r>
            <a:r>
              <a:rPr lang="en-US" altLang="ko-KR" sz="2200" dirty="0" err="1">
                <a:ea typeface="굴림" pitchFamily="50" charset="-127"/>
              </a:rPr>
              <a:t>aABe</a:t>
            </a:r>
            <a:r>
              <a:rPr lang="en-US" altLang="ko-KR" sz="2200" dirty="0">
                <a:ea typeface="굴림" pitchFamily="50" charset="-127"/>
              </a:rPr>
              <a:t> → S (reduction steps) </a:t>
            </a:r>
          </a:p>
          <a:p>
            <a:pPr algn="just">
              <a:lnSpc>
                <a:spcPct val="90000"/>
              </a:lnSpc>
            </a:pPr>
            <a:r>
              <a:rPr lang="en-US" altLang="ko-KR" sz="2200" dirty="0">
                <a:ea typeface="굴림" pitchFamily="50" charset="-127"/>
              </a:rPr>
              <a:t>S → </a:t>
            </a:r>
            <a:r>
              <a:rPr lang="en-US" altLang="ko-KR" sz="2200" dirty="0" err="1">
                <a:ea typeface="굴림" pitchFamily="50" charset="-127"/>
              </a:rPr>
              <a:t>aABe</a:t>
            </a:r>
            <a:r>
              <a:rPr lang="en-US" altLang="ko-KR" sz="2200" dirty="0">
                <a:ea typeface="굴림" pitchFamily="50" charset="-127"/>
              </a:rPr>
              <a:t> → </a:t>
            </a:r>
            <a:r>
              <a:rPr lang="en-US" altLang="ko-KR" sz="2200" dirty="0" err="1">
                <a:ea typeface="굴림" pitchFamily="50" charset="-127"/>
              </a:rPr>
              <a:t>aAde</a:t>
            </a:r>
            <a:r>
              <a:rPr lang="en-US" altLang="ko-KR" sz="2200" dirty="0">
                <a:ea typeface="굴림" pitchFamily="50" charset="-127"/>
              </a:rPr>
              <a:t> → </a:t>
            </a:r>
            <a:r>
              <a:rPr lang="en-US" altLang="ko-KR" sz="2200" dirty="0" err="1">
                <a:ea typeface="굴림" pitchFamily="50" charset="-127"/>
              </a:rPr>
              <a:t>aAbcde</a:t>
            </a:r>
            <a:r>
              <a:rPr lang="en-US" altLang="ko-KR" sz="2200" dirty="0">
                <a:ea typeface="굴림" pitchFamily="50" charset="-127"/>
              </a:rPr>
              <a:t> → </a:t>
            </a:r>
            <a:r>
              <a:rPr lang="en-US" altLang="ko-KR" sz="2200" dirty="0" err="1">
                <a:ea typeface="굴림" pitchFamily="50" charset="-127"/>
              </a:rPr>
              <a:t>abbcde</a:t>
            </a:r>
            <a:r>
              <a:rPr lang="en-US" altLang="ko-KR" sz="2200" dirty="0">
                <a:ea typeface="굴림" pitchFamily="50" charset="-127"/>
              </a:rPr>
              <a:t> (rightmost derivation) </a:t>
            </a:r>
          </a:p>
          <a:p>
            <a:pPr algn="just">
              <a:lnSpc>
                <a:spcPct val="90000"/>
              </a:lnSpc>
            </a:pPr>
            <a:r>
              <a:rPr lang="en-US" altLang="ko-KR" sz="2200" dirty="0">
                <a:ea typeface="굴림" pitchFamily="50" charset="-127"/>
              </a:rPr>
              <a:t>We can think of bottom up parsing as the process of “reducing” a string w to the start symbol of the grammar.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Bina</a:t>
            </a:r>
            <a:r>
              <a:rPr lang="en-US" dirty="0"/>
              <a:t> Nusantara University</a:t>
            </a:r>
          </a:p>
        </p:txBody>
      </p:sp>
      <p:sp>
        <p:nvSpPr>
          <p:cNvPr id="717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86EAF72-515A-4FB9-84EC-DAC979BB7E67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733800" y="152400"/>
            <a:ext cx="5162128" cy="762000"/>
          </a:xfrm>
        </p:spPr>
        <p:txBody>
          <a:bodyPr/>
          <a:lstStyle/>
          <a:p>
            <a:r>
              <a:rPr lang="en-US" altLang="ko-KR" dirty="0">
                <a:ea typeface="굴림" pitchFamily="50" charset="-127"/>
              </a:rPr>
              <a:t>Handles of String (1/2)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66800" y="1600200"/>
            <a:ext cx="7848600" cy="4953000"/>
          </a:xfrm>
        </p:spPr>
        <p:txBody>
          <a:bodyPr>
            <a:normAutofit/>
          </a:bodyPr>
          <a:lstStyle/>
          <a:p>
            <a:pPr algn="just">
              <a:lnSpc>
                <a:spcPct val="90000"/>
              </a:lnSpc>
            </a:pPr>
            <a:r>
              <a:rPr lang="en-US" altLang="ko-KR" sz="2200" dirty="0">
                <a:ea typeface="굴림" pitchFamily="50" charset="-127"/>
              </a:rPr>
              <a:t>Handles of a string </a:t>
            </a:r>
          </a:p>
          <a:p>
            <a:pPr lvl="1" algn="just">
              <a:lnSpc>
                <a:spcPct val="90000"/>
              </a:lnSpc>
            </a:pPr>
            <a:r>
              <a:rPr lang="en-US" altLang="ko-KR" sz="2200" dirty="0">
                <a:ea typeface="굴림" pitchFamily="50" charset="-127"/>
              </a:rPr>
              <a:t>A substring that matches the right side of a production and whose reduction to the non-terminal on LHS presents one step along the reverse of a right derivation </a:t>
            </a:r>
          </a:p>
          <a:p>
            <a:pPr lvl="1" algn="just">
              <a:lnSpc>
                <a:spcPct val="90000"/>
              </a:lnSpc>
            </a:pPr>
            <a:r>
              <a:rPr lang="en-US" altLang="ko-KR" sz="2200" dirty="0">
                <a:ea typeface="굴림" pitchFamily="50" charset="-127"/>
              </a:rPr>
              <a:t>Formally, handle of a right sentential form γ is a production A → β and a position of γ where the string β may be found and replaced by A to produce the previous right sentential form in a rightmost derivation of γ </a:t>
            </a:r>
          </a:p>
          <a:p>
            <a:pPr lvl="1" algn="just">
              <a:lnSpc>
                <a:spcPct val="90000"/>
              </a:lnSpc>
            </a:pPr>
            <a:r>
              <a:rPr lang="en-US" altLang="ko-KR" sz="2200" dirty="0">
                <a:ea typeface="굴림" pitchFamily="50" charset="-127"/>
              </a:rPr>
              <a:t>e.g. From the above example </a:t>
            </a:r>
            <a:r>
              <a:rPr lang="en-US" altLang="ko-KR" sz="2200" dirty="0" err="1">
                <a:ea typeface="굴림" pitchFamily="50" charset="-127"/>
              </a:rPr>
              <a:t>abbcde</a:t>
            </a:r>
            <a:r>
              <a:rPr lang="en-US" altLang="ko-KR" sz="2200" dirty="0">
                <a:ea typeface="굴림" pitchFamily="50" charset="-127"/>
              </a:rPr>
              <a:t> is a right sentential form whose handle is A → b and </a:t>
            </a:r>
            <a:r>
              <a:rPr lang="en-US" altLang="ko-KR" sz="2200" dirty="0" err="1">
                <a:ea typeface="굴림" pitchFamily="50" charset="-127"/>
              </a:rPr>
              <a:t>aAbcde</a:t>
            </a:r>
            <a:r>
              <a:rPr lang="en-US" altLang="ko-KR" sz="2200" dirty="0">
                <a:ea typeface="굴림" pitchFamily="50" charset="-127"/>
              </a:rPr>
              <a:t> has a handle A → </a:t>
            </a:r>
            <a:r>
              <a:rPr lang="en-US" altLang="ko-KR" sz="2200" dirty="0" err="1">
                <a:ea typeface="굴림" pitchFamily="50" charset="-127"/>
              </a:rPr>
              <a:t>Abc</a:t>
            </a:r>
            <a:r>
              <a:rPr lang="en-US" altLang="ko-KR" sz="2200" dirty="0">
                <a:ea typeface="굴림" pitchFamily="50" charset="-127"/>
              </a:rPr>
              <a:t> and so on.</a:t>
            </a:r>
          </a:p>
          <a:p>
            <a:pPr lvl="1" algn="just">
              <a:lnSpc>
                <a:spcPct val="90000"/>
              </a:lnSpc>
            </a:pPr>
            <a:r>
              <a:rPr lang="en-US" altLang="ko-KR" sz="2200" dirty="0">
                <a:ea typeface="굴림" pitchFamily="50" charset="-127"/>
              </a:rPr>
              <a:t>If a grammar is unambiguous, there exist only one handle for every right sentential form 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Bina</a:t>
            </a:r>
            <a:r>
              <a:rPr lang="en-US" dirty="0"/>
              <a:t> Nusantara University</a:t>
            </a:r>
          </a:p>
        </p:txBody>
      </p:sp>
      <p:sp>
        <p:nvSpPr>
          <p:cNvPr id="819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BA86144-6BC2-46A0-9F74-2F94819A29BE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3352800" y="152400"/>
            <a:ext cx="5619328" cy="838200"/>
          </a:xfrm>
        </p:spPr>
        <p:txBody>
          <a:bodyPr/>
          <a:lstStyle/>
          <a:p>
            <a:r>
              <a:rPr lang="en-US" altLang="ko-KR" dirty="0">
                <a:ea typeface="굴림" pitchFamily="50" charset="-127"/>
              </a:rPr>
              <a:t>Handles of String (2/2)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66800" y="1676400"/>
            <a:ext cx="7772400" cy="47244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ko-KR" sz="2200" dirty="0">
                <a:ea typeface="굴림" pitchFamily="50" charset="-127"/>
              </a:rPr>
              <a:t>Ambiguous Grammar Case  :</a:t>
            </a:r>
          </a:p>
          <a:p>
            <a:pPr algn="just"/>
            <a:r>
              <a:rPr lang="en-US" altLang="ko-KR" sz="2200" dirty="0">
                <a:ea typeface="굴림" pitchFamily="50" charset="-127"/>
              </a:rPr>
              <a:t>Example 1 :</a:t>
            </a:r>
          </a:p>
          <a:p>
            <a:pPr lvl="1" algn="just">
              <a:buNone/>
            </a:pPr>
            <a:r>
              <a:rPr lang="en-US" altLang="ko-KR" sz="2200" dirty="0">
                <a:ea typeface="굴림" pitchFamily="50" charset="-127"/>
              </a:rPr>
              <a:t>	E → E + E </a:t>
            </a:r>
          </a:p>
          <a:p>
            <a:pPr lvl="1" algn="just">
              <a:buNone/>
            </a:pPr>
            <a:r>
              <a:rPr lang="en-US" altLang="ko-KR" sz="2200" dirty="0">
                <a:ea typeface="굴림" pitchFamily="50" charset="-127"/>
              </a:rPr>
              <a:t>	E → E * E </a:t>
            </a:r>
          </a:p>
          <a:p>
            <a:pPr lvl="1" algn="just">
              <a:buNone/>
            </a:pPr>
            <a:r>
              <a:rPr lang="en-US" altLang="ko-KR" sz="2200" dirty="0">
                <a:ea typeface="굴림" pitchFamily="50" charset="-127"/>
              </a:rPr>
              <a:t>	E → (E) </a:t>
            </a:r>
          </a:p>
          <a:p>
            <a:pPr lvl="1" algn="just">
              <a:buNone/>
            </a:pPr>
            <a:r>
              <a:rPr lang="en-US" altLang="ko-KR" sz="2200" dirty="0">
                <a:ea typeface="굴림" pitchFamily="50" charset="-127"/>
              </a:rPr>
              <a:t>	E → id </a:t>
            </a:r>
          </a:p>
          <a:p>
            <a:pPr algn="just"/>
            <a:r>
              <a:rPr lang="en-US" altLang="ko-KR" sz="2200" dirty="0">
                <a:ea typeface="굴림" pitchFamily="50" charset="-127"/>
              </a:rPr>
              <a:t>Example 1 has two different rightmost derivations of the same string id + id * id</a:t>
            </a:r>
          </a:p>
          <a:p>
            <a:pPr lvl="1" algn="just"/>
            <a:r>
              <a:rPr lang="en-US" altLang="ko-KR" sz="2200" dirty="0">
                <a:ea typeface="굴림" pitchFamily="50" charset="-127"/>
              </a:rPr>
              <a:t>implies that some of the right sentential form has more than one handle</a:t>
            </a:r>
          </a:p>
          <a:p>
            <a:pPr lvl="1" algn="just"/>
            <a:r>
              <a:rPr lang="en-US" altLang="ko-KR" sz="2200" dirty="0" err="1">
                <a:ea typeface="굴림" pitchFamily="50" charset="-127"/>
              </a:rPr>
              <a:t>e.g</a:t>
            </a:r>
            <a:r>
              <a:rPr lang="en-US" altLang="ko-KR" sz="2200" dirty="0">
                <a:ea typeface="굴림" pitchFamily="50" charset="-127"/>
              </a:rPr>
              <a:t> : E → id and E → E + E are handles from E + E * id </a:t>
            </a:r>
          </a:p>
          <a:p>
            <a:pPr algn="just"/>
            <a:endParaRPr lang="en-US" altLang="ko-KR" sz="2800" dirty="0">
              <a:ea typeface="굴림" pitchFamily="50" charset="-127"/>
            </a:endParaRPr>
          </a:p>
        </p:txBody>
      </p:sp>
      <p:sp>
        <p:nvSpPr>
          <p:cNvPr id="5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Bina</a:t>
            </a:r>
            <a:r>
              <a:rPr lang="en-US" dirty="0"/>
              <a:t> Nusantara University</a:t>
            </a:r>
          </a:p>
        </p:txBody>
      </p:sp>
      <p:sp>
        <p:nvSpPr>
          <p:cNvPr id="922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9C386A4-CC94-4CB2-A2E5-B266D7D1C44B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2987674" y="152400"/>
            <a:ext cx="5981489" cy="762000"/>
          </a:xfrm>
        </p:spPr>
        <p:txBody>
          <a:bodyPr/>
          <a:lstStyle/>
          <a:p>
            <a:r>
              <a:rPr lang="en-US" altLang="ko-KR" dirty="0">
                <a:ea typeface="굴림" pitchFamily="50" charset="-127"/>
              </a:rPr>
              <a:t>LR(k) Parsers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66800" y="1828800"/>
            <a:ext cx="7543793" cy="3733800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altLang="ko-KR" sz="2200" dirty="0">
                <a:ea typeface="굴림" pitchFamily="50" charset="-127"/>
              </a:rPr>
              <a:t>Concept </a:t>
            </a:r>
          </a:p>
          <a:p>
            <a:pPr lvl="1" algn="just"/>
            <a:r>
              <a:rPr lang="en-US" altLang="ko-KR" sz="2200" dirty="0">
                <a:ea typeface="굴림" pitchFamily="50" charset="-127"/>
              </a:rPr>
              <a:t>left to right scan and rightmost derivation with k lookahead symbols.</a:t>
            </a:r>
          </a:p>
          <a:p>
            <a:pPr lvl="1" algn="just"/>
            <a:r>
              <a:rPr lang="en-US" altLang="ko-KR" sz="2200" dirty="0">
                <a:ea typeface="굴림" pitchFamily="50" charset="-127"/>
              </a:rPr>
              <a:t>It consist of an input, an output, a stack, a driver program, and a parsing table that has two parts (ACTION and GOTO).</a:t>
            </a:r>
          </a:p>
          <a:p>
            <a:pPr lvl="1" algn="just"/>
            <a:r>
              <a:rPr lang="en-US" altLang="ko-KR" sz="2200" dirty="0">
                <a:ea typeface="굴림" pitchFamily="50" charset="-127"/>
              </a:rPr>
              <a:t>The driver program is the same for all LR Parser, only the parsing table changes from one parser to another.</a:t>
            </a:r>
          </a:p>
          <a:p>
            <a:pPr lvl="1" algn="just"/>
            <a:r>
              <a:rPr lang="en-US" altLang="ko-KR" sz="2200" dirty="0">
                <a:ea typeface="굴림" pitchFamily="50" charset="-127"/>
              </a:rPr>
              <a:t>The parsing program reads characters from an input buffer one at a time.</a:t>
            </a:r>
          </a:p>
          <a:p>
            <a:pPr lvl="1" algn="just"/>
            <a:r>
              <a:rPr lang="en-US" altLang="ko-KR" sz="2200" dirty="0">
                <a:ea typeface="굴림" pitchFamily="50" charset="-127"/>
              </a:rPr>
              <a:t>Where a shift-reduce parser would shift a symbol. An LR parser shift a state.</a:t>
            </a:r>
          </a:p>
        </p:txBody>
      </p:sp>
      <p:sp>
        <p:nvSpPr>
          <p:cNvPr id="21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Bina</a:t>
            </a:r>
            <a:r>
              <a:rPr lang="en-US" dirty="0"/>
              <a:t> Nusantara University</a:t>
            </a:r>
          </a:p>
        </p:txBody>
      </p:sp>
      <p:sp>
        <p:nvSpPr>
          <p:cNvPr id="1230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82AA8FA-0FB2-4717-B129-D51EFDF7A14F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2987674" y="152400"/>
            <a:ext cx="5981489" cy="762000"/>
          </a:xfrm>
        </p:spPr>
        <p:txBody>
          <a:bodyPr/>
          <a:lstStyle/>
          <a:p>
            <a:r>
              <a:rPr lang="en-US" altLang="ko-KR" dirty="0">
                <a:ea typeface="굴림" pitchFamily="50" charset="-127"/>
              </a:rPr>
              <a:t>LR(k) Parsers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66799" y="1524000"/>
            <a:ext cx="7543793" cy="1150939"/>
          </a:xfrm>
        </p:spPr>
        <p:txBody>
          <a:bodyPr>
            <a:normAutofit/>
          </a:bodyPr>
          <a:lstStyle/>
          <a:p>
            <a:pPr algn="just"/>
            <a:r>
              <a:rPr lang="en-US" altLang="ko-KR" sz="2200" dirty="0">
                <a:ea typeface="굴림" pitchFamily="50" charset="-127"/>
              </a:rPr>
              <a:t>Model of an LR Parser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2057400" y="2362200"/>
            <a:ext cx="5961062" cy="3954537"/>
            <a:chOff x="2135188" y="2492375"/>
            <a:chExt cx="4741862" cy="3505200"/>
          </a:xfrm>
        </p:grpSpPr>
        <p:sp>
          <p:nvSpPr>
            <p:cNvPr id="12300" name="Text Box 18"/>
            <p:cNvSpPr txBox="1">
              <a:spLocks noChangeArrowheads="1"/>
            </p:cNvSpPr>
            <p:nvPr/>
          </p:nvSpPr>
          <p:spPr bwMode="auto">
            <a:xfrm>
              <a:off x="5724525" y="3644900"/>
              <a:ext cx="1152525" cy="3365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latinLnBrk="1">
                <a:spcBef>
                  <a:spcPct val="50000"/>
                </a:spcBef>
              </a:pPr>
              <a:r>
                <a:rPr kumimoji="1" lang="en-US" altLang="ko-KR" sz="1600">
                  <a:latin typeface="Tahoma" pitchFamily="34" charset="0"/>
                  <a:ea typeface="굴림" pitchFamily="50" charset="-127"/>
                </a:rPr>
                <a:t>output</a:t>
              </a:r>
            </a:p>
          </p:txBody>
        </p:sp>
        <p:grpSp>
          <p:nvGrpSpPr>
            <p:cNvPr id="4" name="Group 3"/>
            <p:cNvGrpSpPr/>
            <p:nvPr/>
          </p:nvGrpSpPr>
          <p:grpSpPr>
            <a:xfrm>
              <a:off x="2135188" y="2492375"/>
              <a:ext cx="3960812" cy="3505200"/>
              <a:chOff x="1979613" y="2492375"/>
              <a:chExt cx="3960812" cy="3505200"/>
            </a:xfrm>
          </p:grpSpPr>
          <p:sp>
            <p:nvSpPr>
              <p:cNvPr id="12292" name="Rectangle 4"/>
              <p:cNvSpPr>
                <a:spLocks noChangeArrowheads="1"/>
              </p:cNvSpPr>
              <p:nvPr/>
            </p:nvSpPr>
            <p:spPr bwMode="auto">
              <a:xfrm>
                <a:off x="3708400" y="3355975"/>
                <a:ext cx="1727200" cy="8651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latinLnBrk="1"/>
                <a:r>
                  <a:rPr kumimoji="1" lang="en-US" altLang="ko-KR" sz="1600" dirty="0">
                    <a:latin typeface="Tahoma" pitchFamily="34" charset="0"/>
                    <a:ea typeface="굴림" pitchFamily="50" charset="-127"/>
                  </a:rPr>
                  <a:t>LR</a:t>
                </a:r>
                <a:br>
                  <a:rPr kumimoji="1" lang="en-US" altLang="ko-KR" sz="1600" dirty="0">
                    <a:latin typeface="Tahoma" pitchFamily="34" charset="0"/>
                    <a:ea typeface="굴림" pitchFamily="50" charset="-127"/>
                  </a:rPr>
                </a:br>
                <a:r>
                  <a:rPr kumimoji="1" lang="en-US" altLang="ko-KR" sz="1600" dirty="0">
                    <a:latin typeface="Tahoma" pitchFamily="34" charset="0"/>
                    <a:ea typeface="굴림" pitchFamily="50" charset="-127"/>
                  </a:rPr>
                  <a:t>Parsing Program</a:t>
                </a:r>
              </a:p>
            </p:txBody>
          </p:sp>
          <p:sp>
            <p:nvSpPr>
              <p:cNvPr id="12293" name="Rectangle 5"/>
              <p:cNvSpPr>
                <a:spLocks noChangeArrowheads="1"/>
              </p:cNvSpPr>
              <p:nvPr/>
            </p:nvSpPr>
            <p:spPr bwMode="auto">
              <a:xfrm>
                <a:off x="3276600" y="4795838"/>
                <a:ext cx="2590800" cy="865187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latinLnBrk="1"/>
                <a:r>
                  <a:rPr kumimoji="1" lang="en-US" altLang="ko-KR" sz="1600">
                    <a:latin typeface="Tahoma" pitchFamily="34" charset="0"/>
                    <a:ea typeface="굴림" pitchFamily="50" charset="-127"/>
                  </a:rPr>
                  <a:t>Action/Goto Table</a:t>
                </a:r>
              </a:p>
            </p:txBody>
          </p:sp>
          <p:sp>
            <p:nvSpPr>
              <p:cNvPr id="12294" name="Line 6"/>
              <p:cNvSpPr>
                <a:spLocks noChangeShapeType="1"/>
              </p:cNvSpPr>
              <p:nvPr/>
            </p:nvSpPr>
            <p:spPr bwMode="auto">
              <a:xfrm>
                <a:off x="4572000" y="4221163"/>
                <a:ext cx="0" cy="5746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 type="triangle" w="med" len="med"/>
              </a:ln>
            </p:spPr>
            <p:txBody>
              <a:bodyPr wrap="none"/>
              <a:lstStyle/>
              <a:p>
                <a:endParaRPr lang="en-US"/>
              </a:p>
            </p:txBody>
          </p:sp>
          <p:grpSp>
            <p:nvGrpSpPr>
              <p:cNvPr id="2" name="Group 7"/>
              <p:cNvGrpSpPr>
                <a:grpSpLocks/>
              </p:cNvGrpSpPr>
              <p:nvPr/>
            </p:nvGrpSpPr>
            <p:grpSpPr bwMode="auto">
              <a:xfrm>
                <a:off x="2987675" y="2492375"/>
                <a:ext cx="2952750" cy="360363"/>
                <a:chOff x="1746" y="1389"/>
                <a:chExt cx="1860" cy="227"/>
              </a:xfrm>
            </p:grpSpPr>
            <p:sp>
              <p:nvSpPr>
                <p:cNvPr id="12307" name="Text Box 8"/>
                <p:cNvSpPr txBox="1">
                  <a:spLocks noChangeArrowheads="1"/>
                </p:cNvSpPr>
                <p:nvPr/>
              </p:nvSpPr>
              <p:spPr bwMode="auto">
                <a:xfrm>
                  <a:off x="2336" y="1389"/>
                  <a:ext cx="725" cy="2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latinLnBrk="1">
                    <a:spcBef>
                      <a:spcPct val="50000"/>
                    </a:spcBef>
                  </a:pPr>
                  <a:r>
                    <a:rPr kumimoji="1" lang="en-US" altLang="ko-KR" sz="1600">
                      <a:latin typeface="Tahoma" pitchFamily="34" charset="0"/>
                      <a:ea typeface="굴림" pitchFamily="50" charset="-127"/>
                    </a:rPr>
                    <a:t>Input tape</a:t>
                  </a:r>
                </a:p>
              </p:txBody>
            </p:sp>
            <p:sp>
              <p:nvSpPr>
                <p:cNvPr id="12308" name="Line 9"/>
                <p:cNvSpPr>
                  <a:spLocks noChangeShapeType="1"/>
                </p:cNvSpPr>
                <p:nvPr/>
              </p:nvSpPr>
              <p:spPr bwMode="auto">
                <a:xfrm>
                  <a:off x="1746" y="1389"/>
                  <a:ext cx="186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2309" name="Line 10"/>
                <p:cNvSpPr>
                  <a:spLocks noChangeShapeType="1"/>
                </p:cNvSpPr>
                <p:nvPr/>
              </p:nvSpPr>
              <p:spPr bwMode="auto">
                <a:xfrm>
                  <a:off x="1746" y="1616"/>
                  <a:ext cx="186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endParaRPr lang="en-US"/>
                </a:p>
              </p:txBody>
            </p:sp>
          </p:grpSp>
          <p:grpSp>
            <p:nvGrpSpPr>
              <p:cNvPr id="3" name="Group 11"/>
              <p:cNvGrpSpPr>
                <a:grpSpLocks/>
              </p:cNvGrpSpPr>
              <p:nvPr/>
            </p:nvGrpSpPr>
            <p:grpSpPr bwMode="auto">
              <a:xfrm>
                <a:off x="1979613" y="3068638"/>
                <a:ext cx="431800" cy="1800225"/>
                <a:chOff x="1247" y="1752"/>
                <a:chExt cx="272" cy="1134"/>
              </a:xfrm>
            </p:grpSpPr>
            <p:sp>
              <p:nvSpPr>
                <p:cNvPr id="12304" name="Text Box 12"/>
                <p:cNvSpPr txBox="1">
                  <a:spLocks noChangeArrowheads="1"/>
                </p:cNvSpPr>
                <p:nvPr/>
              </p:nvSpPr>
              <p:spPr bwMode="auto">
                <a:xfrm rot="-5400000">
                  <a:off x="1005" y="2069"/>
                  <a:ext cx="725" cy="2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latinLnBrk="1">
                    <a:spcBef>
                      <a:spcPct val="50000"/>
                    </a:spcBef>
                  </a:pPr>
                  <a:r>
                    <a:rPr kumimoji="1" lang="en-US" altLang="ko-KR" sz="1600">
                      <a:latin typeface="Tahoma" pitchFamily="34" charset="0"/>
                      <a:ea typeface="굴림" pitchFamily="50" charset="-127"/>
                    </a:rPr>
                    <a:t>Stack</a:t>
                  </a:r>
                </a:p>
              </p:txBody>
            </p:sp>
            <p:sp>
              <p:nvSpPr>
                <p:cNvPr id="12305" name="Line 13"/>
                <p:cNvSpPr>
                  <a:spLocks noChangeShapeType="1"/>
                </p:cNvSpPr>
                <p:nvPr/>
              </p:nvSpPr>
              <p:spPr bwMode="auto">
                <a:xfrm>
                  <a:off x="1247" y="1752"/>
                  <a:ext cx="0" cy="113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2306" name="Line 14"/>
                <p:cNvSpPr>
                  <a:spLocks noChangeShapeType="1"/>
                </p:cNvSpPr>
                <p:nvPr/>
              </p:nvSpPr>
              <p:spPr bwMode="auto">
                <a:xfrm>
                  <a:off x="1519" y="1752"/>
                  <a:ext cx="0" cy="113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endParaRPr lang="en-US"/>
                </a:p>
              </p:txBody>
            </p:sp>
          </p:grpSp>
          <p:sp>
            <p:nvSpPr>
              <p:cNvPr id="12297" name="Line 15"/>
              <p:cNvSpPr>
                <a:spLocks noChangeShapeType="1"/>
              </p:cNvSpPr>
              <p:nvPr/>
            </p:nvSpPr>
            <p:spPr bwMode="auto">
              <a:xfrm>
                <a:off x="3563938" y="2852738"/>
                <a:ext cx="1008062" cy="50323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 type="triangle" w="med" len="med"/>
                <a:tailEnd type="triangle" w="med" len="med"/>
              </a:ln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2298" name="Line 16"/>
              <p:cNvSpPr>
                <a:spLocks noChangeShapeType="1"/>
              </p:cNvSpPr>
              <p:nvPr/>
            </p:nvSpPr>
            <p:spPr bwMode="auto">
              <a:xfrm>
                <a:off x="1979613" y="3429000"/>
                <a:ext cx="4318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endParaRPr lang="en-US"/>
              </a:p>
            </p:txBody>
          </p:sp>
          <p:cxnSp>
            <p:nvCxnSpPr>
              <p:cNvPr id="12299" name="AutoShape 17"/>
              <p:cNvCxnSpPr>
                <a:cxnSpLocks noChangeShapeType="1"/>
                <a:stCxn id="12298" idx="1"/>
                <a:endCxn id="12292" idx="1"/>
              </p:cNvCxnSpPr>
              <p:nvPr/>
            </p:nvCxnSpPr>
            <p:spPr bwMode="auto">
              <a:xfrm rot="16200000" flipH="1">
                <a:off x="2879725" y="2960688"/>
                <a:ext cx="360363" cy="1296987"/>
              </a:xfrm>
              <a:prstGeom prst="curvedConnector2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 type="triangle" w="med" len="med"/>
              </a:ln>
            </p:spPr>
          </p:cxnSp>
          <p:sp>
            <p:nvSpPr>
              <p:cNvPr id="12301" name="Text Box 19"/>
              <p:cNvSpPr txBox="1">
                <a:spLocks noChangeArrowheads="1"/>
              </p:cNvSpPr>
              <p:nvPr/>
            </p:nvSpPr>
            <p:spPr bwMode="auto">
              <a:xfrm>
                <a:off x="3779838" y="5661025"/>
                <a:ext cx="1512887" cy="3365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latinLnBrk="1">
                  <a:spcBef>
                    <a:spcPct val="50000"/>
                  </a:spcBef>
                </a:pPr>
                <a:r>
                  <a:rPr kumimoji="1" lang="en-US" altLang="ko-KR" sz="1600">
                    <a:latin typeface="Tahoma" pitchFamily="34" charset="0"/>
                    <a:ea typeface="굴림" pitchFamily="50" charset="-127"/>
                  </a:rPr>
                  <a:t>Parsing Table</a:t>
                </a:r>
              </a:p>
            </p:txBody>
          </p:sp>
        </p:grpSp>
      </p:grpSp>
      <p:sp>
        <p:nvSpPr>
          <p:cNvPr id="21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Bina</a:t>
            </a:r>
            <a:r>
              <a:rPr lang="en-US" dirty="0"/>
              <a:t> Nusantara University</a:t>
            </a:r>
          </a:p>
        </p:txBody>
      </p:sp>
      <p:sp>
        <p:nvSpPr>
          <p:cNvPr id="1230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82AA8FA-0FB2-4717-B129-D51EFDF7A14F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8090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2692400" y="381000"/>
            <a:ext cx="5994400" cy="457200"/>
          </a:xfrm>
        </p:spPr>
        <p:txBody>
          <a:bodyPr>
            <a:normAutofit fontScale="90000"/>
          </a:bodyPr>
          <a:lstStyle/>
          <a:p>
            <a:pPr algn="r"/>
            <a:r>
              <a:rPr lang="en-US" altLang="ko-KR" sz="2800" dirty="0">
                <a:ea typeface="굴림" pitchFamily="50" charset="-127"/>
              </a:rPr>
              <a:t>Constructing SLR (Simple LR) parser (Finding LR(0) Item)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19200" y="1524000"/>
            <a:ext cx="7467600" cy="4929336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90000"/>
              </a:lnSpc>
            </a:pPr>
            <a:r>
              <a:rPr lang="en-US" altLang="ko-KR" sz="1800" dirty="0">
                <a:ea typeface="굴림" pitchFamily="50" charset="-127"/>
              </a:rPr>
              <a:t>An LR Parser  makes shift- reduce decisions by maintaining states to keep track of where we are in parse.</a:t>
            </a:r>
          </a:p>
          <a:p>
            <a:pPr algn="just">
              <a:lnSpc>
                <a:spcPct val="90000"/>
              </a:lnSpc>
            </a:pPr>
            <a:endParaRPr lang="en-US" altLang="ko-KR" sz="1800" dirty="0">
              <a:ea typeface="굴림" pitchFamily="50" charset="-127"/>
            </a:endParaRPr>
          </a:p>
          <a:p>
            <a:pPr algn="just">
              <a:lnSpc>
                <a:spcPct val="90000"/>
              </a:lnSpc>
            </a:pPr>
            <a:r>
              <a:rPr lang="en-US" altLang="ko-KR" sz="1800" dirty="0">
                <a:ea typeface="굴림" pitchFamily="50" charset="-127"/>
              </a:rPr>
              <a:t>States represent sets of “items”.</a:t>
            </a:r>
          </a:p>
          <a:p>
            <a:pPr algn="just">
              <a:lnSpc>
                <a:spcPct val="90000"/>
              </a:lnSpc>
            </a:pPr>
            <a:endParaRPr lang="en-US" altLang="ko-KR" sz="1800" dirty="0">
              <a:ea typeface="굴림" pitchFamily="50" charset="-127"/>
            </a:endParaRPr>
          </a:p>
          <a:p>
            <a:pPr algn="just">
              <a:lnSpc>
                <a:spcPct val="90000"/>
              </a:lnSpc>
            </a:pPr>
            <a:r>
              <a:rPr lang="en-US" altLang="ko-KR" sz="1800" dirty="0">
                <a:ea typeface="굴림" pitchFamily="50" charset="-127"/>
              </a:rPr>
              <a:t>An LR(0) item of a grammar G, is a production of G with a dot at some position of the RHS .</a:t>
            </a:r>
          </a:p>
          <a:p>
            <a:pPr algn="just">
              <a:lnSpc>
                <a:spcPct val="90000"/>
              </a:lnSpc>
            </a:pPr>
            <a:endParaRPr lang="en-US" altLang="ko-KR" sz="1800" dirty="0">
              <a:ea typeface="굴림" pitchFamily="50" charset="-127"/>
            </a:endParaRPr>
          </a:p>
          <a:p>
            <a:pPr algn="just">
              <a:lnSpc>
                <a:spcPct val="90000"/>
              </a:lnSpc>
            </a:pPr>
            <a:r>
              <a:rPr lang="en-US" altLang="ko-KR" sz="1800" dirty="0">
                <a:ea typeface="굴림" pitchFamily="50" charset="-127"/>
              </a:rPr>
              <a:t>Consider production  :	A → XYZ </a:t>
            </a:r>
          </a:p>
          <a:p>
            <a:pPr marL="361950" indent="-361950" algn="just">
              <a:lnSpc>
                <a:spcPct val="90000"/>
              </a:lnSpc>
              <a:buNone/>
            </a:pPr>
            <a:r>
              <a:rPr lang="en-US" altLang="ko-KR" sz="1800" dirty="0">
                <a:ea typeface="굴림" pitchFamily="50" charset="-127"/>
              </a:rPr>
              <a:t>	Yields the four items :</a:t>
            </a:r>
          </a:p>
          <a:p>
            <a:pPr marL="361950" indent="-361950" algn="just">
              <a:lnSpc>
                <a:spcPct val="90000"/>
              </a:lnSpc>
              <a:buNone/>
            </a:pPr>
            <a:r>
              <a:rPr lang="en-US" altLang="ko-KR" sz="1800" dirty="0">
                <a:ea typeface="굴림" pitchFamily="50" charset="-127"/>
              </a:rPr>
              <a:t>		A → ·XYZ </a:t>
            </a:r>
          </a:p>
          <a:p>
            <a:pPr marL="361950" indent="-361950" algn="just">
              <a:lnSpc>
                <a:spcPct val="90000"/>
              </a:lnSpc>
              <a:buNone/>
            </a:pPr>
            <a:r>
              <a:rPr lang="en-US" altLang="ko-KR" sz="1800" dirty="0">
                <a:ea typeface="굴림" pitchFamily="50" charset="-127"/>
              </a:rPr>
              <a:t>		A → X·YZ </a:t>
            </a:r>
          </a:p>
          <a:p>
            <a:pPr marL="361950" indent="-361950" algn="just">
              <a:lnSpc>
                <a:spcPct val="90000"/>
              </a:lnSpc>
              <a:buNone/>
            </a:pPr>
            <a:r>
              <a:rPr lang="en-US" altLang="ko-KR" sz="1800" dirty="0">
                <a:ea typeface="굴림" pitchFamily="50" charset="-127"/>
              </a:rPr>
              <a:t>		A → XY·Z </a:t>
            </a:r>
          </a:p>
          <a:p>
            <a:pPr marL="361950" indent="-361950" algn="just">
              <a:lnSpc>
                <a:spcPct val="90000"/>
              </a:lnSpc>
              <a:buNone/>
            </a:pPr>
            <a:r>
              <a:rPr lang="en-US" altLang="ko-KR" sz="1800" dirty="0">
                <a:ea typeface="굴림" pitchFamily="50" charset="-127"/>
              </a:rPr>
              <a:t>		A → XYZ· </a:t>
            </a:r>
          </a:p>
          <a:p>
            <a:pPr algn="just">
              <a:lnSpc>
                <a:spcPct val="90000"/>
              </a:lnSpc>
            </a:pPr>
            <a:endParaRPr lang="en-US" altLang="ko-KR" sz="1800" dirty="0">
              <a:ea typeface="굴림" pitchFamily="50" charset="-127"/>
            </a:endParaRPr>
          </a:p>
          <a:p>
            <a:pPr algn="just">
              <a:lnSpc>
                <a:spcPct val="90000"/>
              </a:lnSpc>
            </a:pPr>
            <a:r>
              <a:rPr lang="en-US" altLang="ko-KR" sz="1800" dirty="0">
                <a:ea typeface="굴림" pitchFamily="50" charset="-127"/>
              </a:rPr>
              <a:t>One Collection set of LR(0) item of Grammar G, called the canonical LR(0)  Collection. 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Bina</a:t>
            </a:r>
            <a:r>
              <a:rPr lang="en-US" dirty="0"/>
              <a:t> Nusantara University</a:t>
            </a:r>
          </a:p>
        </p:txBody>
      </p:sp>
      <p:sp>
        <p:nvSpPr>
          <p:cNvPr id="1331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7F18DE7-BC39-45F7-93CD-48A91FC4E5C4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66800" y="1524000"/>
            <a:ext cx="7848600" cy="4876800"/>
          </a:xfrm>
        </p:spPr>
        <p:txBody>
          <a:bodyPr>
            <a:noAutofit/>
          </a:bodyPr>
          <a:lstStyle/>
          <a:p>
            <a:pPr marL="0" indent="0" algn="just">
              <a:lnSpc>
                <a:spcPct val="90000"/>
              </a:lnSpc>
              <a:buNone/>
            </a:pPr>
            <a:r>
              <a:rPr lang="en-US" altLang="ko-KR" dirty="0">
                <a:ea typeface="굴림" pitchFamily="50" charset="-127"/>
              </a:rPr>
              <a:t>Central idea of SLR </a:t>
            </a:r>
          </a:p>
          <a:p>
            <a:pPr marL="361950" indent="0" algn="just">
              <a:lnSpc>
                <a:spcPct val="90000"/>
              </a:lnSpc>
              <a:buNone/>
            </a:pPr>
            <a:r>
              <a:rPr lang="en-US" altLang="ko-KR" dirty="0">
                <a:ea typeface="굴림" pitchFamily="50" charset="-127"/>
              </a:rPr>
              <a:t>construct a DFA that recognize viable prefixed. The state of the DFA consists of a set of items </a:t>
            </a:r>
          </a:p>
          <a:p>
            <a:pPr lvl="1" algn="just">
              <a:lnSpc>
                <a:spcPct val="90000"/>
              </a:lnSpc>
            </a:pPr>
            <a:endParaRPr lang="en-US" altLang="ko-KR" dirty="0">
              <a:ea typeface="굴림" pitchFamily="50" charset="-127"/>
            </a:endParaRPr>
          </a:p>
          <a:p>
            <a:pPr marL="0" indent="0" algn="just">
              <a:lnSpc>
                <a:spcPct val="90000"/>
              </a:lnSpc>
              <a:buNone/>
            </a:pPr>
            <a:r>
              <a:rPr lang="en-US" altLang="ko-KR" dirty="0">
                <a:ea typeface="굴림" pitchFamily="50" charset="-127"/>
              </a:rPr>
              <a:t>Three operations for construct the canonical LR(0) collection for grammar, we define : </a:t>
            </a:r>
          </a:p>
          <a:p>
            <a:pPr marL="514350" indent="-457200" algn="just">
              <a:lnSpc>
                <a:spcPct val="90000"/>
              </a:lnSpc>
              <a:buFont typeface="+mj-lt"/>
              <a:buAutoNum type="arabicPeriod"/>
            </a:pPr>
            <a:r>
              <a:rPr lang="en-US" altLang="ko-KR" dirty="0">
                <a:ea typeface="굴림" pitchFamily="50" charset="-127"/>
              </a:rPr>
              <a:t>Augmenting a grammar </a:t>
            </a:r>
          </a:p>
          <a:p>
            <a:pPr marL="514350" lvl="1" indent="0" algn="just">
              <a:lnSpc>
                <a:spcPct val="90000"/>
              </a:lnSpc>
              <a:buNone/>
            </a:pPr>
            <a:r>
              <a:rPr lang="en-US" altLang="ko-KR" dirty="0">
                <a:ea typeface="굴림" pitchFamily="50" charset="-127"/>
              </a:rPr>
              <a:t>Add S' → S to indicate the parser when it should stop and accept </a:t>
            </a:r>
          </a:p>
          <a:p>
            <a:pPr marL="514350" indent="-457200" algn="just">
              <a:lnSpc>
                <a:spcPct val="90000"/>
              </a:lnSpc>
              <a:buFont typeface="+mj-lt"/>
              <a:buAutoNum type="arabicPeriod"/>
            </a:pPr>
            <a:r>
              <a:rPr lang="en-US" altLang="ko-KR" dirty="0">
                <a:ea typeface="굴림" pitchFamily="50" charset="-127"/>
              </a:rPr>
              <a:t>Closure operation</a:t>
            </a:r>
          </a:p>
          <a:p>
            <a:pPr marL="514350" lvl="1" indent="0" algn="just">
              <a:lnSpc>
                <a:spcPct val="90000"/>
              </a:lnSpc>
              <a:buNone/>
            </a:pPr>
            <a:r>
              <a:rPr lang="en-US" altLang="ko-KR" dirty="0">
                <a:ea typeface="굴림" pitchFamily="50" charset="-127"/>
              </a:rPr>
              <a:t>If I is a set of items for grammar G, then closure(I) is the set of items constructed from I by the two rules :</a:t>
            </a:r>
          </a:p>
          <a:p>
            <a:pPr marL="908050" lvl="2" indent="-457200" algn="just">
              <a:lnSpc>
                <a:spcPct val="90000"/>
              </a:lnSpc>
              <a:buFont typeface="+mj-lt"/>
              <a:buAutoNum type="alphaLcParenR"/>
            </a:pPr>
            <a:r>
              <a:rPr lang="en-US" altLang="ko-KR" sz="1800" dirty="0">
                <a:ea typeface="굴림" pitchFamily="50" charset="-127"/>
              </a:rPr>
              <a:t>Initially, add every item in I is added to Closure(I)</a:t>
            </a:r>
          </a:p>
          <a:p>
            <a:pPr marL="908050" lvl="2" indent="-457200" algn="just">
              <a:lnSpc>
                <a:spcPct val="90000"/>
              </a:lnSpc>
              <a:buFont typeface="+mj-lt"/>
              <a:buAutoNum type="alphaLcParenR"/>
            </a:pPr>
            <a:r>
              <a:rPr lang="en-US" altLang="ko-KR" sz="1800" dirty="0">
                <a:ea typeface="굴림" pitchFamily="50" charset="-127"/>
              </a:rPr>
              <a:t>If A → α·Bβ ∈ Closure(I) </a:t>
            </a:r>
            <a:r>
              <a:rPr lang="ko-KR" altLang="en-US" sz="1800" dirty="0">
                <a:ea typeface="굴림" pitchFamily="50" charset="-127"/>
              </a:rPr>
              <a:t>＆ </a:t>
            </a:r>
            <a:r>
              <a:rPr lang="en-US" altLang="ko-KR" sz="1800" dirty="0">
                <a:ea typeface="굴림" pitchFamily="50" charset="-127"/>
              </a:rPr>
              <a:t>B → </a:t>
            </a:r>
            <a:r>
              <a:rPr lang="en-US" altLang="ko-KR" sz="1800" dirty="0" err="1">
                <a:ea typeface="굴림" pitchFamily="50" charset="-127"/>
              </a:rPr>
              <a:t>γ</a:t>
            </a:r>
            <a:r>
              <a:rPr lang="en-US" altLang="ko-KR" sz="1800" dirty="0">
                <a:ea typeface="굴림" pitchFamily="50" charset="-127"/>
              </a:rPr>
              <a:t> is a production,  then add item B → ·</a:t>
            </a:r>
            <a:r>
              <a:rPr lang="en-US" altLang="ko-KR" sz="1800" dirty="0" err="1">
                <a:ea typeface="굴림" pitchFamily="50" charset="-127"/>
              </a:rPr>
              <a:t>γ</a:t>
            </a:r>
            <a:r>
              <a:rPr lang="en-US" altLang="ko-KR" sz="1800" dirty="0">
                <a:ea typeface="굴림" pitchFamily="50" charset="-127"/>
              </a:rPr>
              <a:t> to Closure(I), if it not already there. Apply this rule until no more new items can be added to Closure (I).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Bina</a:t>
            </a:r>
            <a:r>
              <a:rPr lang="en-US" dirty="0"/>
              <a:t> Nusantara University</a:t>
            </a:r>
          </a:p>
        </p:txBody>
      </p:sp>
      <p:sp>
        <p:nvSpPr>
          <p:cNvPr id="1331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7F18DE7-BC39-45F7-93CD-48A91FC4E5C4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D2BEAD78-8A10-D048-B97D-C61D80A58C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92400" y="381000"/>
            <a:ext cx="5994400" cy="457200"/>
          </a:xfrm>
        </p:spPr>
        <p:txBody>
          <a:bodyPr>
            <a:normAutofit fontScale="90000"/>
          </a:bodyPr>
          <a:lstStyle/>
          <a:p>
            <a:pPr algn="r"/>
            <a:r>
              <a:rPr lang="en-US" altLang="ko-KR" sz="2800" dirty="0">
                <a:ea typeface="굴림" pitchFamily="50" charset="-127"/>
              </a:rPr>
              <a:t>Constructing SLR (Simple LR) parser (Three Operation)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19200" y="1672590"/>
            <a:ext cx="3505200" cy="5029200"/>
          </a:xfrm>
        </p:spPr>
        <p:txBody>
          <a:bodyPr>
            <a:noAutofit/>
          </a:bodyPr>
          <a:lstStyle/>
          <a:p>
            <a:pPr marL="11113" indent="0" algn="just">
              <a:lnSpc>
                <a:spcPct val="90000"/>
              </a:lnSpc>
              <a:buNone/>
            </a:pPr>
            <a:r>
              <a:rPr lang="en-US" altLang="ko-KR" dirty="0">
                <a:ea typeface="굴림" pitchFamily="50" charset="-127"/>
              </a:rPr>
              <a:t>Example : </a:t>
            </a:r>
          </a:p>
          <a:p>
            <a:pPr marL="11113" indent="0" algn="just">
              <a:lnSpc>
                <a:spcPct val="90000"/>
              </a:lnSpc>
              <a:buNone/>
            </a:pPr>
            <a:r>
              <a:rPr lang="en-US" altLang="ko-KR" dirty="0">
                <a:ea typeface="굴림" pitchFamily="50" charset="-127"/>
              </a:rPr>
              <a:t>E’ </a:t>
            </a:r>
            <a:r>
              <a:rPr lang="en-US" altLang="ko-KR" dirty="0">
                <a:ea typeface="굴림" pitchFamily="50" charset="-127"/>
                <a:sym typeface="Wingdings" pitchFamily="2" charset="2"/>
              </a:rPr>
              <a:t></a:t>
            </a:r>
            <a:r>
              <a:rPr lang="en-US" altLang="ko-KR" dirty="0">
                <a:ea typeface="굴림" pitchFamily="50" charset="-127"/>
              </a:rPr>
              <a:t> E</a:t>
            </a:r>
          </a:p>
          <a:p>
            <a:pPr marL="11113" indent="0" algn="just">
              <a:lnSpc>
                <a:spcPct val="90000"/>
              </a:lnSpc>
              <a:buNone/>
            </a:pPr>
            <a:r>
              <a:rPr lang="en-US" altLang="ko-KR" dirty="0">
                <a:ea typeface="굴림" pitchFamily="50" charset="-127"/>
              </a:rPr>
              <a:t>E </a:t>
            </a:r>
            <a:r>
              <a:rPr lang="en-US" altLang="ko-KR" dirty="0">
                <a:ea typeface="굴림" pitchFamily="50" charset="-127"/>
                <a:sym typeface="Wingdings" pitchFamily="2" charset="2"/>
              </a:rPr>
              <a:t> </a:t>
            </a:r>
            <a:r>
              <a:rPr lang="en-US" altLang="ko-KR" dirty="0">
                <a:ea typeface="굴림" pitchFamily="50" charset="-127"/>
              </a:rPr>
              <a:t>E + T </a:t>
            </a:r>
          </a:p>
          <a:p>
            <a:pPr marL="11113" indent="0" algn="just">
              <a:lnSpc>
                <a:spcPct val="90000"/>
              </a:lnSpc>
              <a:buNone/>
            </a:pPr>
            <a:r>
              <a:rPr lang="en-US" altLang="ko-KR" dirty="0">
                <a:ea typeface="굴림" pitchFamily="50" charset="-127"/>
              </a:rPr>
              <a:t>E </a:t>
            </a:r>
            <a:r>
              <a:rPr lang="en-US" altLang="ko-KR" dirty="0">
                <a:ea typeface="굴림" pitchFamily="50" charset="-127"/>
                <a:sym typeface="Wingdings" pitchFamily="2" charset="2"/>
              </a:rPr>
              <a:t> </a:t>
            </a:r>
            <a:r>
              <a:rPr lang="en-US" altLang="ko-KR" dirty="0">
                <a:ea typeface="굴림" pitchFamily="50" charset="-127"/>
              </a:rPr>
              <a:t>T</a:t>
            </a:r>
          </a:p>
          <a:p>
            <a:pPr marL="11113" indent="0" algn="just">
              <a:lnSpc>
                <a:spcPct val="90000"/>
              </a:lnSpc>
              <a:buNone/>
            </a:pPr>
            <a:r>
              <a:rPr lang="en-US" altLang="ko-KR" dirty="0">
                <a:ea typeface="굴림" pitchFamily="50" charset="-127"/>
              </a:rPr>
              <a:t>T </a:t>
            </a:r>
            <a:r>
              <a:rPr lang="en-US" altLang="ko-KR" dirty="0">
                <a:ea typeface="굴림" pitchFamily="50" charset="-127"/>
                <a:sym typeface="Wingdings" pitchFamily="2" charset="2"/>
              </a:rPr>
              <a:t></a:t>
            </a:r>
            <a:r>
              <a:rPr lang="en-US" altLang="ko-KR" dirty="0">
                <a:ea typeface="굴림" pitchFamily="50" charset="-127"/>
              </a:rPr>
              <a:t> T * F</a:t>
            </a:r>
          </a:p>
          <a:p>
            <a:pPr marL="11113" indent="0" algn="just">
              <a:lnSpc>
                <a:spcPct val="90000"/>
              </a:lnSpc>
              <a:buNone/>
            </a:pPr>
            <a:r>
              <a:rPr lang="en-US" altLang="ko-KR" dirty="0">
                <a:ea typeface="굴림" pitchFamily="50" charset="-127"/>
              </a:rPr>
              <a:t>T </a:t>
            </a:r>
            <a:r>
              <a:rPr lang="en-US" altLang="ko-KR" dirty="0">
                <a:ea typeface="굴림" pitchFamily="50" charset="-127"/>
                <a:sym typeface="Wingdings" pitchFamily="2" charset="2"/>
              </a:rPr>
              <a:t></a:t>
            </a:r>
            <a:r>
              <a:rPr lang="en-US" altLang="ko-KR" dirty="0">
                <a:ea typeface="굴림" pitchFamily="50" charset="-127"/>
              </a:rPr>
              <a:t> F</a:t>
            </a:r>
          </a:p>
          <a:p>
            <a:pPr marL="11113" indent="0" algn="just">
              <a:lnSpc>
                <a:spcPct val="90000"/>
              </a:lnSpc>
              <a:buNone/>
            </a:pPr>
            <a:r>
              <a:rPr lang="en-US" altLang="ko-KR" dirty="0">
                <a:ea typeface="굴림" pitchFamily="50" charset="-127"/>
              </a:rPr>
              <a:t>F </a:t>
            </a:r>
            <a:r>
              <a:rPr lang="en-US" altLang="ko-KR" dirty="0">
                <a:ea typeface="굴림" pitchFamily="50" charset="-127"/>
                <a:sym typeface="Wingdings" pitchFamily="2" charset="2"/>
              </a:rPr>
              <a:t></a:t>
            </a:r>
            <a:r>
              <a:rPr lang="en-US" altLang="ko-KR" dirty="0">
                <a:ea typeface="굴림" pitchFamily="50" charset="-127"/>
              </a:rPr>
              <a:t> (E)</a:t>
            </a:r>
          </a:p>
          <a:p>
            <a:pPr marL="11113" indent="0" algn="just">
              <a:lnSpc>
                <a:spcPct val="90000"/>
              </a:lnSpc>
              <a:buNone/>
            </a:pPr>
            <a:r>
              <a:rPr lang="en-US" altLang="ko-KR" dirty="0">
                <a:ea typeface="굴림" pitchFamily="50" charset="-127"/>
              </a:rPr>
              <a:t>F </a:t>
            </a:r>
            <a:r>
              <a:rPr lang="en-US" altLang="ko-KR" dirty="0">
                <a:ea typeface="굴림" pitchFamily="50" charset="-127"/>
                <a:sym typeface="Wingdings" pitchFamily="2" charset="2"/>
              </a:rPr>
              <a:t></a:t>
            </a:r>
            <a:r>
              <a:rPr lang="en-US" altLang="ko-KR" dirty="0">
                <a:ea typeface="굴림" pitchFamily="50" charset="-127"/>
              </a:rPr>
              <a:t> id </a:t>
            </a:r>
          </a:p>
          <a:p>
            <a:pPr marL="282575" lvl="1" indent="-225425" algn="just">
              <a:lnSpc>
                <a:spcPct val="90000"/>
              </a:lnSpc>
              <a:buNone/>
            </a:pPr>
            <a:endParaRPr lang="en-US" altLang="ko-KR" dirty="0">
              <a:ea typeface="굴림" pitchFamily="50" charset="-127"/>
            </a:endParaRPr>
          </a:p>
        </p:txBody>
      </p:sp>
      <p:sp>
        <p:nvSpPr>
          <p:cNvPr id="5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Bina</a:t>
            </a:r>
            <a:r>
              <a:rPr lang="en-US" dirty="0"/>
              <a:t> Nusantara University</a:t>
            </a:r>
          </a:p>
        </p:txBody>
      </p:sp>
      <p:sp>
        <p:nvSpPr>
          <p:cNvPr id="1434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6F0D582-66F9-4908-843B-7B38EDB383DD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DAF83585-500F-C84D-B9EC-7BCEA7401DE3}"/>
              </a:ext>
            </a:extLst>
          </p:cNvPr>
          <p:cNvSpPr txBox="1">
            <a:spLocks noChangeArrowheads="1"/>
          </p:cNvSpPr>
          <p:nvPr/>
        </p:nvSpPr>
        <p:spPr>
          <a:xfrm>
            <a:off x="3581400" y="1672590"/>
            <a:ext cx="5257800" cy="391018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 algn="just">
              <a:lnSpc>
                <a:spcPct val="90000"/>
              </a:lnSpc>
              <a:buFont typeface="Arial" pitchFamily="34" charset="0"/>
              <a:buNone/>
            </a:pPr>
            <a:r>
              <a:rPr lang="en-US" altLang="ko-KR" dirty="0">
                <a:ea typeface="굴림" pitchFamily="50" charset="-127"/>
              </a:rPr>
              <a:t>Start with I = { E' → ·E}, then closure(I) :</a:t>
            </a:r>
          </a:p>
          <a:p>
            <a:pPr marL="282575" lvl="1" indent="-225425" algn="just">
              <a:lnSpc>
                <a:spcPct val="90000"/>
              </a:lnSpc>
              <a:buFont typeface="Arial" pitchFamily="34" charset="0"/>
              <a:buNone/>
            </a:pPr>
            <a:r>
              <a:rPr lang="en-US" altLang="ko-KR" dirty="0">
                <a:ea typeface="굴림" pitchFamily="50" charset="-127"/>
              </a:rPr>
              <a:t>		E' → ·E</a:t>
            </a:r>
          </a:p>
          <a:p>
            <a:pPr marL="282575" lvl="1" indent="-225425" algn="just">
              <a:lnSpc>
                <a:spcPct val="90000"/>
              </a:lnSpc>
              <a:buFont typeface="Arial" pitchFamily="34" charset="0"/>
              <a:buNone/>
            </a:pPr>
            <a:r>
              <a:rPr lang="en-US" altLang="ko-KR" dirty="0">
                <a:ea typeface="굴림" pitchFamily="50" charset="-127"/>
              </a:rPr>
              <a:t>		E → ·E + T</a:t>
            </a:r>
          </a:p>
          <a:p>
            <a:pPr marL="282575" lvl="1" indent="-225425" algn="just">
              <a:lnSpc>
                <a:spcPct val="90000"/>
              </a:lnSpc>
              <a:buFont typeface="Arial" pitchFamily="34" charset="0"/>
              <a:buNone/>
            </a:pPr>
            <a:r>
              <a:rPr lang="en-US" altLang="ko-KR" dirty="0">
                <a:ea typeface="굴림" pitchFamily="50" charset="-127"/>
              </a:rPr>
              <a:t>		E → ·T</a:t>
            </a:r>
          </a:p>
          <a:p>
            <a:pPr marL="282575" lvl="1" indent="-225425" algn="just">
              <a:lnSpc>
                <a:spcPct val="90000"/>
              </a:lnSpc>
              <a:buFont typeface="Arial" pitchFamily="34" charset="0"/>
              <a:buNone/>
            </a:pPr>
            <a:r>
              <a:rPr lang="en-US" altLang="ko-KR" dirty="0">
                <a:ea typeface="굴림" pitchFamily="50" charset="-127"/>
              </a:rPr>
              <a:t>		T → ·T * F</a:t>
            </a:r>
          </a:p>
          <a:p>
            <a:pPr marL="282575" lvl="1" indent="-225425" algn="just">
              <a:lnSpc>
                <a:spcPct val="90000"/>
              </a:lnSpc>
              <a:buFont typeface="Arial" pitchFamily="34" charset="0"/>
              <a:buNone/>
            </a:pPr>
            <a:r>
              <a:rPr lang="en-US" altLang="ko-KR" dirty="0">
                <a:ea typeface="굴림" pitchFamily="50" charset="-127"/>
              </a:rPr>
              <a:t>		T → ·F</a:t>
            </a:r>
          </a:p>
          <a:p>
            <a:pPr marL="282575" lvl="1" indent="-225425" algn="just">
              <a:lnSpc>
                <a:spcPct val="90000"/>
              </a:lnSpc>
              <a:buFont typeface="Arial" pitchFamily="34" charset="0"/>
              <a:buNone/>
            </a:pPr>
            <a:r>
              <a:rPr lang="en-US" altLang="ko-KR" dirty="0">
                <a:ea typeface="굴림" pitchFamily="50" charset="-127"/>
              </a:rPr>
              <a:t>		F → ·(E)</a:t>
            </a:r>
          </a:p>
          <a:p>
            <a:pPr marL="282575" lvl="1" indent="-225425" algn="just">
              <a:lnSpc>
                <a:spcPct val="90000"/>
              </a:lnSpc>
              <a:buFont typeface="Arial" pitchFamily="34" charset="0"/>
              <a:buNone/>
            </a:pPr>
            <a:r>
              <a:rPr lang="en-US" altLang="ko-KR" dirty="0">
                <a:ea typeface="굴림" pitchFamily="50" charset="-127"/>
              </a:rPr>
              <a:t>		F → ·id </a:t>
            </a:r>
          </a:p>
          <a:p>
            <a:pPr marL="1139825" lvl="3" indent="-225425" algn="just">
              <a:lnSpc>
                <a:spcPct val="90000"/>
              </a:lnSpc>
              <a:buFont typeface="Arial" pitchFamily="34" charset="0"/>
              <a:buNone/>
            </a:pPr>
            <a:endParaRPr lang="en-US" altLang="ko-KR" dirty="0">
              <a:ea typeface="굴림" pitchFamily="50" charset="-127"/>
            </a:endParaRPr>
          </a:p>
          <a:p>
            <a:pPr marL="457200" algn="just">
              <a:lnSpc>
                <a:spcPct val="90000"/>
              </a:lnSpc>
            </a:pPr>
            <a:r>
              <a:rPr lang="en-US" altLang="ko-KR" dirty="0">
                <a:ea typeface="굴림" pitchFamily="50" charset="-127"/>
              </a:rPr>
              <a:t>Kernel items : the initial item S’ </a:t>
            </a:r>
            <a:r>
              <a:rPr lang="en-US" altLang="ko-KR" dirty="0">
                <a:ea typeface="굴림" pitchFamily="50" charset="-127"/>
                <a:sym typeface="Wingdings" pitchFamily="2" charset="2"/>
              </a:rPr>
              <a:t></a:t>
            </a:r>
            <a:r>
              <a:rPr lang="en-US" altLang="ko-KR" dirty="0">
                <a:ea typeface="굴림" pitchFamily="50" charset="-127"/>
              </a:rPr>
              <a:t>·S, </a:t>
            </a:r>
            <a:r>
              <a:rPr lang="en-US" altLang="ko-KR" dirty="0" err="1">
                <a:ea typeface="굴림" pitchFamily="50" charset="-127"/>
              </a:rPr>
              <a:t>and</a:t>
            </a:r>
            <a:r>
              <a:rPr lang="en-US" altLang="ko-KR" dirty="0" err="1">
                <a:ea typeface="굴림" pitchFamily="50" charset="-127"/>
                <a:sym typeface="Wingdings" pitchFamily="2" charset="2"/>
              </a:rPr>
              <a:t>all</a:t>
            </a:r>
            <a:r>
              <a:rPr lang="en-US" altLang="ko-KR" dirty="0">
                <a:ea typeface="굴림" pitchFamily="50" charset="-127"/>
                <a:sym typeface="Wingdings" pitchFamily="2" charset="2"/>
              </a:rPr>
              <a:t> items whose </a:t>
            </a:r>
            <a:r>
              <a:rPr lang="en-US" altLang="ko-KR" dirty="0">
                <a:ea typeface="굴림" pitchFamily="50" charset="-127"/>
              </a:rPr>
              <a:t>dots are not at the left end.</a:t>
            </a:r>
          </a:p>
          <a:p>
            <a:pPr marL="457200" algn="just">
              <a:lnSpc>
                <a:spcPct val="90000"/>
              </a:lnSpc>
            </a:pPr>
            <a:r>
              <a:rPr lang="en-US" altLang="ko-KR" dirty="0">
                <a:ea typeface="굴림" pitchFamily="50" charset="-127"/>
              </a:rPr>
              <a:t>Non-kernel items : all items with their dots at the left end, except S’ </a:t>
            </a:r>
            <a:r>
              <a:rPr lang="en-US" altLang="ko-KR" dirty="0">
                <a:ea typeface="굴림" pitchFamily="50" charset="-127"/>
                <a:sym typeface="Wingdings" pitchFamily="2" charset="2"/>
              </a:rPr>
              <a:t></a:t>
            </a:r>
            <a:r>
              <a:rPr lang="en-US" altLang="ko-KR" dirty="0">
                <a:ea typeface="굴림" pitchFamily="50" charset="-127"/>
              </a:rPr>
              <a:t>·S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B206C24B-3582-1540-9E1A-49D2A875BA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92400" y="381000"/>
            <a:ext cx="5994400" cy="457200"/>
          </a:xfrm>
        </p:spPr>
        <p:txBody>
          <a:bodyPr>
            <a:normAutofit fontScale="90000"/>
          </a:bodyPr>
          <a:lstStyle/>
          <a:p>
            <a:pPr algn="r"/>
            <a:r>
              <a:rPr lang="en-US" altLang="ko-KR" sz="2800" dirty="0">
                <a:ea typeface="굴림" pitchFamily="50" charset="-127"/>
              </a:rPr>
              <a:t>Constructing SLR (Simple LR) parser (Closure Example)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43000" y="1676400"/>
            <a:ext cx="7620000" cy="4724400"/>
          </a:xfrm>
        </p:spPr>
        <p:txBody>
          <a:bodyPr>
            <a:normAutofit/>
          </a:bodyPr>
          <a:lstStyle/>
          <a:p>
            <a:pPr marL="914400" lvl="1" indent="-457200" algn="just">
              <a:buFont typeface="+mj-lt"/>
              <a:buAutoNum type="arabicPeriod" startAt="3"/>
            </a:pPr>
            <a:r>
              <a:rPr lang="en-US" altLang="ko-KR" dirty="0">
                <a:ea typeface="굴림" pitchFamily="50" charset="-127"/>
              </a:rPr>
              <a:t>GOTO operation</a:t>
            </a:r>
          </a:p>
          <a:p>
            <a:pPr lvl="2" algn="just"/>
            <a:r>
              <a:rPr lang="en-US" altLang="ko-KR" dirty="0">
                <a:ea typeface="굴림" pitchFamily="50" charset="-127"/>
              </a:rPr>
              <a:t>Suppose I is a set of items and X is a grammar symbol, then GOTO(I, X) = the closure of the set of all items [A → αX·β] such that [A → α·Xβ] ∈ I</a:t>
            </a:r>
          </a:p>
          <a:p>
            <a:pPr lvl="2" algn="just"/>
            <a:r>
              <a:rPr lang="en-US" altLang="ko-KR" dirty="0">
                <a:ea typeface="굴림" pitchFamily="50" charset="-127"/>
              </a:rPr>
              <a:t>Intuitively, the GOTO function is use to define the transitions in the LR(0) automaton of a grammar.</a:t>
            </a:r>
          </a:p>
          <a:p>
            <a:pPr lvl="2" algn="just">
              <a:tabLst>
                <a:tab pos="1109663" algn="l"/>
              </a:tabLst>
            </a:pPr>
            <a:r>
              <a:rPr lang="en-US" altLang="ko-KR" dirty="0" err="1">
                <a:ea typeface="굴림" pitchFamily="50" charset="-127"/>
              </a:rPr>
              <a:t>E.g</a:t>
            </a:r>
            <a:r>
              <a:rPr lang="en-US" altLang="ko-KR" dirty="0">
                <a:ea typeface="굴림" pitchFamily="50" charset="-127"/>
              </a:rPr>
              <a:t> :  Suppose I = { E' → E·, E → E·+ T}, </a:t>
            </a:r>
          </a:p>
          <a:p>
            <a:pPr marL="914400" lvl="2" indent="0" algn="just">
              <a:buNone/>
              <a:tabLst>
                <a:tab pos="1109663" algn="l"/>
              </a:tabLst>
            </a:pPr>
            <a:r>
              <a:rPr lang="en-US" altLang="ko-KR" dirty="0">
                <a:ea typeface="굴림" pitchFamily="50" charset="-127"/>
              </a:rPr>
              <a:t>	then GOTO(I, +) :</a:t>
            </a:r>
          </a:p>
          <a:p>
            <a:pPr lvl="2" algn="just">
              <a:buFontTx/>
              <a:buNone/>
            </a:pPr>
            <a:r>
              <a:rPr lang="en-US" altLang="ko-KR" dirty="0">
                <a:ea typeface="굴림" pitchFamily="50" charset="-127"/>
              </a:rPr>
              <a:t>   		E → E + ·T</a:t>
            </a:r>
          </a:p>
          <a:p>
            <a:pPr lvl="2" algn="just">
              <a:buFontTx/>
              <a:buNone/>
            </a:pPr>
            <a:r>
              <a:rPr lang="en-US" altLang="ko-KR" dirty="0">
                <a:ea typeface="굴림" pitchFamily="50" charset="-127"/>
              </a:rPr>
              <a:t>		T → ·T * F</a:t>
            </a:r>
          </a:p>
          <a:p>
            <a:pPr lvl="2" algn="just">
              <a:buFontTx/>
              <a:buNone/>
            </a:pPr>
            <a:r>
              <a:rPr lang="en-US" altLang="ko-KR" dirty="0">
                <a:ea typeface="굴림" pitchFamily="50" charset="-127"/>
              </a:rPr>
              <a:t>		T → ·F</a:t>
            </a:r>
          </a:p>
          <a:p>
            <a:pPr lvl="2" algn="just">
              <a:buFontTx/>
              <a:buNone/>
            </a:pPr>
            <a:r>
              <a:rPr lang="en-US" altLang="ko-KR" dirty="0">
                <a:ea typeface="굴림" pitchFamily="50" charset="-127"/>
              </a:rPr>
              <a:t>		F → · (E)</a:t>
            </a:r>
          </a:p>
          <a:p>
            <a:pPr lvl="2" algn="just">
              <a:buFontTx/>
              <a:buNone/>
            </a:pPr>
            <a:r>
              <a:rPr lang="en-US" altLang="ko-KR" dirty="0">
                <a:ea typeface="굴림" pitchFamily="50" charset="-127"/>
              </a:rPr>
              <a:t>		F → ·id</a:t>
            </a:r>
          </a:p>
          <a:p>
            <a:pPr lvl="1"/>
            <a:endParaRPr lang="en-US" altLang="ko-KR" dirty="0">
              <a:ea typeface="굴림" pitchFamily="50" charset="-127"/>
            </a:endParaRPr>
          </a:p>
          <a:p>
            <a:pPr lvl="1"/>
            <a:endParaRPr lang="en-US" altLang="ko-KR" dirty="0">
              <a:ea typeface="굴림" pitchFamily="50" charset="-127"/>
            </a:endParaRPr>
          </a:p>
        </p:txBody>
      </p:sp>
      <p:sp>
        <p:nvSpPr>
          <p:cNvPr id="5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Bina</a:t>
            </a:r>
            <a:r>
              <a:rPr lang="en-US" dirty="0"/>
              <a:t> Nusantara University</a:t>
            </a:r>
          </a:p>
        </p:txBody>
      </p:sp>
      <p:sp>
        <p:nvSpPr>
          <p:cNvPr id="1536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9F0CD69-18C1-4B0F-BB92-E144699958A5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0503B25C-8CAB-5243-9E4C-A472131B12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92400" y="381000"/>
            <a:ext cx="5994400" cy="457200"/>
          </a:xfrm>
        </p:spPr>
        <p:txBody>
          <a:bodyPr>
            <a:normAutofit fontScale="90000"/>
          </a:bodyPr>
          <a:lstStyle/>
          <a:p>
            <a:pPr algn="r"/>
            <a:r>
              <a:rPr lang="en-US" altLang="ko-KR" sz="2800" dirty="0">
                <a:ea typeface="굴림" pitchFamily="50" charset="-127"/>
              </a:rPr>
              <a:t>Constructing SLR (Simple LR) parser (Go To Operation)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65283" y="1066800"/>
            <a:ext cx="6019800" cy="10668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ko-KR" sz="1600" dirty="0">
                <a:ea typeface="굴림" pitchFamily="50" charset="-127"/>
              </a:rPr>
              <a:t>Draw state diagram for the following augmented grammar</a:t>
            </a:r>
          </a:p>
          <a:p>
            <a:pPr marL="0" indent="0" algn="just">
              <a:buNone/>
            </a:pPr>
            <a:r>
              <a:rPr lang="en-US" altLang="ko-KR" sz="1600" dirty="0">
                <a:ea typeface="굴림" pitchFamily="50" charset="-127"/>
              </a:rPr>
              <a:t>e.g.  E' → E , E → E + T | T, T → T * F | F, F → (E) | id </a:t>
            </a:r>
          </a:p>
        </p:txBody>
      </p:sp>
      <p:sp>
        <p:nvSpPr>
          <p:cNvPr id="75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Bina</a:t>
            </a:r>
            <a:r>
              <a:rPr lang="en-US" dirty="0"/>
              <a:t> Nusantara University</a:t>
            </a:r>
          </a:p>
        </p:txBody>
      </p:sp>
      <p:sp>
        <p:nvSpPr>
          <p:cNvPr id="1645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F15A189-75E2-4280-98E0-7CE1BEEBE2A2}" type="slidenum">
              <a:rPr lang="en-US" smtClean="0"/>
              <a:pPr/>
              <a:t>14</a:t>
            </a:fld>
            <a:endParaRPr lang="en-US" dirty="0"/>
          </a:p>
        </p:txBody>
      </p:sp>
      <p:grpSp>
        <p:nvGrpSpPr>
          <p:cNvPr id="281" name="Group 280"/>
          <p:cNvGrpSpPr/>
          <p:nvPr/>
        </p:nvGrpSpPr>
        <p:grpSpPr>
          <a:xfrm>
            <a:off x="1066800" y="1828800"/>
            <a:ext cx="8001000" cy="4953000"/>
            <a:chOff x="1066800" y="1828800"/>
            <a:chExt cx="8001000" cy="4953000"/>
          </a:xfrm>
        </p:grpSpPr>
        <p:sp>
          <p:nvSpPr>
            <p:cNvPr id="16440" name="Text Box 56"/>
            <p:cNvSpPr txBox="1">
              <a:spLocks noChangeArrowheads="1"/>
            </p:cNvSpPr>
            <p:nvPr/>
          </p:nvSpPr>
          <p:spPr bwMode="auto">
            <a:xfrm>
              <a:off x="1295401" y="4051063"/>
              <a:ext cx="484015" cy="3473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latinLnBrk="1">
                <a:spcBef>
                  <a:spcPct val="50000"/>
                </a:spcBef>
              </a:pPr>
              <a:r>
                <a:rPr kumimoji="1" lang="en-US" altLang="ko-KR" sz="1600">
                  <a:latin typeface="Open Sans"/>
                  <a:ea typeface="굴림" pitchFamily="50" charset="-127"/>
                </a:rPr>
                <a:t>I1</a:t>
              </a:r>
            </a:p>
          </p:txBody>
        </p:sp>
        <p:sp>
          <p:nvSpPr>
            <p:cNvPr id="16448" name="Text Box 64"/>
            <p:cNvSpPr txBox="1">
              <a:spLocks noChangeArrowheads="1"/>
            </p:cNvSpPr>
            <p:nvPr/>
          </p:nvSpPr>
          <p:spPr bwMode="auto">
            <a:xfrm>
              <a:off x="2069398" y="3829544"/>
              <a:ext cx="486147" cy="3473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latinLnBrk="1">
                <a:spcBef>
                  <a:spcPct val="50000"/>
                </a:spcBef>
              </a:pPr>
              <a:r>
                <a:rPr kumimoji="1" lang="en-US" altLang="ko-KR" sz="1600">
                  <a:latin typeface="Open Sans"/>
                  <a:ea typeface="굴림" pitchFamily="50" charset="-127"/>
                </a:rPr>
                <a:t>E</a:t>
              </a:r>
            </a:p>
          </p:txBody>
        </p:sp>
        <p:sp>
          <p:nvSpPr>
            <p:cNvPr id="77" name="Oval 76"/>
            <p:cNvSpPr/>
            <p:nvPr/>
          </p:nvSpPr>
          <p:spPr>
            <a:xfrm>
              <a:off x="1066800" y="1981200"/>
              <a:ext cx="1676400" cy="2667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>
                  <a:latin typeface="Open Sans"/>
                  <a:ea typeface="굴림" pitchFamily="50" charset="-127"/>
                </a:rPr>
                <a:t>I0</a:t>
              </a:r>
            </a:p>
            <a:p>
              <a:pPr algn="ctr"/>
              <a:r>
                <a:rPr kumimoji="1" lang="en-US" altLang="ko-KR">
                  <a:latin typeface="Open Sans"/>
                  <a:ea typeface="굴림" pitchFamily="50" charset="-127"/>
                </a:rPr>
                <a:t>E`</a:t>
              </a:r>
              <a:r>
                <a:rPr kumimoji="1" lang="en-US" altLang="ko-KR">
                  <a:latin typeface="Open Sans"/>
                  <a:ea typeface="굴림" pitchFamily="50" charset="-127"/>
                  <a:sym typeface="Wingdings" pitchFamily="2" charset="2"/>
                </a:rPr>
                <a:t>·E</a:t>
              </a:r>
              <a:br>
                <a:rPr kumimoji="1" lang="en-US" altLang="ko-KR">
                  <a:latin typeface="Open Sans"/>
                  <a:ea typeface="굴림" pitchFamily="50" charset="-127"/>
                  <a:sym typeface="Wingdings" pitchFamily="2" charset="2"/>
                </a:rPr>
              </a:br>
              <a:r>
                <a:rPr kumimoji="1" lang="en-US" altLang="ko-KR">
                  <a:solidFill>
                    <a:srgbClr val="FF0000"/>
                  </a:solidFill>
                  <a:latin typeface="Open Sans"/>
                  <a:ea typeface="굴림" pitchFamily="50" charset="-127"/>
                  <a:sym typeface="Wingdings" pitchFamily="2" charset="2"/>
                </a:rPr>
                <a:t>E·E+T</a:t>
              </a:r>
              <a:br>
                <a:rPr kumimoji="1" lang="en-US" altLang="ko-KR">
                  <a:solidFill>
                    <a:srgbClr val="FF0000"/>
                  </a:solidFill>
                  <a:latin typeface="Open Sans"/>
                  <a:ea typeface="굴림" pitchFamily="50" charset="-127"/>
                  <a:sym typeface="Wingdings" pitchFamily="2" charset="2"/>
                </a:rPr>
              </a:br>
              <a:r>
                <a:rPr kumimoji="1" lang="en-US" altLang="ko-KR">
                  <a:solidFill>
                    <a:srgbClr val="FF0000"/>
                  </a:solidFill>
                  <a:latin typeface="Open Sans"/>
                  <a:ea typeface="굴림" pitchFamily="50" charset="-127"/>
                  <a:sym typeface="Wingdings" pitchFamily="2" charset="2"/>
                </a:rPr>
                <a:t>E·T</a:t>
              </a:r>
              <a:br>
                <a:rPr kumimoji="1" lang="en-US" altLang="ko-KR">
                  <a:solidFill>
                    <a:srgbClr val="FF0000"/>
                  </a:solidFill>
                  <a:latin typeface="Open Sans"/>
                  <a:ea typeface="굴림" pitchFamily="50" charset="-127"/>
                  <a:sym typeface="Wingdings" pitchFamily="2" charset="2"/>
                </a:rPr>
              </a:br>
              <a:r>
                <a:rPr kumimoji="1" lang="en-US" altLang="ko-KR">
                  <a:solidFill>
                    <a:srgbClr val="FF0000"/>
                  </a:solidFill>
                  <a:latin typeface="Open Sans"/>
                  <a:ea typeface="굴림" pitchFamily="50" charset="-127"/>
                  <a:sym typeface="Wingdings" pitchFamily="2" charset="2"/>
                </a:rPr>
                <a:t>T·T*F</a:t>
              </a:r>
              <a:br>
                <a:rPr kumimoji="1" lang="en-US" altLang="ko-KR">
                  <a:solidFill>
                    <a:srgbClr val="FF0000"/>
                  </a:solidFill>
                  <a:latin typeface="Open Sans"/>
                  <a:ea typeface="굴림" pitchFamily="50" charset="-127"/>
                  <a:sym typeface="Wingdings" pitchFamily="2" charset="2"/>
                </a:rPr>
              </a:br>
              <a:r>
                <a:rPr kumimoji="1" lang="en-US" altLang="ko-KR">
                  <a:solidFill>
                    <a:srgbClr val="FF0000"/>
                  </a:solidFill>
                  <a:latin typeface="Open Sans"/>
                  <a:ea typeface="굴림" pitchFamily="50" charset="-127"/>
                  <a:sym typeface="Wingdings" pitchFamily="2" charset="2"/>
                </a:rPr>
                <a:t>T·F</a:t>
              </a:r>
              <a:br>
                <a:rPr kumimoji="1" lang="en-US" altLang="ko-KR">
                  <a:solidFill>
                    <a:srgbClr val="FF0000"/>
                  </a:solidFill>
                  <a:latin typeface="Open Sans"/>
                  <a:ea typeface="굴림" pitchFamily="50" charset="-127"/>
                  <a:sym typeface="Wingdings" pitchFamily="2" charset="2"/>
                </a:rPr>
              </a:br>
              <a:r>
                <a:rPr kumimoji="1" lang="en-US" altLang="ko-KR">
                  <a:solidFill>
                    <a:srgbClr val="FF0000"/>
                  </a:solidFill>
                  <a:latin typeface="Open Sans"/>
                  <a:ea typeface="굴림" pitchFamily="50" charset="-127"/>
                  <a:sym typeface="Wingdings" pitchFamily="2" charset="2"/>
                </a:rPr>
                <a:t>F· (E)</a:t>
              </a:r>
              <a:br>
                <a:rPr kumimoji="1" lang="en-US" altLang="ko-KR">
                  <a:solidFill>
                    <a:srgbClr val="FF0000"/>
                  </a:solidFill>
                  <a:latin typeface="Open Sans"/>
                  <a:ea typeface="굴림" pitchFamily="50" charset="-127"/>
                  <a:sym typeface="Wingdings" pitchFamily="2" charset="2"/>
                </a:rPr>
              </a:br>
              <a:r>
                <a:rPr kumimoji="1" lang="en-US" altLang="ko-KR">
                  <a:solidFill>
                    <a:srgbClr val="FF0000"/>
                  </a:solidFill>
                  <a:latin typeface="Open Sans"/>
                  <a:ea typeface="굴림" pitchFamily="50" charset="-127"/>
                  <a:sym typeface="Wingdings" pitchFamily="2" charset="2"/>
                </a:rPr>
                <a:t>F·id</a:t>
              </a:r>
            </a:p>
            <a:p>
              <a:pPr algn="ctr"/>
              <a:endParaRPr lang="en-US"/>
            </a:p>
          </p:txBody>
        </p:sp>
        <p:sp>
          <p:nvSpPr>
            <p:cNvPr id="78" name="Oval 77"/>
            <p:cNvSpPr/>
            <p:nvPr/>
          </p:nvSpPr>
          <p:spPr>
            <a:xfrm>
              <a:off x="2971800" y="1828800"/>
              <a:ext cx="1524000" cy="1066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I1</a:t>
              </a:r>
            </a:p>
            <a:p>
              <a:pPr algn="ctr"/>
              <a:r>
                <a:rPr kumimoji="1" lang="en-US" altLang="ko-KR">
                  <a:latin typeface="Open Sans"/>
                  <a:ea typeface="굴림" pitchFamily="50" charset="-127"/>
                </a:rPr>
                <a:t>E`</a:t>
              </a:r>
              <a:r>
                <a:rPr kumimoji="1" lang="en-US" altLang="ko-KR">
                  <a:latin typeface="Open Sans"/>
                  <a:ea typeface="굴림" pitchFamily="50" charset="-127"/>
                  <a:sym typeface="Wingdings" pitchFamily="2" charset="2"/>
                </a:rPr>
                <a:t>E.</a:t>
              </a:r>
              <a:br>
                <a:rPr kumimoji="1" lang="en-US" altLang="ko-KR">
                  <a:latin typeface="Open Sans"/>
                  <a:ea typeface="굴림" pitchFamily="50" charset="-127"/>
                  <a:sym typeface="Wingdings" pitchFamily="2" charset="2"/>
                </a:rPr>
              </a:br>
              <a:r>
                <a:rPr kumimoji="1" lang="en-US" altLang="ko-KR">
                  <a:latin typeface="Open Sans"/>
                  <a:ea typeface="굴림" pitchFamily="50" charset="-127"/>
                  <a:sym typeface="Wingdings" pitchFamily="2" charset="2"/>
                </a:rPr>
                <a:t>EE.+T</a:t>
              </a:r>
              <a:endParaRPr kumimoji="1" lang="en-US" altLang="ko-KR">
                <a:latin typeface="Open Sans"/>
                <a:ea typeface="굴림" pitchFamily="50" charset="-127"/>
              </a:endParaRPr>
            </a:p>
            <a:p>
              <a:pPr algn="ctr"/>
              <a:endParaRPr lang="en-US"/>
            </a:p>
          </p:txBody>
        </p:sp>
        <p:cxnSp>
          <p:nvCxnSpPr>
            <p:cNvPr id="80" name="Straight Arrow Connector 79"/>
            <p:cNvCxnSpPr>
              <a:stCxn id="77" idx="7"/>
              <a:endCxn id="78" idx="2"/>
            </p:cNvCxnSpPr>
            <p:nvPr/>
          </p:nvCxnSpPr>
          <p:spPr>
            <a:xfrm rot="5400000" flipH="1" flipV="1">
              <a:off x="2729962" y="2129936"/>
              <a:ext cx="9573" cy="474103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Text Box 64"/>
            <p:cNvSpPr txBox="1">
              <a:spLocks noChangeArrowheads="1"/>
            </p:cNvSpPr>
            <p:nvPr/>
          </p:nvSpPr>
          <p:spPr bwMode="auto">
            <a:xfrm>
              <a:off x="2638053" y="2057400"/>
              <a:ext cx="486147" cy="3473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latinLnBrk="1">
                <a:spcBef>
                  <a:spcPct val="50000"/>
                </a:spcBef>
              </a:pPr>
              <a:r>
                <a:rPr kumimoji="1" lang="en-US" altLang="ko-KR" sz="1600">
                  <a:latin typeface="Open Sans"/>
                  <a:ea typeface="굴림" pitchFamily="50" charset="-127"/>
                </a:rPr>
                <a:t>E</a:t>
              </a:r>
            </a:p>
          </p:txBody>
        </p:sp>
        <p:sp>
          <p:nvSpPr>
            <p:cNvPr id="86" name="Oval 85"/>
            <p:cNvSpPr/>
            <p:nvPr/>
          </p:nvSpPr>
          <p:spPr>
            <a:xfrm>
              <a:off x="3581400" y="3124200"/>
              <a:ext cx="1447800" cy="1066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I2</a:t>
              </a:r>
            </a:p>
            <a:p>
              <a:pPr algn="ctr" latinLnBrk="1"/>
              <a:r>
                <a:rPr kumimoji="1" lang="en-US" altLang="ko-KR">
                  <a:latin typeface="Open Sans"/>
                  <a:ea typeface="굴림" pitchFamily="50" charset="-127"/>
                </a:rPr>
                <a:t>E</a:t>
              </a:r>
              <a:r>
                <a:rPr kumimoji="1" lang="en-US" altLang="ko-KR">
                  <a:latin typeface="Open Sans"/>
                  <a:ea typeface="굴림" pitchFamily="50" charset="-127"/>
                  <a:sym typeface="Wingdings" pitchFamily="2" charset="2"/>
                </a:rPr>
                <a:t>T·</a:t>
              </a:r>
              <a:br>
                <a:rPr kumimoji="1" lang="en-US" altLang="ko-KR">
                  <a:latin typeface="Open Sans"/>
                  <a:ea typeface="굴림" pitchFamily="50" charset="-127"/>
                  <a:sym typeface="Wingdings" pitchFamily="2" charset="2"/>
                </a:rPr>
              </a:br>
              <a:r>
                <a:rPr kumimoji="1" lang="en-US" altLang="ko-KR">
                  <a:latin typeface="Open Sans"/>
                  <a:ea typeface="굴림" pitchFamily="50" charset="-127"/>
                  <a:sym typeface="Wingdings" pitchFamily="2" charset="2"/>
                </a:rPr>
                <a:t>TT·*F</a:t>
              </a:r>
            </a:p>
            <a:p>
              <a:pPr algn="ctr"/>
              <a:endParaRPr lang="en-US"/>
            </a:p>
          </p:txBody>
        </p:sp>
        <p:cxnSp>
          <p:nvCxnSpPr>
            <p:cNvPr id="87" name="Straight Arrow Connector 86"/>
            <p:cNvCxnSpPr>
              <a:endCxn id="86" idx="2"/>
            </p:cNvCxnSpPr>
            <p:nvPr/>
          </p:nvCxnSpPr>
          <p:spPr>
            <a:xfrm>
              <a:off x="2743200" y="3657600"/>
              <a:ext cx="838200" cy="158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Text Box 64"/>
            <p:cNvSpPr txBox="1">
              <a:spLocks noChangeArrowheads="1"/>
            </p:cNvSpPr>
            <p:nvPr/>
          </p:nvSpPr>
          <p:spPr bwMode="auto">
            <a:xfrm>
              <a:off x="2971800" y="3429000"/>
              <a:ext cx="486147" cy="3473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latinLnBrk="1">
                <a:spcBef>
                  <a:spcPct val="50000"/>
                </a:spcBef>
              </a:pPr>
              <a:r>
                <a:rPr kumimoji="1" lang="en-US" altLang="ko-KR" sz="1600">
                  <a:latin typeface="Open Sans"/>
                  <a:ea typeface="굴림" pitchFamily="50" charset="-127"/>
                </a:rPr>
                <a:t>T</a:t>
              </a:r>
            </a:p>
          </p:txBody>
        </p:sp>
        <p:sp>
          <p:nvSpPr>
            <p:cNvPr id="93" name="Oval 92"/>
            <p:cNvSpPr/>
            <p:nvPr/>
          </p:nvSpPr>
          <p:spPr>
            <a:xfrm>
              <a:off x="4800600" y="3886200"/>
              <a:ext cx="1447800" cy="762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I5</a:t>
              </a:r>
            </a:p>
            <a:p>
              <a:pPr algn="ctr" latinLnBrk="1"/>
              <a:r>
                <a:rPr kumimoji="1" lang="en-US" altLang="ko-KR">
                  <a:latin typeface="Open Sans"/>
                  <a:ea typeface="굴림" pitchFamily="50" charset="-127"/>
                </a:rPr>
                <a:t>F</a:t>
              </a:r>
              <a:r>
                <a:rPr kumimoji="1" lang="en-US" altLang="ko-KR">
                  <a:latin typeface="Open Sans"/>
                  <a:ea typeface="굴림" pitchFamily="50" charset="-127"/>
                  <a:sym typeface="Wingdings" pitchFamily="2" charset="2"/>
                </a:rPr>
                <a:t>id·</a:t>
              </a:r>
            </a:p>
          </p:txBody>
        </p:sp>
        <p:cxnSp>
          <p:nvCxnSpPr>
            <p:cNvPr id="94" name="Straight Arrow Connector 93"/>
            <p:cNvCxnSpPr>
              <a:stCxn id="77" idx="5"/>
              <a:endCxn id="93" idx="2"/>
            </p:cNvCxnSpPr>
            <p:nvPr/>
          </p:nvCxnSpPr>
          <p:spPr>
            <a:xfrm rot="16200000" flipH="1">
              <a:off x="3644362" y="3110961"/>
              <a:ext cx="9573" cy="2302903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Text Box 64"/>
            <p:cNvSpPr txBox="1">
              <a:spLocks noChangeArrowheads="1"/>
            </p:cNvSpPr>
            <p:nvPr/>
          </p:nvSpPr>
          <p:spPr bwMode="auto">
            <a:xfrm>
              <a:off x="2561853" y="3962400"/>
              <a:ext cx="486147" cy="3473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latinLnBrk="1">
                <a:spcBef>
                  <a:spcPct val="50000"/>
                </a:spcBef>
              </a:pPr>
              <a:r>
                <a:rPr kumimoji="1" lang="en-US" altLang="ko-KR" sz="1600">
                  <a:latin typeface="Open Sans"/>
                  <a:ea typeface="굴림" pitchFamily="50" charset="-127"/>
                </a:rPr>
                <a:t>id</a:t>
              </a:r>
            </a:p>
          </p:txBody>
        </p:sp>
        <p:sp>
          <p:nvSpPr>
            <p:cNvPr id="99" name="Oval 98"/>
            <p:cNvSpPr/>
            <p:nvPr/>
          </p:nvSpPr>
          <p:spPr>
            <a:xfrm>
              <a:off x="3657600" y="4267200"/>
              <a:ext cx="1524000" cy="2362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I4</a:t>
              </a:r>
            </a:p>
            <a:p>
              <a:pPr algn="ctr" latinLnBrk="1"/>
              <a:r>
                <a:rPr kumimoji="1" lang="en-US" altLang="ko-KR">
                  <a:latin typeface="Open Sans"/>
                  <a:ea typeface="굴림" pitchFamily="50" charset="-127"/>
                </a:rPr>
                <a:t>F</a:t>
              </a:r>
              <a:r>
                <a:rPr kumimoji="1" lang="en-US" altLang="ko-KR">
                  <a:latin typeface="Open Sans"/>
                  <a:ea typeface="굴림" pitchFamily="50" charset="-127"/>
                  <a:sym typeface="Wingdings" pitchFamily="2" charset="2"/>
                </a:rPr>
                <a:t>(·E)</a:t>
              </a:r>
              <a:br>
                <a:rPr kumimoji="1" lang="en-US" altLang="ko-KR">
                  <a:latin typeface="Open Sans"/>
                  <a:ea typeface="굴림" pitchFamily="50" charset="-127"/>
                  <a:sym typeface="Wingdings" pitchFamily="2" charset="2"/>
                </a:rPr>
              </a:br>
              <a:r>
                <a:rPr kumimoji="1" lang="en-US" altLang="ko-KR">
                  <a:solidFill>
                    <a:srgbClr val="FF0000"/>
                  </a:solidFill>
                  <a:latin typeface="Open Sans"/>
                  <a:ea typeface="굴림" pitchFamily="50" charset="-127"/>
                  <a:sym typeface="Wingdings" pitchFamily="2" charset="2"/>
                </a:rPr>
                <a:t>E·E+T</a:t>
              </a:r>
              <a:br>
                <a:rPr kumimoji="1" lang="en-US" altLang="ko-KR">
                  <a:solidFill>
                    <a:srgbClr val="FF0000"/>
                  </a:solidFill>
                  <a:latin typeface="Open Sans"/>
                  <a:ea typeface="굴림" pitchFamily="50" charset="-127"/>
                  <a:sym typeface="Wingdings" pitchFamily="2" charset="2"/>
                </a:rPr>
              </a:br>
              <a:r>
                <a:rPr kumimoji="1" lang="en-US" altLang="ko-KR">
                  <a:solidFill>
                    <a:srgbClr val="FF0000"/>
                  </a:solidFill>
                  <a:latin typeface="Open Sans"/>
                  <a:ea typeface="굴림" pitchFamily="50" charset="-127"/>
                  <a:sym typeface="Wingdings" pitchFamily="2" charset="2"/>
                </a:rPr>
                <a:t>E·T</a:t>
              </a:r>
              <a:br>
                <a:rPr kumimoji="1" lang="en-US" altLang="ko-KR">
                  <a:solidFill>
                    <a:srgbClr val="FF0000"/>
                  </a:solidFill>
                  <a:latin typeface="Open Sans"/>
                  <a:ea typeface="굴림" pitchFamily="50" charset="-127"/>
                  <a:sym typeface="Wingdings" pitchFamily="2" charset="2"/>
                </a:rPr>
              </a:br>
              <a:r>
                <a:rPr kumimoji="1" lang="en-US" altLang="ko-KR">
                  <a:solidFill>
                    <a:srgbClr val="FF0000"/>
                  </a:solidFill>
                  <a:latin typeface="Open Sans"/>
                  <a:ea typeface="굴림" pitchFamily="50" charset="-127"/>
                  <a:sym typeface="Wingdings" pitchFamily="2" charset="2"/>
                </a:rPr>
                <a:t>T·T*F</a:t>
              </a:r>
              <a:br>
                <a:rPr kumimoji="1" lang="en-US" altLang="ko-KR">
                  <a:solidFill>
                    <a:srgbClr val="FF0000"/>
                  </a:solidFill>
                  <a:latin typeface="Open Sans"/>
                  <a:ea typeface="굴림" pitchFamily="50" charset="-127"/>
                  <a:sym typeface="Wingdings" pitchFamily="2" charset="2"/>
                </a:rPr>
              </a:br>
              <a:r>
                <a:rPr kumimoji="1" lang="en-US" altLang="ko-KR">
                  <a:solidFill>
                    <a:srgbClr val="FF0000"/>
                  </a:solidFill>
                  <a:latin typeface="Open Sans"/>
                  <a:ea typeface="굴림" pitchFamily="50" charset="-127"/>
                  <a:sym typeface="Wingdings" pitchFamily="2" charset="2"/>
                </a:rPr>
                <a:t>T.F</a:t>
              </a:r>
              <a:br>
                <a:rPr kumimoji="1" lang="en-US" altLang="ko-KR">
                  <a:solidFill>
                    <a:srgbClr val="FF0000"/>
                  </a:solidFill>
                  <a:latin typeface="Open Sans"/>
                  <a:ea typeface="굴림" pitchFamily="50" charset="-127"/>
                  <a:sym typeface="Wingdings" pitchFamily="2" charset="2"/>
                </a:rPr>
              </a:br>
              <a:r>
                <a:rPr kumimoji="1" lang="en-US" altLang="ko-KR">
                  <a:solidFill>
                    <a:srgbClr val="FF0000"/>
                  </a:solidFill>
                  <a:latin typeface="Open Sans"/>
                  <a:ea typeface="굴림" pitchFamily="50" charset="-127"/>
                  <a:sym typeface="Wingdings" pitchFamily="2" charset="2"/>
                </a:rPr>
                <a:t>F· (E)</a:t>
              </a:r>
              <a:br>
                <a:rPr kumimoji="1" lang="en-US" altLang="ko-KR">
                  <a:solidFill>
                    <a:srgbClr val="FF0000"/>
                  </a:solidFill>
                  <a:latin typeface="Open Sans"/>
                  <a:ea typeface="굴림" pitchFamily="50" charset="-127"/>
                  <a:sym typeface="Wingdings" pitchFamily="2" charset="2"/>
                </a:rPr>
              </a:br>
              <a:r>
                <a:rPr kumimoji="1" lang="en-US" altLang="ko-KR">
                  <a:solidFill>
                    <a:srgbClr val="FF0000"/>
                  </a:solidFill>
                  <a:latin typeface="Open Sans"/>
                  <a:ea typeface="굴림" pitchFamily="50" charset="-127"/>
                  <a:sym typeface="Wingdings" pitchFamily="2" charset="2"/>
                </a:rPr>
                <a:t>F·id</a:t>
              </a:r>
            </a:p>
          </p:txBody>
        </p:sp>
        <p:cxnSp>
          <p:nvCxnSpPr>
            <p:cNvPr id="100" name="Straight Arrow Connector 99"/>
            <p:cNvCxnSpPr>
              <a:stCxn id="77" idx="4"/>
              <a:endCxn id="99" idx="2"/>
            </p:cNvCxnSpPr>
            <p:nvPr/>
          </p:nvCxnSpPr>
          <p:spPr>
            <a:xfrm rot="16200000" flipH="1">
              <a:off x="2381250" y="4171950"/>
              <a:ext cx="800100" cy="1752600"/>
            </a:xfrm>
            <a:prstGeom prst="bentConnector2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Text Box 64"/>
            <p:cNvSpPr txBox="1">
              <a:spLocks noChangeArrowheads="1"/>
            </p:cNvSpPr>
            <p:nvPr/>
          </p:nvSpPr>
          <p:spPr bwMode="auto">
            <a:xfrm>
              <a:off x="2057400" y="5105400"/>
              <a:ext cx="562347" cy="3473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latinLnBrk="1">
                <a:spcBef>
                  <a:spcPct val="50000"/>
                </a:spcBef>
              </a:pPr>
              <a:r>
                <a:rPr kumimoji="1" lang="en-US" altLang="ko-KR" sz="1600">
                  <a:latin typeface="Open Sans"/>
                  <a:ea typeface="굴림" pitchFamily="50" charset="-127"/>
                </a:rPr>
                <a:t>(</a:t>
              </a:r>
            </a:p>
          </p:txBody>
        </p:sp>
        <p:sp>
          <p:nvSpPr>
            <p:cNvPr id="105" name="Oval 104"/>
            <p:cNvSpPr/>
            <p:nvPr/>
          </p:nvSpPr>
          <p:spPr>
            <a:xfrm>
              <a:off x="2362200" y="6019800"/>
              <a:ext cx="1447800" cy="762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I3</a:t>
              </a:r>
            </a:p>
            <a:p>
              <a:pPr algn="ctr" latinLnBrk="1"/>
              <a:r>
                <a:rPr kumimoji="1" lang="en-US" altLang="ko-KR">
                  <a:latin typeface="Open Sans"/>
                  <a:ea typeface="굴림" pitchFamily="50" charset="-127"/>
                </a:rPr>
                <a:t>T</a:t>
              </a:r>
              <a:r>
                <a:rPr kumimoji="1" lang="en-US" altLang="ko-KR">
                  <a:latin typeface="Open Sans"/>
                  <a:ea typeface="굴림" pitchFamily="50" charset="-127"/>
                  <a:sym typeface="Wingdings" pitchFamily="2" charset="2"/>
                </a:rPr>
                <a:t>F·</a:t>
              </a:r>
            </a:p>
          </p:txBody>
        </p:sp>
        <p:cxnSp>
          <p:nvCxnSpPr>
            <p:cNvPr id="106" name="Straight Arrow Connector 105"/>
            <p:cNvCxnSpPr>
              <a:stCxn id="77" idx="3"/>
              <a:endCxn id="105" idx="2"/>
            </p:cNvCxnSpPr>
            <p:nvPr/>
          </p:nvCxnSpPr>
          <p:spPr>
            <a:xfrm rot="16200000" flipH="1">
              <a:off x="765665" y="4804264"/>
              <a:ext cx="2143173" cy="1049897"/>
            </a:xfrm>
            <a:prstGeom prst="bentConnector2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Text Box 64"/>
            <p:cNvSpPr txBox="1">
              <a:spLocks noChangeArrowheads="1"/>
            </p:cNvSpPr>
            <p:nvPr/>
          </p:nvSpPr>
          <p:spPr bwMode="auto">
            <a:xfrm>
              <a:off x="1571253" y="5824836"/>
              <a:ext cx="486147" cy="3473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latinLnBrk="1">
                <a:spcBef>
                  <a:spcPct val="50000"/>
                </a:spcBef>
              </a:pPr>
              <a:r>
                <a:rPr kumimoji="1" lang="en-US" altLang="ko-KR" sz="1600">
                  <a:latin typeface="Open Sans"/>
                  <a:ea typeface="굴림" pitchFamily="50" charset="-127"/>
                </a:rPr>
                <a:t>F</a:t>
              </a:r>
            </a:p>
          </p:txBody>
        </p:sp>
        <p:sp>
          <p:nvSpPr>
            <p:cNvPr id="111" name="Oval 110"/>
            <p:cNvSpPr/>
            <p:nvPr/>
          </p:nvSpPr>
          <p:spPr>
            <a:xfrm>
              <a:off x="5257800" y="1905000"/>
              <a:ext cx="1524000" cy="167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I6</a:t>
              </a:r>
            </a:p>
            <a:p>
              <a:pPr algn="ctr" latinLnBrk="1"/>
              <a:r>
                <a:rPr kumimoji="1" lang="en-US" altLang="ko-KR">
                  <a:latin typeface="Open Sans"/>
                  <a:ea typeface="굴림" pitchFamily="50" charset="-127"/>
                </a:rPr>
                <a:t>E</a:t>
              </a:r>
              <a:r>
                <a:rPr kumimoji="1" lang="en-US" altLang="ko-KR">
                  <a:latin typeface="Open Sans"/>
                  <a:ea typeface="굴림" pitchFamily="50" charset="-127"/>
                  <a:sym typeface="Wingdings" pitchFamily="2" charset="2"/>
                </a:rPr>
                <a:t>E+·T</a:t>
              </a:r>
              <a:br>
                <a:rPr kumimoji="1" lang="en-US" altLang="ko-KR">
                  <a:latin typeface="Open Sans"/>
                  <a:ea typeface="굴림" pitchFamily="50" charset="-127"/>
                  <a:sym typeface="Wingdings" pitchFamily="2" charset="2"/>
                </a:rPr>
              </a:br>
              <a:r>
                <a:rPr kumimoji="1" lang="en-US" altLang="ko-KR">
                  <a:solidFill>
                    <a:srgbClr val="FF0000"/>
                  </a:solidFill>
                  <a:latin typeface="Open Sans"/>
                  <a:ea typeface="굴림" pitchFamily="50" charset="-127"/>
                  <a:sym typeface="Wingdings" pitchFamily="2" charset="2"/>
                </a:rPr>
                <a:t>T·T*F</a:t>
              </a:r>
              <a:br>
                <a:rPr kumimoji="1" lang="en-US" altLang="ko-KR">
                  <a:solidFill>
                    <a:srgbClr val="FF0000"/>
                  </a:solidFill>
                  <a:latin typeface="Open Sans"/>
                  <a:ea typeface="굴림" pitchFamily="50" charset="-127"/>
                  <a:sym typeface="Wingdings" pitchFamily="2" charset="2"/>
                </a:rPr>
              </a:br>
              <a:r>
                <a:rPr kumimoji="1" lang="en-US" altLang="ko-KR">
                  <a:solidFill>
                    <a:srgbClr val="FF0000"/>
                  </a:solidFill>
                  <a:latin typeface="Open Sans"/>
                  <a:ea typeface="굴림" pitchFamily="50" charset="-127"/>
                  <a:sym typeface="Wingdings" pitchFamily="2" charset="2"/>
                </a:rPr>
                <a:t>T·F</a:t>
              </a:r>
              <a:br>
                <a:rPr kumimoji="1" lang="en-US" altLang="ko-KR">
                  <a:solidFill>
                    <a:srgbClr val="FF0000"/>
                  </a:solidFill>
                  <a:latin typeface="Open Sans"/>
                  <a:ea typeface="굴림" pitchFamily="50" charset="-127"/>
                  <a:sym typeface="Wingdings" pitchFamily="2" charset="2"/>
                </a:rPr>
              </a:br>
              <a:r>
                <a:rPr kumimoji="1" lang="en-US" altLang="ko-KR">
                  <a:solidFill>
                    <a:srgbClr val="FF0000"/>
                  </a:solidFill>
                  <a:latin typeface="Open Sans"/>
                  <a:ea typeface="굴림" pitchFamily="50" charset="-127"/>
                  <a:sym typeface="Wingdings" pitchFamily="2" charset="2"/>
                </a:rPr>
                <a:t>F· (E)</a:t>
              </a:r>
              <a:br>
                <a:rPr kumimoji="1" lang="en-US" altLang="ko-KR">
                  <a:solidFill>
                    <a:srgbClr val="FF0000"/>
                  </a:solidFill>
                  <a:latin typeface="Open Sans"/>
                  <a:ea typeface="굴림" pitchFamily="50" charset="-127"/>
                  <a:sym typeface="Wingdings" pitchFamily="2" charset="2"/>
                </a:rPr>
              </a:br>
              <a:r>
                <a:rPr kumimoji="1" lang="en-US" altLang="ko-KR">
                  <a:solidFill>
                    <a:srgbClr val="FF0000"/>
                  </a:solidFill>
                  <a:latin typeface="Open Sans"/>
                  <a:ea typeface="굴림" pitchFamily="50" charset="-127"/>
                  <a:sym typeface="Wingdings" pitchFamily="2" charset="2"/>
                </a:rPr>
                <a:t>F·id</a:t>
              </a:r>
            </a:p>
          </p:txBody>
        </p:sp>
        <p:cxnSp>
          <p:nvCxnSpPr>
            <p:cNvPr id="112" name="Straight Arrow Connector 111"/>
            <p:cNvCxnSpPr>
              <a:stCxn id="78" idx="6"/>
            </p:cNvCxnSpPr>
            <p:nvPr/>
          </p:nvCxnSpPr>
          <p:spPr>
            <a:xfrm>
              <a:off x="4495800" y="2362200"/>
              <a:ext cx="838200" cy="158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6" name="Text Box 64"/>
            <p:cNvSpPr txBox="1">
              <a:spLocks noChangeArrowheads="1"/>
            </p:cNvSpPr>
            <p:nvPr/>
          </p:nvSpPr>
          <p:spPr bwMode="auto">
            <a:xfrm>
              <a:off x="4724400" y="2091036"/>
              <a:ext cx="486147" cy="3473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latinLnBrk="1">
                <a:spcBef>
                  <a:spcPct val="50000"/>
                </a:spcBef>
              </a:pPr>
              <a:r>
                <a:rPr kumimoji="1" lang="en-US" altLang="ko-KR" sz="1600">
                  <a:latin typeface="Open Sans"/>
                  <a:ea typeface="굴림" pitchFamily="50" charset="-127"/>
                </a:rPr>
                <a:t>+</a:t>
              </a:r>
            </a:p>
          </p:txBody>
        </p:sp>
        <p:cxnSp>
          <p:nvCxnSpPr>
            <p:cNvPr id="117" name="Straight Arrow Connector 116"/>
            <p:cNvCxnSpPr>
              <a:endCxn id="120" idx="2"/>
            </p:cNvCxnSpPr>
            <p:nvPr/>
          </p:nvCxnSpPr>
          <p:spPr>
            <a:xfrm rot="10800000" flipV="1">
              <a:off x="3062474" y="5638800"/>
              <a:ext cx="595126" cy="347364"/>
            </a:xfrm>
            <a:prstGeom prst="bentConnector4">
              <a:avLst>
                <a:gd name="adj1" fmla="val 29578"/>
                <a:gd name="adj2" fmla="val 1762"/>
              </a:avLst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0" name="Text Box 64"/>
            <p:cNvSpPr txBox="1">
              <a:spLocks noChangeArrowheads="1"/>
            </p:cNvSpPr>
            <p:nvPr/>
          </p:nvSpPr>
          <p:spPr bwMode="auto">
            <a:xfrm>
              <a:off x="2819400" y="5638800"/>
              <a:ext cx="486147" cy="3473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latinLnBrk="1">
                <a:spcBef>
                  <a:spcPct val="50000"/>
                </a:spcBef>
              </a:pPr>
              <a:r>
                <a:rPr kumimoji="1" lang="en-US" altLang="ko-KR" sz="1600">
                  <a:latin typeface="Open Sans"/>
                  <a:ea typeface="굴림" pitchFamily="50" charset="-127"/>
                </a:rPr>
                <a:t>F</a:t>
              </a:r>
            </a:p>
          </p:txBody>
        </p:sp>
        <p:cxnSp>
          <p:nvCxnSpPr>
            <p:cNvPr id="125" name="Straight Arrow Connector 124"/>
            <p:cNvCxnSpPr>
              <a:endCxn id="93" idx="4"/>
            </p:cNvCxnSpPr>
            <p:nvPr/>
          </p:nvCxnSpPr>
          <p:spPr>
            <a:xfrm flipV="1">
              <a:off x="5105400" y="4648200"/>
              <a:ext cx="419100" cy="304800"/>
            </a:xfrm>
            <a:prstGeom prst="bentConnector2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3" name="Text Box 64"/>
            <p:cNvSpPr txBox="1">
              <a:spLocks noChangeArrowheads="1"/>
            </p:cNvSpPr>
            <p:nvPr/>
          </p:nvSpPr>
          <p:spPr bwMode="auto">
            <a:xfrm>
              <a:off x="5105400" y="4648200"/>
              <a:ext cx="486147" cy="3473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latinLnBrk="1">
                <a:spcBef>
                  <a:spcPct val="50000"/>
                </a:spcBef>
              </a:pPr>
              <a:r>
                <a:rPr kumimoji="1" lang="en-US" altLang="ko-KR" sz="1600">
                  <a:latin typeface="Open Sans"/>
                  <a:ea typeface="굴림" pitchFamily="50" charset="-127"/>
                </a:rPr>
                <a:t>id</a:t>
              </a:r>
            </a:p>
          </p:txBody>
        </p:sp>
        <p:cxnSp>
          <p:nvCxnSpPr>
            <p:cNvPr id="135" name="Straight Arrow Connector 134"/>
            <p:cNvCxnSpPr>
              <a:stCxn id="99" idx="4"/>
              <a:endCxn id="99" idx="5"/>
            </p:cNvCxnSpPr>
            <p:nvPr/>
          </p:nvCxnSpPr>
          <p:spPr>
            <a:xfrm rot="5400000" flipH="1" flipV="1">
              <a:off x="4516039" y="6187024"/>
              <a:ext cx="345936" cy="538815"/>
            </a:xfrm>
            <a:prstGeom prst="curvedConnector3">
              <a:avLst>
                <a:gd name="adj1" fmla="val -66082"/>
              </a:avLst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6" name="Text Box 64"/>
            <p:cNvSpPr txBox="1">
              <a:spLocks noChangeArrowheads="1"/>
            </p:cNvSpPr>
            <p:nvPr/>
          </p:nvSpPr>
          <p:spPr bwMode="auto">
            <a:xfrm>
              <a:off x="4924053" y="6358236"/>
              <a:ext cx="562347" cy="3473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latinLnBrk="1">
                <a:spcBef>
                  <a:spcPct val="50000"/>
                </a:spcBef>
              </a:pPr>
              <a:r>
                <a:rPr kumimoji="1" lang="en-US" altLang="ko-KR" sz="1600">
                  <a:latin typeface="Open Sans"/>
                  <a:ea typeface="굴림" pitchFamily="50" charset="-127"/>
                </a:rPr>
                <a:t>(</a:t>
              </a:r>
            </a:p>
          </p:txBody>
        </p:sp>
        <p:sp>
          <p:nvSpPr>
            <p:cNvPr id="141" name="Text Box 64"/>
            <p:cNvSpPr txBox="1">
              <a:spLocks noChangeArrowheads="1"/>
            </p:cNvSpPr>
            <p:nvPr/>
          </p:nvSpPr>
          <p:spPr bwMode="auto">
            <a:xfrm>
              <a:off x="7591053" y="6282036"/>
              <a:ext cx="486147" cy="3473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latinLnBrk="1">
                <a:spcBef>
                  <a:spcPct val="50000"/>
                </a:spcBef>
              </a:pPr>
              <a:r>
                <a:rPr kumimoji="1" lang="en-US" altLang="ko-KR" sz="1600">
                  <a:latin typeface="Open Sans"/>
                  <a:ea typeface="굴림" pitchFamily="50" charset="-127"/>
                </a:rPr>
                <a:t>)</a:t>
              </a:r>
            </a:p>
          </p:txBody>
        </p:sp>
        <p:cxnSp>
          <p:nvCxnSpPr>
            <p:cNvPr id="150" name="Straight Arrow Connector 149"/>
            <p:cNvCxnSpPr>
              <a:stCxn id="160" idx="6"/>
              <a:endCxn id="162" idx="4"/>
            </p:cNvCxnSpPr>
            <p:nvPr/>
          </p:nvCxnSpPr>
          <p:spPr>
            <a:xfrm flipV="1">
              <a:off x="7315200" y="6096000"/>
              <a:ext cx="990600" cy="190500"/>
            </a:xfrm>
            <a:prstGeom prst="bentConnector2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8" name="Oval 157"/>
            <p:cNvSpPr/>
            <p:nvPr/>
          </p:nvSpPr>
          <p:spPr>
            <a:xfrm>
              <a:off x="7543800" y="1905000"/>
              <a:ext cx="1524000" cy="914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I9</a:t>
              </a:r>
            </a:p>
            <a:p>
              <a:pPr algn="ctr" latinLnBrk="1"/>
              <a:r>
                <a:rPr kumimoji="1" lang="en-US" altLang="ko-KR">
                  <a:latin typeface="Open Sans"/>
                  <a:ea typeface="굴림" pitchFamily="50" charset="-127"/>
                </a:rPr>
                <a:t>E</a:t>
              </a:r>
              <a:r>
                <a:rPr kumimoji="1" lang="en-US" altLang="ko-KR">
                  <a:latin typeface="Open Sans"/>
                  <a:ea typeface="굴림" pitchFamily="50" charset="-127"/>
                  <a:sym typeface="Wingdings" pitchFamily="2" charset="2"/>
                </a:rPr>
                <a:t>E+T·</a:t>
              </a:r>
            </a:p>
            <a:p>
              <a:pPr algn="ctr" latinLnBrk="1"/>
              <a:r>
                <a:rPr kumimoji="1" lang="en-US" altLang="ko-KR">
                  <a:latin typeface="Open Sans"/>
                  <a:ea typeface="굴림" pitchFamily="50" charset="-127"/>
                  <a:sym typeface="Wingdings" pitchFamily="2" charset="2"/>
                </a:rPr>
                <a:t>TT·*F</a:t>
              </a:r>
            </a:p>
          </p:txBody>
        </p:sp>
        <p:sp>
          <p:nvSpPr>
            <p:cNvPr id="159" name="Oval 158"/>
            <p:cNvSpPr/>
            <p:nvPr/>
          </p:nvSpPr>
          <p:spPr>
            <a:xfrm>
              <a:off x="7086600" y="3124200"/>
              <a:ext cx="1524000" cy="1143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I7</a:t>
              </a:r>
            </a:p>
            <a:p>
              <a:pPr algn="ctr" latinLnBrk="1"/>
              <a:r>
                <a:rPr kumimoji="1" lang="en-US" altLang="ko-KR">
                  <a:latin typeface="Open Sans"/>
                  <a:ea typeface="굴림" pitchFamily="50" charset="-127"/>
                </a:rPr>
                <a:t>T</a:t>
              </a:r>
              <a:r>
                <a:rPr kumimoji="1" lang="en-US" altLang="ko-KR">
                  <a:latin typeface="Open Sans"/>
                  <a:ea typeface="굴림" pitchFamily="50" charset="-127"/>
                  <a:sym typeface="Wingdings" pitchFamily="2" charset="2"/>
                </a:rPr>
                <a:t>T*·F</a:t>
              </a:r>
              <a:br>
                <a:rPr kumimoji="1" lang="en-US" altLang="ko-KR">
                  <a:latin typeface="Open Sans"/>
                  <a:ea typeface="굴림" pitchFamily="50" charset="-127"/>
                  <a:sym typeface="Wingdings" pitchFamily="2" charset="2"/>
                </a:rPr>
              </a:br>
              <a:r>
                <a:rPr kumimoji="1" lang="en-US" altLang="ko-KR">
                  <a:solidFill>
                    <a:srgbClr val="FF0000"/>
                  </a:solidFill>
                  <a:latin typeface="Open Sans"/>
                  <a:ea typeface="굴림" pitchFamily="50" charset="-127"/>
                  <a:sym typeface="Wingdings" pitchFamily="2" charset="2"/>
                </a:rPr>
                <a:t>F· (E)</a:t>
              </a:r>
              <a:br>
                <a:rPr kumimoji="1" lang="en-US" altLang="ko-KR">
                  <a:solidFill>
                    <a:srgbClr val="FF0000"/>
                  </a:solidFill>
                  <a:latin typeface="Open Sans"/>
                  <a:ea typeface="굴림" pitchFamily="50" charset="-127"/>
                  <a:sym typeface="Wingdings" pitchFamily="2" charset="2"/>
                </a:rPr>
              </a:br>
              <a:r>
                <a:rPr kumimoji="1" lang="en-US" altLang="ko-KR">
                  <a:solidFill>
                    <a:srgbClr val="FF0000"/>
                  </a:solidFill>
                  <a:latin typeface="Open Sans"/>
                  <a:ea typeface="굴림" pitchFamily="50" charset="-127"/>
                  <a:sym typeface="Wingdings" pitchFamily="2" charset="2"/>
                </a:rPr>
                <a:t>F·id</a:t>
              </a:r>
              <a:endParaRPr kumimoji="1" lang="en-US" altLang="ko-KR" dirty="0">
                <a:solidFill>
                  <a:srgbClr val="FF0000"/>
                </a:solidFill>
                <a:latin typeface="Open Sans"/>
                <a:ea typeface="굴림" pitchFamily="50" charset="-127"/>
                <a:sym typeface="Wingdings" pitchFamily="2" charset="2"/>
              </a:endParaRPr>
            </a:p>
          </p:txBody>
        </p:sp>
        <p:sp>
          <p:nvSpPr>
            <p:cNvPr id="160" name="Oval 159"/>
            <p:cNvSpPr/>
            <p:nvPr/>
          </p:nvSpPr>
          <p:spPr>
            <a:xfrm>
              <a:off x="5791200" y="5867400"/>
              <a:ext cx="1524000" cy="838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I8</a:t>
              </a:r>
            </a:p>
            <a:p>
              <a:pPr algn="ctr" latinLnBrk="1"/>
              <a:r>
                <a:rPr kumimoji="1" lang="en-US" altLang="ko-KR">
                  <a:latin typeface="Open Sans"/>
                  <a:ea typeface="굴림" pitchFamily="50" charset="-127"/>
                </a:rPr>
                <a:t>E</a:t>
              </a:r>
              <a:r>
                <a:rPr kumimoji="1" lang="en-US" altLang="ko-KR">
                  <a:latin typeface="Open Sans"/>
                  <a:ea typeface="굴림" pitchFamily="50" charset="-127"/>
                  <a:sym typeface="Wingdings" pitchFamily="2" charset="2"/>
                </a:rPr>
                <a:t>E·+T</a:t>
              </a:r>
              <a:br>
                <a:rPr kumimoji="1" lang="en-US" altLang="ko-KR">
                  <a:latin typeface="Open Sans"/>
                  <a:ea typeface="굴림" pitchFamily="50" charset="-127"/>
                  <a:sym typeface="Wingdings" pitchFamily="2" charset="2"/>
                </a:rPr>
              </a:br>
              <a:r>
                <a:rPr kumimoji="1" lang="en-US" altLang="ko-KR">
                  <a:latin typeface="Open Sans"/>
                  <a:ea typeface="굴림" pitchFamily="50" charset="-127"/>
                  <a:sym typeface="Wingdings" pitchFamily="2" charset="2"/>
                </a:rPr>
                <a:t>F(E·)</a:t>
              </a:r>
            </a:p>
          </p:txBody>
        </p:sp>
        <p:sp>
          <p:nvSpPr>
            <p:cNvPr id="161" name="Oval 160"/>
            <p:cNvSpPr/>
            <p:nvPr/>
          </p:nvSpPr>
          <p:spPr>
            <a:xfrm>
              <a:off x="7467600" y="4419600"/>
              <a:ext cx="1524000" cy="6096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I10</a:t>
              </a:r>
            </a:p>
            <a:p>
              <a:pPr algn="ctr" latinLnBrk="1"/>
              <a:r>
                <a:rPr kumimoji="1" lang="en-US" altLang="ko-KR">
                  <a:latin typeface="Open Sans"/>
                  <a:ea typeface="굴림" pitchFamily="50" charset="-127"/>
                </a:rPr>
                <a:t>T</a:t>
              </a:r>
              <a:r>
                <a:rPr kumimoji="1" lang="en-US" altLang="ko-KR">
                  <a:latin typeface="Open Sans"/>
                  <a:ea typeface="굴림" pitchFamily="50" charset="-127"/>
                  <a:sym typeface="Wingdings" pitchFamily="2" charset="2"/>
                </a:rPr>
                <a:t>T*F</a:t>
              </a:r>
            </a:p>
          </p:txBody>
        </p:sp>
        <p:sp>
          <p:nvSpPr>
            <p:cNvPr id="162" name="Oval 161"/>
            <p:cNvSpPr/>
            <p:nvPr/>
          </p:nvSpPr>
          <p:spPr>
            <a:xfrm>
              <a:off x="7543800" y="5486400"/>
              <a:ext cx="1524000" cy="6096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I11</a:t>
              </a:r>
            </a:p>
            <a:p>
              <a:pPr algn="ctr" latinLnBrk="1"/>
              <a:r>
                <a:rPr kumimoji="1" lang="en-US" altLang="ko-KR">
                  <a:latin typeface="Open Sans"/>
                  <a:ea typeface="굴림" pitchFamily="50" charset="-127"/>
                </a:rPr>
                <a:t>F</a:t>
              </a:r>
              <a:r>
                <a:rPr kumimoji="1" lang="en-US" altLang="ko-KR">
                  <a:latin typeface="Open Sans"/>
                  <a:ea typeface="굴림" pitchFamily="50" charset="-127"/>
                  <a:sym typeface="Wingdings" pitchFamily="2" charset="2"/>
                </a:rPr>
                <a:t>(E) ·</a:t>
              </a:r>
            </a:p>
          </p:txBody>
        </p:sp>
        <p:cxnSp>
          <p:nvCxnSpPr>
            <p:cNvPr id="163" name="Straight Arrow Connector 162"/>
            <p:cNvCxnSpPr>
              <a:endCxn id="158" idx="2"/>
            </p:cNvCxnSpPr>
            <p:nvPr/>
          </p:nvCxnSpPr>
          <p:spPr>
            <a:xfrm>
              <a:off x="6705600" y="2362200"/>
              <a:ext cx="838200" cy="158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8" name="Text Box 64"/>
            <p:cNvSpPr txBox="1">
              <a:spLocks noChangeArrowheads="1"/>
            </p:cNvSpPr>
            <p:nvPr/>
          </p:nvSpPr>
          <p:spPr bwMode="auto">
            <a:xfrm>
              <a:off x="6981453" y="2057400"/>
              <a:ext cx="486147" cy="3473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latinLnBrk="1">
                <a:spcBef>
                  <a:spcPct val="50000"/>
                </a:spcBef>
              </a:pPr>
              <a:r>
                <a:rPr kumimoji="1" lang="en-US" altLang="ko-KR" sz="1600">
                  <a:latin typeface="Open Sans"/>
                  <a:ea typeface="굴림" pitchFamily="50" charset="-127"/>
                </a:rPr>
                <a:t>T</a:t>
              </a:r>
            </a:p>
          </p:txBody>
        </p:sp>
        <p:cxnSp>
          <p:nvCxnSpPr>
            <p:cNvPr id="169" name="Straight Arrow Connector 168"/>
            <p:cNvCxnSpPr>
              <a:stCxn id="86" idx="6"/>
              <a:endCxn id="159" idx="2"/>
            </p:cNvCxnSpPr>
            <p:nvPr/>
          </p:nvCxnSpPr>
          <p:spPr>
            <a:xfrm>
              <a:off x="5029200" y="3657600"/>
              <a:ext cx="2057400" cy="3810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3" name="Text Box 64"/>
            <p:cNvSpPr txBox="1">
              <a:spLocks noChangeArrowheads="1"/>
            </p:cNvSpPr>
            <p:nvPr/>
          </p:nvSpPr>
          <p:spPr bwMode="auto">
            <a:xfrm>
              <a:off x="5305053" y="3462636"/>
              <a:ext cx="486147" cy="3473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latinLnBrk="1">
                <a:spcBef>
                  <a:spcPct val="50000"/>
                </a:spcBef>
              </a:pPr>
              <a:r>
                <a:rPr kumimoji="1" lang="en-US" altLang="ko-KR" sz="1600">
                  <a:latin typeface="Open Sans"/>
                  <a:ea typeface="굴림" pitchFamily="50" charset="-127"/>
                </a:rPr>
                <a:t>*</a:t>
              </a:r>
            </a:p>
          </p:txBody>
        </p:sp>
        <p:cxnSp>
          <p:nvCxnSpPr>
            <p:cNvPr id="174" name="Straight Arrow Connector 173"/>
            <p:cNvCxnSpPr>
              <a:stCxn id="158" idx="4"/>
              <a:endCxn id="159" idx="7"/>
            </p:cNvCxnSpPr>
            <p:nvPr/>
          </p:nvCxnSpPr>
          <p:spPr>
            <a:xfrm rot="16200000" flipH="1">
              <a:off x="8110513" y="3014686"/>
              <a:ext cx="472188" cy="81615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8" name="Text Box 64"/>
            <p:cNvSpPr txBox="1">
              <a:spLocks noChangeArrowheads="1"/>
            </p:cNvSpPr>
            <p:nvPr/>
          </p:nvSpPr>
          <p:spPr bwMode="auto">
            <a:xfrm>
              <a:off x="8077200" y="2853036"/>
              <a:ext cx="486147" cy="3473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latinLnBrk="1">
                <a:spcBef>
                  <a:spcPct val="50000"/>
                </a:spcBef>
              </a:pPr>
              <a:r>
                <a:rPr kumimoji="1" lang="en-US" altLang="ko-KR" sz="1600">
                  <a:latin typeface="Open Sans"/>
                  <a:ea typeface="굴림" pitchFamily="50" charset="-127"/>
                </a:rPr>
                <a:t>*</a:t>
              </a:r>
            </a:p>
          </p:txBody>
        </p:sp>
        <p:cxnSp>
          <p:nvCxnSpPr>
            <p:cNvPr id="179" name="Straight Arrow Connector 178"/>
            <p:cNvCxnSpPr>
              <a:stCxn id="159" idx="6"/>
              <a:endCxn id="161" idx="7"/>
            </p:cNvCxnSpPr>
            <p:nvPr/>
          </p:nvCxnSpPr>
          <p:spPr>
            <a:xfrm>
              <a:off x="8610600" y="3695700"/>
              <a:ext cx="157815" cy="813174"/>
            </a:xfrm>
            <a:prstGeom prst="bentConnector2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5" name="Text Box 64"/>
            <p:cNvSpPr txBox="1">
              <a:spLocks noChangeArrowheads="1"/>
            </p:cNvSpPr>
            <p:nvPr/>
          </p:nvSpPr>
          <p:spPr bwMode="auto">
            <a:xfrm>
              <a:off x="8505453" y="3962400"/>
              <a:ext cx="486147" cy="3473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latinLnBrk="1">
                <a:spcBef>
                  <a:spcPct val="50000"/>
                </a:spcBef>
              </a:pPr>
              <a:r>
                <a:rPr kumimoji="1" lang="en-US" altLang="ko-KR" sz="1600">
                  <a:latin typeface="Open Sans"/>
                  <a:ea typeface="굴림" pitchFamily="50" charset="-127"/>
                </a:rPr>
                <a:t>F</a:t>
              </a:r>
            </a:p>
          </p:txBody>
        </p:sp>
        <p:cxnSp>
          <p:nvCxnSpPr>
            <p:cNvPr id="186" name="Straight Arrow Connector 185"/>
            <p:cNvCxnSpPr>
              <a:endCxn id="160" idx="2"/>
            </p:cNvCxnSpPr>
            <p:nvPr/>
          </p:nvCxnSpPr>
          <p:spPr>
            <a:xfrm>
              <a:off x="5105400" y="5638800"/>
              <a:ext cx="685800" cy="647700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1" name="Text Box 64"/>
            <p:cNvSpPr txBox="1">
              <a:spLocks noChangeArrowheads="1"/>
            </p:cNvSpPr>
            <p:nvPr/>
          </p:nvSpPr>
          <p:spPr bwMode="auto">
            <a:xfrm>
              <a:off x="5533653" y="5748636"/>
              <a:ext cx="486147" cy="3473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latinLnBrk="1">
                <a:spcBef>
                  <a:spcPct val="50000"/>
                </a:spcBef>
              </a:pPr>
              <a:r>
                <a:rPr kumimoji="1" lang="en-US" altLang="ko-KR" sz="1600">
                  <a:latin typeface="Open Sans"/>
                  <a:ea typeface="굴림" pitchFamily="50" charset="-127"/>
                </a:rPr>
                <a:t>E</a:t>
              </a:r>
            </a:p>
          </p:txBody>
        </p:sp>
        <p:cxnSp>
          <p:nvCxnSpPr>
            <p:cNvPr id="217" name="Straight Arrow Connector 216"/>
            <p:cNvCxnSpPr>
              <a:stCxn id="99" idx="1"/>
              <a:endCxn id="86" idx="2"/>
            </p:cNvCxnSpPr>
            <p:nvPr/>
          </p:nvCxnSpPr>
          <p:spPr>
            <a:xfrm rot="16200000" flipV="1">
              <a:off x="3253325" y="3985675"/>
              <a:ext cx="955536" cy="299385"/>
            </a:xfrm>
            <a:prstGeom prst="bentConnector4">
              <a:avLst>
                <a:gd name="adj1" fmla="val 3987"/>
                <a:gd name="adj2" fmla="val 176357"/>
              </a:avLst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3" name="Text Box 64"/>
            <p:cNvSpPr txBox="1">
              <a:spLocks noChangeArrowheads="1"/>
            </p:cNvSpPr>
            <p:nvPr/>
          </p:nvSpPr>
          <p:spPr bwMode="auto">
            <a:xfrm>
              <a:off x="3476253" y="4605636"/>
              <a:ext cx="486147" cy="3473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latinLnBrk="1">
                <a:spcBef>
                  <a:spcPct val="50000"/>
                </a:spcBef>
              </a:pPr>
              <a:r>
                <a:rPr kumimoji="1" lang="en-US" altLang="ko-KR" sz="1600">
                  <a:latin typeface="Open Sans"/>
                  <a:ea typeface="굴림" pitchFamily="50" charset="-127"/>
                </a:rPr>
                <a:t>T</a:t>
              </a:r>
            </a:p>
          </p:txBody>
        </p:sp>
        <p:cxnSp>
          <p:nvCxnSpPr>
            <p:cNvPr id="225" name="Straight Arrow Connector 224"/>
            <p:cNvCxnSpPr>
              <a:stCxn id="228" idx="3"/>
              <a:endCxn id="93" idx="7"/>
            </p:cNvCxnSpPr>
            <p:nvPr/>
          </p:nvCxnSpPr>
          <p:spPr>
            <a:xfrm flipH="1" flipV="1">
              <a:off x="6036374" y="3997792"/>
              <a:ext cx="1155373" cy="19526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8" name="Text Box 64"/>
            <p:cNvSpPr txBox="1">
              <a:spLocks noChangeArrowheads="1"/>
            </p:cNvSpPr>
            <p:nvPr/>
          </p:nvSpPr>
          <p:spPr bwMode="auto">
            <a:xfrm>
              <a:off x="6705600" y="3843636"/>
              <a:ext cx="486147" cy="3473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latinLnBrk="1">
                <a:spcBef>
                  <a:spcPct val="50000"/>
                </a:spcBef>
              </a:pPr>
              <a:r>
                <a:rPr kumimoji="1" lang="en-US" altLang="ko-KR" sz="1600">
                  <a:latin typeface="Open Sans"/>
                  <a:ea typeface="굴림" pitchFamily="50" charset="-127"/>
                </a:rPr>
                <a:t>id</a:t>
              </a:r>
            </a:p>
          </p:txBody>
        </p:sp>
        <p:cxnSp>
          <p:nvCxnSpPr>
            <p:cNvPr id="229" name="Straight Arrow Connector 228"/>
            <p:cNvCxnSpPr>
              <a:stCxn id="111" idx="2"/>
            </p:cNvCxnSpPr>
            <p:nvPr/>
          </p:nvCxnSpPr>
          <p:spPr>
            <a:xfrm rot="10800000" flipV="1">
              <a:off x="5257800" y="2743200"/>
              <a:ext cx="1588" cy="114300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5" name="Text Box 64"/>
            <p:cNvSpPr txBox="1">
              <a:spLocks noChangeArrowheads="1"/>
            </p:cNvSpPr>
            <p:nvPr/>
          </p:nvSpPr>
          <p:spPr bwMode="auto">
            <a:xfrm>
              <a:off x="5000253" y="2971800"/>
              <a:ext cx="486147" cy="3473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latinLnBrk="1">
                <a:spcBef>
                  <a:spcPct val="50000"/>
                </a:spcBef>
              </a:pPr>
              <a:r>
                <a:rPr kumimoji="1" lang="en-US" altLang="ko-KR" sz="1600">
                  <a:latin typeface="Open Sans"/>
                  <a:ea typeface="굴림" pitchFamily="50" charset="-127"/>
                </a:rPr>
                <a:t>id</a:t>
              </a:r>
            </a:p>
          </p:txBody>
        </p:sp>
        <p:cxnSp>
          <p:nvCxnSpPr>
            <p:cNvPr id="243" name="Straight Arrow Connector 242"/>
            <p:cNvCxnSpPr/>
            <p:nvPr/>
          </p:nvCxnSpPr>
          <p:spPr>
            <a:xfrm rot="5400000">
              <a:off x="4876801" y="3810001"/>
              <a:ext cx="1752600" cy="1142998"/>
            </a:xfrm>
            <a:prstGeom prst="bentConnector3">
              <a:avLst>
                <a:gd name="adj1" fmla="val 99906"/>
              </a:avLst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6" name="Text Box 64"/>
            <p:cNvSpPr txBox="1">
              <a:spLocks noChangeArrowheads="1"/>
            </p:cNvSpPr>
            <p:nvPr/>
          </p:nvSpPr>
          <p:spPr bwMode="auto">
            <a:xfrm>
              <a:off x="5533653" y="4910436"/>
              <a:ext cx="562347" cy="3473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latinLnBrk="1">
                <a:spcBef>
                  <a:spcPct val="50000"/>
                </a:spcBef>
              </a:pPr>
              <a:r>
                <a:rPr kumimoji="1" lang="en-US" altLang="ko-KR" sz="1600">
                  <a:latin typeface="Open Sans"/>
                  <a:ea typeface="굴림" pitchFamily="50" charset="-127"/>
                </a:rPr>
                <a:t>(</a:t>
              </a:r>
            </a:p>
          </p:txBody>
        </p:sp>
        <p:cxnSp>
          <p:nvCxnSpPr>
            <p:cNvPr id="260" name="Straight Arrow Connector 149"/>
            <p:cNvCxnSpPr>
              <a:stCxn id="160" idx="0"/>
              <a:endCxn id="111" idx="5"/>
            </p:cNvCxnSpPr>
            <p:nvPr/>
          </p:nvCxnSpPr>
          <p:spPr>
            <a:xfrm rot="5400000" flipH="1" flipV="1">
              <a:off x="5290156" y="4598942"/>
              <a:ext cx="2531503" cy="5415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3" name="Text Box 64"/>
            <p:cNvSpPr txBox="1">
              <a:spLocks noChangeArrowheads="1"/>
            </p:cNvSpPr>
            <p:nvPr/>
          </p:nvSpPr>
          <p:spPr bwMode="auto">
            <a:xfrm>
              <a:off x="6524253" y="5520036"/>
              <a:ext cx="486147" cy="3473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latinLnBrk="1">
                <a:spcBef>
                  <a:spcPct val="50000"/>
                </a:spcBef>
              </a:pPr>
              <a:r>
                <a:rPr kumimoji="1" lang="en-US" altLang="ko-KR" sz="1600">
                  <a:latin typeface="Open Sans"/>
                  <a:ea typeface="굴림" pitchFamily="50" charset="-127"/>
                </a:rPr>
                <a:t>+</a:t>
              </a:r>
            </a:p>
          </p:txBody>
        </p:sp>
        <p:sp>
          <p:nvSpPr>
            <p:cNvPr id="264" name="Text Box 64"/>
            <p:cNvSpPr txBox="1">
              <a:spLocks noChangeArrowheads="1"/>
            </p:cNvSpPr>
            <p:nvPr/>
          </p:nvSpPr>
          <p:spPr bwMode="auto">
            <a:xfrm>
              <a:off x="7438653" y="2743200"/>
              <a:ext cx="486147" cy="3473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latinLnBrk="1">
                <a:spcBef>
                  <a:spcPct val="50000"/>
                </a:spcBef>
              </a:pPr>
              <a:r>
                <a:rPr kumimoji="1" lang="en-US" altLang="ko-KR" sz="1600">
                  <a:latin typeface="Open Sans"/>
                  <a:ea typeface="굴림" pitchFamily="50" charset="-127"/>
                </a:rPr>
                <a:t>I3</a:t>
              </a:r>
            </a:p>
          </p:txBody>
        </p:sp>
        <p:cxnSp>
          <p:nvCxnSpPr>
            <p:cNvPr id="265" name="Straight Arrow Connector 264"/>
            <p:cNvCxnSpPr>
              <a:endCxn id="264" idx="1"/>
            </p:cNvCxnSpPr>
            <p:nvPr/>
          </p:nvCxnSpPr>
          <p:spPr>
            <a:xfrm>
              <a:off x="6781800" y="2895600"/>
              <a:ext cx="656853" cy="21282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1" name="Text Box 64"/>
            <p:cNvSpPr txBox="1">
              <a:spLocks noChangeArrowheads="1"/>
            </p:cNvSpPr>
            <p:nvPr/>
          </p:nvSpPr>
          <p:spPr bwMode="auto">
            <a:xfrm>
              <a:off x="6934200" y="2590800"/>
              <a:ext cx="486147" cy="3473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latinLnBrk="1">
                <a:spcBef>
                  <a:spcPct val="50000"/>
                </a:spcBef>
              </a:pPr>
              <a:r>
                <a:rPr kumimoji="1" lang="en-US" altLang="ko-KR" sz="1600">
                  <a:latin typeface="Open Sans"/>
                  <a:ea typeface="굴림" pitchFamily="50" charset="-127"/>
                </a:rPr>
                <a:t>F</a:t>
              </a:r>
            </a:p>
          </p:txBody>
        </p:sp>
        <p:sp>
          <p:nvSpPr>
            <p:cNvPr id="272" name="Text Box 64"/>
            <p:cNvSpPr txBox="1">
              <a:spLocks noChangeArrowheads="1"/>
            </p:cNvSpPr>
            <p:nvPr/>
          </p:nvSpPr>
          <p:spPr bwMode="auto">
            <a:xfrm>
              <a:off x="2590800" y="3090446"/>
              <a:ext cx="1171947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 latinLnBrk="1">
                <a:spcBef>
                  <a:spcPct val="50000"/>
                </a:spcBef>
              </a:pPr>
              <a:r>
                <a:rPr kumimoji="1" lang="en-US" altLang="ko-KR" sz="1600">
                  <a:latin typeface="Open Sans"/>
                  <a:ea typeface="굴림" pitchFamily="50" charset="-127"/>
                </a:rPr>
                <a:t>ACCEPT</a:t>
              </a:r>
            </a:p>
          </p:txBody>
        </p:sp>
        <p:cxnSp>
          <p:nvCxnSpPr>
            <p:cNvPr id="273" name="Straight Arrow Connector 272"/>
            <p:cNvCxnSpPr>
              <a:stCxn id="78" idx="3"/>
              <a:endCxn id="272" idx="0"/>
            </p:cNvCxnSpPr>
            <p:nvPr/>
          </p:nvCxnSpPr>
          <p:spPr>
            <a:xfrm rot="5400000">
              <a:off x="3010343" y="2905803"/>
              <a:ext cx="351075" cy="18211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6" name="Text Box 64"/>
            <p:cNvSpPr txBox="1">
              <a:spLocks noChangeArrowheads="1"/>
            </p:cNvSpPr>
            <p:nvPr/>
          </p:nvSpPr>
          <p:spPr bwMode="auto">
            <a:xfrm>
              <a:off x="2942853" y="2700636"/>
              <a:ext cx="486147" cy="3473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latinLnBrk="1">
                <a:spcBef>
                  <a:spcPct val="50000"/>
                </a:spcBef>
              </a:pPr>
              <a:r>
                <a:rPr kumimoji="1" lang="en-US" altLang="ko-KR" sz="1600">
                  <a:latin typeface="Open Sans"/>
                  <a:ea typeface="굴림" pitchFamily="50" charset="-127"/>
                </a:rPr>
                <a:t>$</a:t>
              </a:r>
            </a:p>
          </p:txBody>
        </p:sp>
        <p:cxnSp>
          <p:nvCxnSpPr>
            <p:cNvPr id="277" name="Straight Arrow Connector 242"/>
            <p:cNvCxnSpPr>
              <a:stCxn id="159" idx="3"/>
              <a:endCxn id="99" idx="6"/>
            </p:cNvCxnSpPr>
            <p:nvPr/>
          </p:nvCxnSpPr>
          <p:spPr>
            <a:xfrm rot="5400000">
              <a:off x="5571449" y="3709964"/>
              <a:ext cx="1348488" cy="2128185"/>
            </a:xfrm>
            <a:prstGeom prst="bentConnector2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0" name="Text Box 64"/>
            <p:cNvSpPr txBox="1">
              <a:spLocks noChangeArrowheads="1"/>
            </p:cNvSpPr>
            <p:nvPr/>
          </p:nvSpPr>
          <p:spPr bwMode="auto">
            <a:xfrm>
              <a:off x="7057653" y="5105400"/>
              <a:ext cx="562347" cy="3473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latinLnBrk="1">
                <a:spcBef>
                  <a:spcPct val="50000"/>
                </a:spcBef>
              </a:pPr>
              <a:r>
                <a:rPr kumimoji="1" lang="en-US" altLang="ko-KR" sz="1600">
                  <a:latin typeface="Open Sans"/>
                  <a:ea typeface="굴림" pitchFamily="50" charset="-127"/>
                </a:rPr>
                <a:t>(</a:t>
              </a:r>
            </a:p>
          </p:txBody>
        </p:sp>
      </p:grpSp>
      <p:sp>
        <p:nvSpPr>
          <p:cNvPr id="71" name="Rectangle 2">
            <a:extLst>
              <a:ext uri="{FF2B5EF4-FFF2-40B4-BE49-F238E27FC236}">
                <a16:creationId xmlns:a16="http://schemas.microsoft.com/office/drawing/2014/main" id="{703A4E35-33FC-524C-B0E8-9274542E08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762585" y="245418"/>
            <a:ext cx="5994400" cy="457200"/>
          </a:xfrm>
        </p:spPr>
        <p:txBody>
          <a:bodyPr>
            <a:normAutofit fontScale="90000"/>
          </a:bodyPr>
          <a:lstStyle/>
          <a:p>
            <a:pPr algn="r"/>
            <a:r>
              <a:rPr lang="en-US" altLang="ko-KR" sz="2800" dirty="0">
                <a:ea typeface="굴림" pitchFamily="50" charset="-127"/>
              </a:rPr>
              <a:t>Constructing SLR (Simple LR) parser (DFA Construction)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95400" y="1600200"/>
            <a:ext cx="7620000" cy="4953000"/>
          </a:xfrm>
        </p:spPr>
        <p:txBody>
          <a:bodyPr>
            <a:noAutofit/>
          </a:bodyPr>
          <a:lstStyle/>
          <a:p>
            <a:pPr algn="just">
              <a:lnSpc>
                <a:spcPct val="90000"/>
              </a:lnSpc>
              <a:buNone/>
            </a:pPr>
            <a:r>
              <a:rPr lang="en-US" altLang="ko-KR" sz="1800" dirty="0">
                <a:ea typeface="굴림" pitchFamily="50" charset="-127"/>
              </a:rPr>
              <a:t>SLR Parsing table :</a:t>
            </a:r>
          </a:p>
          <a:p>
            <a:pPr marL="341313" indent="-396875" algn="just">
              <a:lnSpc>
                <a:spcPct val="90000"/>
              </a:lnSpc>
              <a:buFont typeface="+mj-lt"/>
              <a:buAutoNum type="arabicPeriod"/>
            </a:pPr>
            <a:r>
              <a:rPr lang="en-US" altLang="ko-KR" sz="1800" dirty="0">
                <a:ea typeface="굴림" pitchFamily="50" charset="-127"/>
              </a:rPr>
              <a:t>Build a DFA from the given grammar </a:t>
            </a:r>
          </a:p>
          <a:p>
            <a:pPr marL="341313" indent="-396875" algn="just">
              <a:lnSpc>
                <a:spcPct val="90000"/>
              </a:lnSpc>
              <a:buFont typeface="+mj-lt"/>
              <a:buAutoNum type="arabicPeriod"/>
            </a:pPr>
            <a:r>
              <a:rPr lang="en-US" altLang="ko-KR" sz="1800" dirty="0">
                <a:ea typeface="굴림" pitchFamily="50" charset="-127"/>
              </a:rPr>
              <a:t>Find follow(A) for all (∀) Nonterminal </a:t>
            </a:r>
          </a:p>
          <a:p>
            <a:pPr marL="341313" indent="-396875" algn="just">
              <a:lnSpc>
                <a:spcPct val="90000"/>
              </a:lnSpc>
              <a:buFont typeface="+mj-lt"/>
              <a:buAutoNum type="arabicPeriod"/>
            </a:pPr>
            <a:r>
              <a:rPr lang="en-US" altLang="ko-KR" sz="1800" dirty="0">
                <a:ea typeface="굴림" pitchFamily="50" charset="-127"/>
              </a:rPr>
              <a:t>Determine parsing actions for each I </a:t>
            </a:r>
          </a:p>
          <a:p>
            <a:pPr marL="801688" lvl="2" indent="-457200" algn="just">
              <a:lnSpc>
                <a:spcPct val="90000"/>
              </a:lnSpc>
              <a:buFont typeface="+mj-lt"/>
              <a:buAutoNum type="alphaLcPeriod"/>
            </a:pPr>
            <a:r>
              <a:rPr lang="en-US" altLang="ko-KR" sz="1800" dirty="0">
                <a:ea typeface="굴림" pitchFamily="50" charset="-127"/>
              </a:rPr>
              <a:t>if [A → α․aβ]∈Ii and GOTO(Ii, a) = </a:t>
            </a:r>
            <a:r>
              <a:rPr lang="en-US" altLang="ko-KR" sz="1800" dirty="0" err="1">
                <a:ea typeface="굴림" pitchFamily="50" charset="-127"/>
              </a:rPr>
              <a:t>Ij</a:t>
            </a:r>
            <a:r>
              <a:rPr lang="en-US" altLang="ko-KR" sz="1800" dirty="0">
                <a:ea typeface="굴림" pitchFamily="50" charset="-127"/>
              </a:rPr>
              <a:t> then set action[</a:t>
            </a:r>
            <a:r>
              <a:rPr lang="en-US" altLang="ko-KR" sz="1800" dirty="0" err="1">
                <a:ea typeface="굴림" pitchFamily="50" charset="-127"/>
              </a:rPr>
              <a:t>i,a</a:t>
            </a:r>
            <a:r>
              <a:rPr lang="en-US" altLang="ko-KR" sz="1800" dirty="0">
                <a:ea typeface="굴림" pitchFamily="50" charset="-127"/>
              </a:rPr>
              <a:t>] = “shift  j” (</a:t>
            </a:r>
            <a:r>
              <a:rPr lang="en-US" altLang="ko-KR" sz="1800" dirty="0" err="1">
                <a:ea typeface="굴림" pitchFamily="50" charset="-127"/>
              </a:rPr>
              <a:t>Sj</a:t>
            </a:r>
            <a:r>
              <a:rPr lang="en-US" altLang="ko-KR" sz="1800" dirty="0">
                <a:ea typeface="굴림" pitchFamily="50" charset="-127"/>
              </a:rPr>
              <a:t>). Here </a:t>
            </a:r>
            <a:r>
              <a:rPr lang="en-US" altLang="ko-KR" sz="1800" b="1" dirty="0">
                <a:ea typeface="굴림" pitchFamily="50" charset="-127"/>
              </a:rPr>
              <a:t>a</a:t>
            </a:r>
            <a:r>
              <a:rPr lang="en-US" altLang="ko-KR" sz="1800" dirty="0">
                <a:ea typeface="굴림" pitchFamily="50" charset="-127"/>
              </a:rPr>
              <a:t> must be a terminal. </a:t>
            </a:r>
          </a:p>
          <a:p>
            <a:pPr marL="801688" lvl="2" indent="-457200" algn="just">
              <a:lnSpc>
                <a:spcPct val="90000"/>
              </a:lnSpc>
              <a:buFont typeface="+mj-lt"/>
              <a:buAutoNum type="alphaLcPeriod"/>
            </a:pPr>
            <a:r>
              <a:rPr lang="en-US" altLang="ko-KR" sz="1800" dirty="0">
                <a:ea typeface="굴림" pitchFamily="50" charset="-127"/>
              </a:rPr>
              <a:t>if [A → α·] ∈Ii then set action[</a:t>
            </a:r>
            <a:r>
              <a:rPr lang="en-US" altLang="ko-KR" sz="1800" dirty="0" err="1">
                <a:ea typeface="굴림" pitchFamily="50" charset="-127"/>
              </a:rPr>
              <a:t>i</a:t>
            </a:r>
            <a:r>
              <a:rPr lang="en-US" altLang="ko-KR" sz="1800" dirty="0">
                <a:ea typeface="굴림" pitchFamily="50" charset="-127"/>
              </a:rPr>
              <a:t>, a] = “reduce A → α” For all a in FOLLOW(A). except A = S' </a:t>
            </a:r>
          </a:p>
          <a:p>
            <a:pPr marL="801688" lvl="2" indent="-457200" algn="just">
              <a:lnSpc>
                <a:spcPct val="90000"/>
              </a:lnSpc>
              <a:buFont typeface="+mj-lt"/>
              <a:buAutoNum type="alphaLcPeriod"/>
            </a:pPr>
            <a:r>
              <a:rPr lang="en-US" altLang="ko-KR" sz="1800" dirty="0">
                <a:ea typeface="굴림" pitchFamily="50" charset="-127"/>
              </a:rPr>
              <a:t>if [S' → S·] ∈</a:t>
            </a:r>
            <a:r>
              <a:rPr lang="en-US" altLang="ko-KR" sz="1800" dirty="0" err="1">
                <a:ea typeface="굴림" pitchFamily="50" charset="-127"/>
              </a:rPr>
              <a:t>Ii</a:t>
            </a:r>
            <a:r>
              <a:rPr lang="en-US" altLang="ko-KR" sz="1800" dirty="0">
                <a:ea typeface="굴림" pitchFamily="50" charset="-127"/>
              </a:rPr>
              <a:t> then set action[</a:t>
            </a:r>
            <a:r>
              <a:rPr lang="en-US" altLang="ko-KR" sz="1800" dirty="0" err="1">
                <a:ea typeface="굴림" pitchFamily="50" charset="-127"/>
              </a:rPr>
              <a:t>i</a:t>
            </a:r>
            <a:r>
              <a:rPr lang="en-US" altLang="ko-KR" sz="1800" dirty="0">
                <a:ea typeface="굴림" pitchFamily="50" charset="-127"/>
              </a:rPr>
              <a:t>, $] = accept </a:t>
            </a:r>
          </a:p>
          <a:p>
            <a:pPr marL="801688" lvl="2" indent="-457200" algn="just">
              <a:lnSpc>
                <a:spcPct val="90000"/>
              </a:lnSpc>
              <a:buNone/>
            </a:pPr>
            <a:endParaRPr lang="en-US" altLang="ko-KR" sz="1800" dirty="0">
              <a:ea typeface="굴림" pitchFamily="50" charset="-127"/>
            </a:endParaRPr>
          </a:p>
          <a:p>
            <a:pPr marL="341313" indent="-396875" algn="just">
              <a:lnSpc>
                <a:spcPct val="90000"/>
              </a:lnSpc>
              <a:buFont typeface="+mj-lt"/>
              <a:buAutoNum type="arabicPeriod"/>
            </a:pPr>
            <a:r>
              <a:rPr lang="en-US" altLang="ko-KR" sz="1800" dirty="0">
                <a:ea typeface="굴림" pitchFamily="50" charset="-127"/>
              </a:rPr>
              <a:t>For all nonterminal  A, if GOTO(Ii, A) = </a:t>
            </a:r>
            <a:r>
              <a:rPr lang="en-US" altLang="ko-KR" sz="1800" dirty="0" err="1">
                <a:ea typeface="굴림" pitchFamily="50" charset="-127"/>
              </a:rPr>
              <a:t>Ij</a:t>
            </a:r>
            <a:r>
              <a:rPr lang="en-US" altLang="ko-KR" sz="1800" dirty="0">
                <a:ea typeface="굴림" pitchFamily="50" charset="-127"/>
              </a:rPr>
              <a:t> then set GOTO[</a:t>
            </a:r>
            <a:r>
              <a:rPr lang="en-US" altLang="ko-KR" sz="1800" dirty="0" err="1">
                <a:ea typeface="굴림" pitchFamily="50" charset="-127"/>
              </a:rPr>
              <a:t>i</a:t>
            </a:r>
            <a:r>
              <a:rPr lang="en-US" altLang="ko-KR" sz="1800" dirty="0">
                <a:ea typeface="굴림" pitchFamily="50" charset="-127"/>
              </a:rPr>
              <a:t>, A] = j </a:t>
            </a:r>
          </a:p>
          <a:p>
            <a:pPr marL="341313" indent="-396875" algn="just">
              <a:lnSpc>
                <a:spcPct val="90000"/>
              </a:lnSpc>
              <a:buFont typeface="+mj-lt"/>
              <a:buAutoNum type="arabicPeriod"/>
            </a:pPr>
            <a:r>
              <a:rPr lang="en-US" altLang="ko-KR" sz="1800" dirty="0">
                <a:ea typeface="굴림" pitchFamily="50" charset="-127"/>
              </a:rPr>
              <a:t>For all other entries are made "error“</a:t>
            </a:r>
          </a:p>
          <a:p>
            <a:pPr marL="341313" indent="-396875" algn="just">
              <a:lnSpc>
                <a:spcPct val="90000"/>
              </a:lnSpc>
              <a:buFont typeface="+mj-lt"/>
              <a:buAutoNum type="arabicPeriod"/>
            </a:pPr>
            <a:r>
              <a:rPr lang="en-US" altLang="ko-KR" sz="1800" dirty="0">
                <a:ea typeface="굴림" pitchFamily="50" charset="-127"/>
              </a:rPr>
              <a:t>The Initial state of the parser is the one constructed from the set of items containing [S' → S·] 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Bina</a:t>
            </a:r>
            <a:r>
              <a:rPr lang="en-US" dirty="0"/>
              <a:t> Nusantara University</a:t>
            </a:r>
          </a:p>
        </p:txBody>
      </p:sp>
      <p:sp>
        <p:nvSpPr>
          <p:cNvPr id="1741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91D2F8E-5C70-440F-8DC0-E7DC884A222D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B40E4526-7111-F64D-BED7-FEA106008A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92400" y="381000"/>
            <a:ext cx="5994400" cy="457200"/>
          </a:xfrm>
        </p:spPr>
        <p:txBody>
          <a:bodyPr>
            <a:normAutofit fontScale="90000"/>
          </a:bodyPr>
          <a:lstStyle/>
          <a:p>
            <a:pPr algn="r"/>
            <a:r>
              <a:rPr lang="en-US" altLang="ko-KR" sz="2800" dirty="0">
                <a:ea typeface="굴림" pitchFamily="50" charset="-127"/>
              </a:rPr>
              <a:t>Constructing SLR (Simple LR) parser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1600200"/>
            <a:ext cx="3352800" cy="4776788"/>
          </a:xfrm>
        </p:spPr>
        <p:txBody>
          <a:bodyPr>
            <a:noAutofit/>
          </a:bodyPr>
          <a:lstStyle/>
          <a:p>
            <a:pPr algn="just"/>
            <a:r>
              <a:rPr lang="en-US" altLang="ko-KR">
                <a:ea typeface="굴림" pitchFamily="50" charset="-127"/>
              </a:rPr>
              <a:t>e.g </a:t>
            </a:r>
          </a:p>
          <a:p>
            <a:pPr marL="688975" indent="-344488" algn="just">
              <a:buFont typeface="+mj-lt"/>
              <a:buAutoNum type="arabicParenR"/>
            </a:pPr>
            <a:r>
              <a:rPr lang="en-US" altLang="ko-KR">
                <a:ea typeface="굴림" pitchFamily="50" charset="-127"/>
              </a:rPr>
              <a:t>E </a:t>
            </a:r>
            <a:r>
              <a:rPr lang="en-US" altLang="ko-KR" dirty="0">
                <a:ea typeface="굴림" pitchFamily="50" charset="-127"/>
              </a:rPr>
              <a:t>→ E </a:t>
            </a:r>
            <a:r>
              <a:rPr lang="en-US" altLang="ko-KR">
                <a:ea typeface="굴림" pitchFamily="50" charset="-127"/>
              </a:rPr>
              <a:t>+ T</a:t>
            </a:r>
          </a:p>
          <a:p>
            <a:pPr marL="688975" indent="-344488" algn="just">
              <a:buFont typeface="+mj-lt"/>
              <a:buAutoNum type="arabicParenR"/>
            </a:pPr>
            <a:r>
              <a:rPr lang="en-US" altLang="ko-KR">
                <a:ea typeface="굴림" pitchFamily="50" charset="-127"/>
              </a:rPr>
              <a:t>E → T</a:t>
            </a:r>
          </a:p>
          <a:p>
            <a:pPr marL="688975" indent="-344488" algn="just">
              <a:buFont typeface="+mj-lt"/>
              <a:buAutoNum type="arabicParenR"/>
            </a:pPr>
            <a:r>
              <a:rPr lang="en-US" altLang="ko-KR">
                <a:ea typeface="굴림" pitchFamily="50" charset="-127"/>
              </a:rPr>
              <a:t>T </a:t>
            </a:r>
            <a:r>
              <a:rPr lang="en-US" altLang="ko-KR" dirty="0">
                <a:ea typeface="굴림" pitchFamily="50" charset="-127"/>
              </a:rPr>
              <a:t>→ T </a:t>
            </a:r>
            <a:r>
              <a:rPr lang="en-US" altLang="ko-KR">
                <a:ea typeface="굴림" pitchFamily="50" charset="-127"/>
              </a:rPr>
              <a:t>* F</a:t>
            </a:r>
          </a:p>
          <a:p>
            <a:pPr marL="688975" indent="-344488" algn="just">
              <a:buFont typeface="+mj-lt"/>
              <a:buAutoNum type="arabicParenR"/>
            </a:pPr>
            <a:r>
              <a:rPr lang="en-US" altLang="ko-KR">
                <a:ea typeface="굴림" pitchFamily="50" charset="-127"/>
              </a:rPr>
              <a:t>T </a:t>
            </a:r>
            <a:r>
              <a:rPr lang="en-US" altLang="ko-KR" dirty="0">
                <a:ea typeface="굴림" pitchFamily="50" charset="-127"/>
              </a:rPr>
              <a:t>→ </a:t>
            </a:r>
            <a:r>
              <a:rPr lang="en-US" altLang="ko-KR">
                <a:ea typeface="굴림" pitchFamily="50" charset="-127"/>
              </a:rPr>
              <a:t> F</a:t>
            </a:r>
          </a:p>
          <a:p>
            <a:pPr marL="688975" indent="-344488" algn="just">
              <a:buFont typeface="+mj-lt"/>
              <a:buAutoNum type="arabicParenR"/>
            </a:pPr>
            <a:r>
              <a:rPr lang="en-US" altLang="ko-KR">
                <a:ea typeface="굴림" pitchFamily="50" charset="-127"/>
              </a:rPr>
              <a:t>F </a:t>
            </a:r>
            <a:r>
              <a:rPr lang="en-US" altLang="ko-KR" dirty="0">
                <a:ea typeface="굴림" pitchFamily="50" charset="-127"/>
              </a:rPr>
              <a:t>→ </a:t>
            </a:r>
            <a:r>
              <a:rPr lang="en-US" altLang="ko-KR">
                <a:ea typeface="굴림" pitchFamily="50" charset="-127"/>
              </a:rPr>
              <a:t>(E)</a:t>
            </a:r>
          </a:p>
          <a:p>
            <a:pPr marL="688975" indent="-344488" algn="just">
              <a:buFont typeface="+mj-lt"/>
              <a:buAutoNum type="arabicParenR"/>
            </a:pPr>
            <a:r>
              <a:rPr lang="en-US" altLang="ko-KR">
                <a:ea typeface="굴림" pitchFamily="50" charset="-127"/>
              </a:rPr>
              <a:t>F </a:t>
            </a:r>
            <a:r>
              <a:rPr lang="en-US" altLang="ko-KR" dirty="0">
                <a:ea typeface="굴림" pitchFamily="50" charset="-127"/>
              </a:rPr>
              <a:t>→  </a:t>
            </a:r>
            <a:r>
              <a:rPr lang="en-US" altLang="ko-KR">
                <a:ea typeface="굴림" pitchFamily="50" charset="-127"/>
              </a:rPr>
              <a:t>id </a:t>
            </a:r>
          </a:p>
          <a:p>
            <a:pPr marL="688975" indent="-344488" algn="just">
              <a:buNone/>
            </a:pPr>
            <a:endParaRPr lang="en-US" altLang="ko-KR" dirty="0">
              <a:ea typeface="굴림" pitchFamily="50" charset="-127"/>
            </a:endParaRPr>
          </a:p>
          <a:p>
            <a:pPr algn="just"/>
            <a:r>
              <a:rPr lang="en-US" altLang="ko-KR" dirty="0">
                <a:ea typeface="굴림" pitchFamily="50" charset="-127"/>
              </a:rPr>
              <a:t>FOLLOW(E) = { +, </a:t>
            </a:r>
            <a:r>
              <a:rPr lang="en-US" altLang="ko-KR">
                <a:ea typeface="굴림" pitchFamily="50" charset="-127"/>
              </a:rPr>
              <a:t>$, )}</a:t>
            </a:r>
          </a:p>
          <a:p>
            <a:pPr algn="just">
              <a:buNone/>
            </a:pPr>
            <a:r>
              <a:rPr lang="en-US" altLang="ko-KR">
                <a:ea typeface="굴림" pitchFamily="50" charset="-127"/>
              </a:rPr>
              <a:t>	FOLLOW(T) = {*,+,$,)}</a:t>
            </a:r>
          </a:p>
          <a:p>
            <a:pPr algn="just">
              <a:buNone/>
            </a:pPr>
            <a:r>
              <a:rPr lang="en-US" altLang="ko-KR">
                <a:ea typeface="굴림" pitchFamily="50" charset="-127"/>
              </a:rPr>
              <a:t>	FOLLOW(F</a:t>
            </a:r>
            <a:r>
              <a:rPr lang="en-US" altLang="ko-KR" dirty="0">
                <a:ea typeface="굴림" pitchFamily="50" charset="-127"/>
              </a:rPr>
              <a:t>) = </a:t>
            </a:r>
            <a:r>
              <a:rPr lang="en-US" altLang="ko-KR">
                <a:ea typeface="굴림" pitchFamily="50" charset="-127"/>
              </a:rPr>
              <a:t>{*,+,$,)} </a:t>
            </a:r>
            <a:endParaRPr lang="en-US" altLang="ko-KR" dirty="0">
              <a:ea typeface="굴림" pitchFamily="50" charset="-127"/>
            </a:endParaRPr>
          </a:p>
        </p:txBody>
      </p:sp>
      <p:sp>
        <p:nvSpPr>
          <p:cNvPr id="18436" name="Rectangle 4"/>
          <p:cNvSpPr>
            <a:spLocks noChangeArrowheads="1"/>
          </p:cNvSpPr>
          <p:nvPr/>
        </p:nvSpPr>
        <p:spPr bwMode="auto">
          <a:xfrm>
            <a:off x="827088" y="2971800"/>
            <a:ext cx="4897437" cy="304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742950" lvl="1" indent="-285750">
              <a:spcBef>
                <a:spcPct val="20000"/>
              </a:spcBef>
            </a:pPr>
            <a:endParaRPr lang="en-US" altLang="ko-KR" sz="2000">
              <a:ea typeface="굴림" pitchFamily="50" charset="-127"/>
            </a:endParaRPr>
          </a:p>
        </p:txBody>
      </p:sp>
      <p:graphicFrame>
        <p:nvGraphicFramePr>
          <p:cNvPr id="49157" name="Group 5"/>
          <p:cNvGraphicFramePr>
            <a:graphicFrameLocks noGrp="1"/>
          </p:cNvGraphicFramePr>
          <p:nvPr/>
        </p:nvGraphicFramePr>
        <p:xfrm>
          <a:off x="4114800" y="990600"/>
          <a:ext cx="4800602" cy="5425200"/>
        </p:xfrm>
        <a:graphic>
          <a:graphicData uri="http://schemas.openxmlformats.org/drawingml/2006/table">
            <a:tbl>
              <a:tblPr/>
              <a:tblGrid>
                <a:gridCol w="3875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5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00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00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008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0003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006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0006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55575">
                <a:tc rowSpan="2"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돋움" pitchFamily="50" charset="-127"/>
                        <a:ea typeface="한양신명조" charset="-127"/>
                      </a:endParaRPr>
                    </a:p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36000" marR="36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6"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Action</a:t>
                      </a:r>
                      <a:endParaRPr kumimoji="0" lang="en-US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36000" marR="36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Goto</a:t>
                      </a:r>
                      <a:endParaRPr kumimoji="0" lang="en-US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36000" marR="36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57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id</a:t>
                      </a:r>
                      <a:endParaRPr kumimoji="0" lang="en-US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36000" marR="36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+</a:t>
                      </a:r>
                      <a:endParaRPr kumimoji="0" lang="en-US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36000" marR="36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*</a:t>
                      </a:r>
                      <a:endParaRPr kumimoji="0" lang="ko-KR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36000" marR="36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(</a:t>
                      </a:r>
                      <a:endParaRPr kumimoji="0" lang="en-US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36000" marR="36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)</a:t>
                      </a:r>
                      <a:endParaRPr kumimoji="0" lang="en-US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36000" marR="36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$</a:t>
                      </a:r>
                      <a:endParaRPr kumimoji="0" lang="en-US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36000" marR="36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E</a:t>
                      </a:r>
                      <a:endParaRPr kumimoji="0" lang="en-US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36000" marR="36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T</a:t>
                      </a:r>
                      <a:endParaRPr kumimoji="0" lang="en-US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36000" marR="36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F</a:t>
                      </a:r>
                      <a:endParaRPr kumimoji="0" lang="en-US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36000" marR="36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988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0</a:t>
                      </a:r>
                      <a:endParaRPr kumimoji="0" lang="en-US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36000" marR="36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S5</a:t>
                      </a:r>
                      <a:endParaRPr kumimoji="0" lang="en-US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36000" marR="36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　</a:t>
                      </a:r>
                      <a:endParaRPr kumimoji="0" lang="ko-KR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36000" marR="36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　</a:t>
                      </a:r>
                      <a:endParaRPr kumimoji="0" lang="ko-KR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36000" marR="36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S4</a:t>
                      </a:r>
                      <a:endParaRPr kumimoji="0" lang="en-US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36000" marR="36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　</a:t>
                      </a:r>
                      <a:endParaRPr kumimoji="0" lang="ko-KR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36000" marR="36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　</a:t>
                      </a:r>
                      <a:endParaRPr kumimoji="0" lang="ko-KR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36000" marR="36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1</a:t>
                      </a:r>
                      <a:endParaRPr kumimoji="0" lang="en-US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36000" marR="36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2</a:t>
                      </a:r>
                      <a:endParaRPr kumimoji="0" lang="en-US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36000" marR="36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3</a:t>
                      </a:r>
                      <a:endParaRPr kumimoji="0" lang="en-US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36000" marR="36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1</a:t>
                      </a:r>
                      <a:endParaRPr kumimoji="0" lang="en-US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36000" marR="36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　</a:t>
                      </a:r>
                      <a:endParaRPr kumimoji="0" lang="ko-KR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36000" marR="36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S6</a:t>
                      </a:r>
                      <a:endParaRPr kumimoji="0" lang="en-US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36000" marR="36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　</a:t>
                      </a:r>
                      <a:endParaRPr kumimoji="0" lang="ko-KR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36000" marR="36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　</a:t>
                      </a:r>
                      <a:endParaRPr kumimoji="0" lang="ko-KR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36000" marR="36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　</a:t>
                      </a:r>
                      <a:endParaRPr kumimoji="0" lang="ko-KR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36000" marR="36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Accept</a:t>
                      </a:r>
                      <a:endParaRPr kumimoji="0" lang="en-US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36000" marR="36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　</a:t>
                      </a:r>
                      <a:endParaRPr kumimoji="0" lang="ko-KR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36000" marR="36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　</a:t>
                      </a:r>
                      <a:endParaRPr kumimoji="0" lang="ko-KR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36000" marR="36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　</a:t>
                      </a:r>
                      <a:endParaRPr kumimoji="0" lang="ko-KR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36000" marR="36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336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2</a:t>
                      </a:r>
                      <a:endParaRPr kumimoji="0" lang="en-US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36000" marR="36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　</a:t>
                      </a:r>
                      <a:endParaRPr kumimoji="0" lang="ko-KR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36000" marR="36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r2</a:t>
                      </a:r>
                      <a:endParaRPr kumimoji="0" lang="en-US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36000" marR="36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S7</a:t>
                      </a:r>
                      <a:endParaRPr kumimoji="0" lang="en-US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36000" marR="36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　</a:t>
                      </a:r>
                      <a:endParaRPr kumimoji="0" lang="ko-KR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36000" marR="36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r2</a:t>
                      </a:r>
                      <a:endParaRPr kumimoji="0" lang="en-US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36000" marR="36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r2</a:t>
                      </a:r>
                      <a:endParaRPr kumimoji="0" lang="en-US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36000" marR="36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　</a:t>
                      </a:r>
                      <a:endParaRPr kumimoji="0" lang="ko-KR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36000" marR="36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　</a:t>
                      </a:r>
                      <a:endParaRPr kumimoji="0" lang="ko-KR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36000" marR="36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　</a:t>
                      </a:r>
                      <a:endParaRPr kumimoji="0" lang="ko-KR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36000" marR="36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336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3</a:t>
                      </a:r>
                      <a:endParaRPr kumimoji="0" lang="en-US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36000" marR="36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　</a:t>
                      </a:r>
                      <a:endParaRPr kumimoji="0" lang="ko-KR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36000" marR="36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r4</a:t>
                      </a:r>
                      <a:endParaRPr kumimoji="0" lang="en-US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36000" marR="36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r4</a:t>
                      </a:r>
                      <a:endParaRPr kumimoji="0" lang="en-US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36000" marR="36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　</a:t>
                      </a:r>
                      <a:endParaRPr kumimoji="0" lang="ko-KR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36000" marR="36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r4</a:t>
                      </a:r>
                      <a:endParaRPr kumimoji="0" lang="en-US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36000" marR="36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r4</a:t>
                      </a:r>
                      <a:endParaRPr kumimoji="0" lang="en-US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36000" marR="36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　</a:t>
                      </a:r>
                      <a:endParaRPr kumimoji="0" lang="ko-KR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36000" marR="36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　</a:t>
                      </a:r>
                      <a:endParaRPr kumimoji="0" lang="ko-KR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36000" marR="36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　</a:t>
                      </a:r>
                      <a:endParaRPr kumimoji="0" lang="ko-KR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36000" marR="36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4</a:t>
                      </a:r>
                      <a:endParaRPr kumimoji="0" lang="en-US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36000" marR="36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S5</a:t>
                      </a:r>
                      <a:endParaRPr kumimoji="0" lang="en-US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36000" marR="36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　</a:t>
                      </a:r>
                      <a:endParaRPr kumimoji="0" lang="ko-KR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36000" marR="36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　</a:t>
                      </a:r>
                      <a:endParaRPr kumimoji="0" lang="ko-KR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36000" marR="36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S4</a:t>
                      </a:r>
                      <a:endParaRPr kumimoji="0" lang="en-US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36000" marR="36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　</a:t>
                      </a:r>
                      <a:endParaRPr kumimoji="0" lang="ko-KR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36000" marR="36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　</a:t>
                      </a:r>
                      <a:endParaRPr kumimoji="0" lang="ko-KR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36000" marR="36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8</a:t>
                      </a:r>
                      <a:endParaRPr kumimoji="0" lang="en-US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36000" marR="36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2</a:t>
                      </a:r>
                      <a:endParaRPr kumimoji="0" lang="en-US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36000" marR="36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3</a:t>
                      </a:r>
                      <a:endParaRPr kumimoji="0" lang="en-US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36000" marR="36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336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5</a:t>
                      </a:r>
                      <a:endParaRPr kumimoji="0" lang="en-US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36000" marR="36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　</a:t>
                      </a:r>
                      <a:endParaRPr kumimoji="0" lang="ko-KR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36000" marR="36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r6</a:t>
                      </a:r>
                      <a:endParaRPr kumimoji="0" lang="en-US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36000" marR="36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r6</a:t>
                      </a:r>
                      <a:endParaRPr kumimoji="0" lang="en-US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36000" marR="36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　</a:t>
                      </a:r>
                      <a:endParaRPr kumimoji="0" lang="ko-KR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36000" marR="36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r6</a:t>
                      </a:r>
                      <a:endParaRPr kumimoji="0" lang="en-US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36000" marR="36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r6</a:t>
                      </a:r>
                      <a:endParaRPr kumimoji="0" lang="en-US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36000" marR="36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　</a:t>
                      </a:r>
                      <a:endParaRPr kumimoji="0" lang="ko-KR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36000" marR="36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　</a:t>
                      </a:r>
                      <a:endParaRPr kumimoji="0" lang="ko-KR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36000" marR="36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　</a:t>
                      </a:r>
                      <a:endParaRPr kumimoji="0" lang="ko-KR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36000" marR="36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557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6</a:t>
                      </a:r>
                      <a:endParaRPr kumimoji="0" lang="en-US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36000" marR="36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S5</a:t>
                      </a:r>
                      <a:endParaRPr kumimoji="0" lang="en-US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36000" marR="36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　</a:t>
                      </a:r>
                      <a:endParaRPr kumimoji="0" lang="ko-KR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36000" marR="36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　</a:t>
                      </a:r>
                      <a:endParaRPr kumimoji="0" lang="ko-KR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36000" marR="36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S4</a:t>
                      </a:r>
                      <a:endParaRPr kumimoji="0" lang="en-US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36000" marR="36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　</a:t>
                      </a:r>
                      <a:endParaRPr kumimoji="0" lang="ko-KR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36000" marR="36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　</a:t>
                      </a:r>
                      <a:endParaRPr kumimoji="0" lang="ko-KR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36000" marR="36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　</a:t>
                      </a:r>
                      <a:endParaRPr kumimoji="0" lang="ko-KR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36000" marR="36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9</a:t>
                      </a:r>
                      <a:endParaRPr kumimoji="0" lang="en-US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36000" marR="36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3</a:t>
                      </a:r>
                      <a:endParaRPr kumimoji="0" lang="en-US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36000" marR="36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53988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7</a:t>
                      </a:r>
                      <a:endParaRPr kumimoji="0" lang="en-US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36000" marR="36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S5</a:t>
                      </a:r>
                      <a:endParaRPr kumimoji="0" lang="en-US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36000" marR="36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　</a:t>
                      </a:r>
                      <a:endParaRPr kumimoji="0" lang="ko-KR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36000" marR="36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　</a:t>
                      </a:r>
                      <a:endParaRPr kumimoji="0" lang="ko-KR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36000" marR="36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S4</a:t>
                      </a:r>
                      <a:endParaRPr kumimoji="0" lang="en-US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36000" marR="36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　</a:t>
                      </a:r>
                      <a:endParaRPr kumimoji="0" lang="ko-KR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36000" marR="36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　</a:t>
                      </a:r>
                      <a:endParaRPr kumimoji="0" lang="ko-KR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36000" marR="36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　</a:t>
                      </a:r>
                      <a:endParaRPr kumimoji="0" lang="ko-KR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36000" marR="36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　</a:t>
                      </a:r>
                      <a:endParaRPr kumimoji="0" lang="ko-KR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36000" marR="36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10</a:t>
                      </a:r>
                      <a:endParaRPr kumimoji="0" lang="en-US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36000" marR="36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8</a:t>
                      </a:r>
                      <a:endParaRPr kumimoji="0" lang="en-US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36000" marR="36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　</a:t>
                      </a:r>
                      <a:endParaRPr kumimoji="0" lang="ko-KR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36000" marR="36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S6</a:t>
                      </a:r>
                      <a:endParaRPr kumimoji="0" lang="en-US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36000" marR="36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　</a:t>
                      </a:r>
                      <a:endParaRPr kumimoji="0" lang="ko-KR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36000" marR="36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　</a:t>
                      </a:r>
                      <a:endParaRPr kumimoji="0" lang="ko-KR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36000" marR="36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S11</a:t>
                      </a:r>
                      <a:endParaRPr kumimoji="0" lang="en-US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36000" marR="36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　</a:t>
                      </a:r>
                      <a:endParaRPr kumimoji="0" lang="ko-KR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36000" marR="36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　</a:t>
                      </a:r>
                      <a:endParaRPr kumimoji="0" lang="ko-KR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36000" marR="36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　</a:t>
                      </a:r>
                      <a:endParaRPr kumimoji="0" lang="ko-KR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36000" marR="36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　</a:t>
                      </a:r>
                      <a:endParaRPr kumimoji="0" lang="ko-KR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36000" marR="36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336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9</a:t>
                      </a:r>
                      <a:endParaRPr kumimoji="0" lang="en-US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36000" marR="36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　</a:t>
                      </a:r>
                      <a:endParaRPr kumimoji="0" lang="ko-KR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36000" marR="36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r1</a:t>
                      </a:r>
                      <a:endParaRPr kumimoji="0" lang="en-US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36000" marR="36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S7</a:t>
                      </a:r>
                      <a:endParaRPr kumimoji="0" lang="en-US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36000" marR="36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　</a:t>
                      </a:r>
                      <a:endParaRPr kumimoji="0" lang="ko-KR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36000" marR="36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r1</a:t>
                      </a:r>
                      <a:endParaRPr kumimoji="0" lang="en-US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36000" marR="36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r1</a:t>
                      </a:r>
                      <a:endParaRPr kumimoji="0" lang="en-US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36000" marR="36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　</a:t>
                      </a:r>
                      <a:endParaRPr kumimoji="0" lang="ko-KR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36000" marR="36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　</a:t>
                      </a:r>
                      <a:endParaRPr kumimoji="0" lang="ko-KR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36000" marR="36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　</a:t>
                      </a:r>
                      <a:endParaRPr kumimoji="0" lang="ko-KR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36000" marR="36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10</a:t>
                      </a:r>
                      <a:endParaRPr kumimoji="0" lang="en-US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36000" marR="36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　</a:t>
                      </a:r>
                      <a:endParaRPr kumimoji="0" lang="ko-KR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36000" marR="36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r3</a:t>
                      </a:r>
                      <a:endParaRPr kumimoji="0" lang="en-US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36000" marR="36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r3</a:t>
                      </a:r>
                      <a:endParaRPr kumimoji="0" lang="en-US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36000" marR="36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　</a:t>
                      </a:r>
                      <a:endParaRPr kumimoji="0" lang="ko-KR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36000" marR="36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r3</a:t>
                      </a:r>
                      <a:endParaRPr kumimoji="0" lang="en-US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36000" marR="36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r3</a:t>
                      </a:r>
                      <a:endParaRPr kumimoji="0" lang="en-US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36000" marR="36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　</a:t>
                      </a:r>
                      <a:endParaRPr kumimoji="0" lang="ko-KR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36000" marR="36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　</a:t>
                      </a:r>
                      <a:endParaRPr kumimoji="0" lang="ko-KR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36000" marR="36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　</a:t>
                      </a:r>
                      <a:endParaRPr kumimoji="0" lang="ko-KR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36000" marR="36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11</a:t>
                      </a:r>
                      <a:endParaRPr kumimoji="0" lang="en-US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36000" marR="36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　</a:t>
                      </a:r>
                      <a:endParaRPr kumimoji="0" lang="ko-KR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36000" marR="36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r5</a:t>
                      </a:r>
                      <a:endParaRPr kumimoji="0" lang="en-US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36000" marR="36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r5</a:t>
                      </a:r>
                      <a:endParaRPr kumimoji="0" lang="en-US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36000" marR="36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　</a:t>
                      </a:r>
                      <a:endParaRPr kumimoji="0" lang="ko-KR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36000" marR="36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r5</a:t>
                      </a:r>
                      <a:endParaRPr kumimoji="0" lang="en-US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36000" marR="36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r5</a:t>
                      </a:r>
                      <a:endParaRPr kumimoji="0" lang="en-US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36000" marR="36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　</a:t>
                      </a:r>
                      <a:endParaRPr kumimoji="0" lang="ko-KR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36000" marR="36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　</a:t>
                      </a:r>
                      <a:endParaRPr kumimoji="0" lang="ko-KR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36000" marR="36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　</a:t>
                      </a:r>
                      <a:endParaRPr kumimoji="0" lang="ko-KR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36000" marR="36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7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Bina</a:t>
            </a:r>
            <a:r>
              <a:rPr lang="en-US" dirty="0"/>
              <a:t> Nusantara University</a:t>
            </a:r>
          </a:p>
        </p:txBody>
      </p:sp>
      <p:sp>
        <p:nvSpPr>
          <p:cNvPr id="1859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BB5C470-271F-488B-B381-F8398F885690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503A6A0F-70E3-7E47-9DCA-A145B0528F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92400" y="381000"/>
            <a:ext cx="5994400" cy="457200"/>
          </a:xfrm>
        </p:spPr>
        <p:txBody>
          <a:bodyPr>
            <a:normAutofit fontScale="90000"/>
          </a:bodyPr>
          <a:lstStyle/>
          <a:p>
            <a:pPr algn="r"/>
            <a:r>
              <a:rPr lang="en-US" altLang="ko-KR" sz="2800" dirty="0">
                <a:ea typeface="굴림" pitchFamily="50" charset="-127"/>
              </a:rPr>
              <a:t>Constructing SLR (Simple LR) parser</a:t>
            </a:r>
            <a:br>
              <a:rPr lang="en-US" altLang="ko-KR" sz="2800" dirty="0">
                <a:ea typeface="굴림" pitchFamily="50" charset="-127"/>
              </a:rPr>
            </a:br>
            <a:r>
              <a:rPr lang="en-US" altLang="ko-KR" sz="2800" dirty="0">
                <a:ea typeface="굴림" pitchFamily="50" charset="-127"/>
              </a:rPr>
              <a:t>(Go to Table)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2590800" y="152400"/>
            <a:ext cx="6248400" cy="533400"/>
          </a:xfrm>
        </p:spPr>
        <p:txBody>
          <a:bodyPr>
            <a:normAutofit fontScale="90000"/>
          </a:bodyPr>
          <a:lstStyle/>
          <a:p>
            <a:pPr algn="r"/>
            <a:r>
              <a:rPr lang="en-US" altLang="ko-KR" sz="2800" dirty="0">
                <a:ea typeface="굴림" pitchFamily="50" charset="-127"/>
              </a:rPr>
              <a:t>Constructing SLR (Simple LR) parser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19200" y="1447800"/>
            <a:ext cx="7620000" cy="47244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altLang="ko-KR" dirty="0">
                <a:ea typeface="굴림" pitchFamily="50" charset="-127"/>
              </a:rPr>
              <a:t>Executing a parser with the parsing table :</a:t>
            </a:r>
          </a:p>
          <a:p>
            <a:pPr algn="just"/>
            <a:r>
              <a:rPr lang="en-US" altLang="ko-KR" dirty="0">
                <a:ea typeface="굴림" pitchFamily="50" charset="-127"/>
              </a:rPr>
              <a:t>configuration </a:t>
            </a:r>
          </a:p>
          <a:p>
            <a:pPr lvl="1" algn="just"/>
            <a:r>
              <a:rPr lang="en-US" altLang="ko-KR" dirty="0">
                <a:ea typeface="굴림" pitchFamily="50" charset="-127"/>
              </a:rPr>
              <a:t>(S</a:t>
            </a:r>
            <a:r>
              <a:rPr lang="en-US" altLang="ko-KR" baseline="-25000" dirty="0">
                <a:ea typeface="굴림" pitchFamily="50" charset="-127"/>
              </a:rPr>
              <a:t>0</a:t>
            </a:r>
            <a:r>
              <a:rPr lang="en-US" altLang="ko-KR" dirty="0">
                <a:ea typeface="굴림" pitchFamily="50" charset="-127"/>
              </a:rPr>
              <a:t>X</a:t>
            </a:r>
            <a:r>
              <a:rPr lang="en-US" altLang="ko-KR" baseline="-25000" dirty="0">
                <a:ea typeface="굴림" pitchFamily="50" charset="-127"/>
              </a:rPr>
              <a:t>0</a:t>
            </a:r>
            <a:r>
              <a:rPr lang="en-US" altLang="ko-KR" dirty="0">
                <a:ea typeface="굴림" pitchFamily="50" charset="-127"/>
              </a:rPr>
              <a:t>S</a:t>
            </a:r>
            <a:r>
              <a:rPr lang="en-US" altLang="ko-KR" baseline="-25000" dirty="0">
                <a:ea typeface="굴림" pitchFamily="50" charset="-127"/>
              </a:rPr>
              <a:t>1</a:t>
            </a:r>
            <a:r>
              <a:rPr lang="en-US" altLang="ko-KR" dirty="0">
                <a:ea typeface="굴림" pitchFamily="50" charset="-127"/>
              </a:rPr>
              <a:t>X</a:t>
            </a:r>
            <a:r>
              <a:rPr lang="en-US" altLang="ko-KR" baseline="-25000" dirty="0">
                <a:ea typeface="굴림" pitchFamily="50" charset="-127"/>
              </a:rPr>
              <a:t>1</a:t>
            </a:r>
            <a:r>
              <a:rPr lang="en-US" altLang="ko-KR" dirty="0">
                <a:ea typeface="굴림" pitchFamily="50" charset="-127"/>
              </a:rPr>
              <a:t> … </a:t>
            </a:r>
            <a:r>
              <a:rPr lang="en-US" altLang="ko-KR" dirty="0" err="1">
                <a:ea typeface="굴림" pitchFamily="50" charset="-127"/>
              </a:rPr>
              <a:t>X</a:t>
            </a:r>
            <a:r>
              <a:rPr lang="en-US" altLang="ko-KR" baseline="-25000" dirty="0" err="1">
                <a:ea typeface="굴림" pitchFamily="50" charset="-127"/>
              </a:rPr>
              <a:t>m</a:t>
            </a:r>
            <a:r>
              <a:rPr lang="en-US" altLang="ko-KR" dirty="0" err="1">
                <a:ea typeface="굴림" pitchFamily="50" charset="-127"/>
              </a:rPr>
              <a:t>S</a:t>
            </a:r>
            <a:r>
              <a:rPr lang="en-US" altLang="ko-KR" baseline="-25000" dirty="0" err="1">
                <a:ea typeface="굴림" pitchFamily="50" charset="-127"/>
              </a:rPr>
              <a:t>m</a:t>
            </a:r>
            <a:r>
              <a:rPr lang="en-US" altLang="ko-KR" dirty="0">
                <a:ea typeface="굴림" pitchFamily="50" charset="-127"/>
              </a:rPr>
              <a:t>, a</a:t>
            </a:r>
            <a:r>
              <a:rPr lang="en-US" altLang="ko-KR" baseline="-25000" dirty="0">
                <a:ea typeface="굴림" pitchFamily="50" charset="-127"/>
              </a:rPr>
              <a:t>i</a:t>
            </a:r>
            <a:r>
              <a:rPr lang="en-US" altLang="ko-KR" dirty="0">
                <a:ea typeface="굴림" pitchFamily="50" charset="-127"/>
              </a:rPr>
              <a:t>a</a:t>
            </a:r>
            <a:r>
              <a:rPr lang="en-US" altLang="ko-KR" baseline="-25000" dirty="0">
                <a:ea typeface="굴림" pitchFamily="50" charset="-127"/>
              </a:rPr>
              <a:t>i</a:t>
            </a:r>
            <a:r>
              <a:rPr lang="en-US" altLang="ko-KR" dirty="0">
                <a:ea typeface="굴림" pitchFamily="50" charset="-127"/>
              </a:rPr>
              <a:t>+1…a</a:t>
            </a:r>
            <a:r>
              <a:rPr lang="en-US" altLang="ko-KR" baseline="-25000" dirty="0">
                <a:ea typeface="굴림" pitchFamily="50" charset="-127"/>
              </a:rPr>
              <a:t>m</a:t>
            </a:r>
            <a:r>
              <a:rPr lang="en-US" altLang="ko-KR" dirty="0">
                <a:ea typeface="굴림" pitchFamily="50" charset="-127"/>
              </a:rPr>
              <a:t>$) = (stack content, unexpended input) </a:t>
            </a:r>
          </a:p>
          <a:p>
            <a:pPr marL="457200" lvl="1" indent="0" algn="just">
              <a:buNone/>
            </a:pPr>
            <a:endParaRPr lang="en-US" altLang="ko-KR" dirty="0">
              <a:ea typeface="굴림" pitchFamily="50" charset="-127"/>
            </a:endParaRPr>
          </a:p>
          <a:p>
            <a:pPr algn="just"/>
            <a:r>
              <a:rPr lang="en-US" altLang="ko-KR" dirty="0">
                <a:ea typeface="굴림" pitchFamily="50" charset="-127"/>
              </a:rPr>
              <a:t>Resulting configuration after action[</a:t>
            </a:r>
            <a:r>
              <a:rPr lang="en-US" altLang="ko-KR" dirty="0" err="1">
                <a:ea typeface="굴림" pitchFamily="50" charset="-127"/>
              </a:rPr>
              <a:t>S</a:t>
            </a:r>
            <a:r>
              <a:rPr lang="en-US" altLang="ko-KR" baseline="-25000" dirty="0" err="1">
                <a:ea typeface="굴림" pitchFamily="50" charset="-127"/>
              </a:rPr>
              <a:t>m</a:t>
            </a:r>
            <a:r>
              <a:rPr lang="en-US" altLang="ko-KR" dirty="0">
                <a:ea typeface="굴림" pitchFamily="50" charset="-127"/>
              </a:rPr>
              <a:t>, </a:t>
            </a:r>
            <a:r>
              <a:rPr lang="en-US" altLang="ko-KR" dirty="0" err="1">
                <a:ea typeface="굴림" pitchFamily="50" charset="-127"/>
              </a:rPr>
              <a:t>a</a:t>
            </a:r>
            <a:r>
              <a:rPr lang="en-US" altLang="ko-KR" baseline="-25000" dirty="0" err="1">
                <a:ea typeface="굴림" pitchFamily="50" charset="-127"/>
              </a:rPr>
              <a:t>i</a:t>
            </a:r>
            <a:r>
              <a:rPr lang="en-US" altLang="ko-KR" dirty="0">
                <a:ea typeface="굴림" pitchFamily="50" charset="-127"/>
              </a:rPr>
              <a:t>] </a:t>
            </a:r>
          </a:p>
          <a:p>
            <a:pPr marL="971550" lvl="1" indent="-457200" algn="just">
              <a:buFont typeface="+mj-lt"/>
              <a:buAutoNum type="arabicPeriod"/>
            </a:pPr>
            <a:r>
              <a:rPr lang="en-US" altLang="ko-KR" dirty="0">
                <a:ea typeface="굴림" pitchFamily="50" charset="-127"/>
              </a:rPr>
              <a:t>= </a:t>
            </a:r>
            <a:r>
              <a:rPr lang="en-US" altLang="ko-KR" dirty="0" err="1">
                <a:ea typeface="굴림" pitchFamily="50" charset="-127"/>
              </a:rPr>
              <a:t>S</a:t>
            </a:r>
            <a:r>
              <a:rPr lang="en-US" altLang="ko-KR" baseline="-25000" dirty="0" err="1">
                <a:ea typeface="굴림" pitchFamily="50" charset="-127"/>
              </a:rPr>
              <a:t>j</a:t>
            </a:r>
            <a:r>
              <a:rPr lang="en-US" altLang="ko-KR" dirty="0">
                <a:ea typeface="굴림" pitchFamily="50" charset="-127"/>
              </a:rPr>
              <a:t> (shift and </a:t>
            </a:r>
            <a:r>
              <a:rPr lang="en-US" altLang="ko-KR" dirty="0" err="1">
                <a:ea typeface="굴림" pitchFamily="50" charset="-127"/>
              </a:rPr>
              <a:t>goto</a:t>
            </a:r>
            <a:r>
              <a:rPr lang="en-US" altLang="ko-KR" dirty="0">
                <a:ea typeface="굴림" pitchFamily="50" charset="-127"/>
              </a:rPr>
              <a:t> state j) </a:t>
            </a:r>
          </a:p>
          <a:p>
            <a:pPr lvl="1" algn="just">
              <a:buFontTx/>
              <a:buNone/>
            </a:pPr>
            <a:r>
              <a:rPr lang="en-US" altLang="ko-KR" dirty="0">
                <a:ea typeface="굴림" pitchFamily="50" charset="-127"/>
              </a:rPr>
              <a:t>		 (S</a:t>
            </a:r>
            <a:r>
              <a:rPr lang="en-US" altLang="ko-KR" baseline="-25000" dirty="0">
                <a:ea typeface="굴림" pitchFamily="50" charset="-127"/>
              </a:rPr>
              <a:t>0</a:t>
            </a:r>
            <a:r>
              <a:rPr lang="en-US" altLang="ko-KR" dirty="0">
                <a:ea typeface="굴림" pitchFamily="50" charset="-127"/>
              </a:rPr>
              <a:t>X</a:t>
            </a:r>
            <a:r>
              <a:rPr lang="en-US" altLang="ko-KR" baseline="-25000" dirty="0">
                <a:ea typeface="굴림" pitchFamily="50" charset="-127"/>
              </a:rPr>
              <a:t>0</a:t>
            </a:r>
            <a:r>
              <a:rPr lang="en-US" altLang="ko-KR" dirty="0">
                <a:ea typeface="굴림" pitchFamily="50" charset="-127"/>
              </a:rPr>
              <a:t>S</a:t>
            </a:r>
            <a:r>
              <a:rPr lang="en-US" altLang="ko-KR" baseline="-25000" dirty="0">
                <a:ea typeface="굴림" pitchFamily="50" charset="-127"/>
              </a:rPr>
              <a:t>1</a:t>
            </a:r>
            <a:r>
              <a:rPr lang="en-US" altLang="ko-KR" dirty="0">
                <a:ea typeface="굴림" pitchFamily="50" charset="-127"/>
              </a:rPr>
              <a:t>X</a:t>
            </a:r>
            <a:r>
              <a:rPr lang="en-US" altLang="ko-KR" baseline="-25000" dirty="0">
                <a:ea typeface="굴림" pitchFamily="50" charset="-127"/>
              </a:rPr>
              <a:t>1</a:t>
            </a:r>
            <a:r>
              <a:rPr lang="en-US" altLang="ko-KR" dirty="0">
                <a:ea typeface="굴림" pitchFamily="50" charset="-127"/>
              </a:rPr>
              <a:t> … </a:t>
            </a:r>
            <a:r>
              <a:rPr lang="en-US" altLang="ko-KR" dirty="0" err="1">
                <a:ea typeface="굴림" pitchFamily="50" charset="-127"/>
              </a:rPr>
              <a:t>X</a:t>
            </a:r>
            <a:r>
              <a:rPr lang="en-US" altLang="ko-KR" baseline="-25000" dirty="0" err="1">
                <a:ea typeface="굴림" pitchFamily="50" charset="-127"/>
              </a:rPr>
              <a:t>m</a:t>
            </a:r>
            <a:r>
              <a:rPr lang="en-US" altLang="ko-KR" dirty="0" err="1">
                <a:ea typeface="굴림" pitchFamily="50" charset="-127"/>
              </a:rPr>
              <a:t>S</a:t>
            </a:r>
            <a:r>
              <a:rPr lang="en-US" altLang="ko-KR" baseline="-25000" dirty="0" err="1">
                <a:ea typeface="굴림" pitchFamily="50" charset="-127"/>
              </a:rPr>
              <a:t>m</a:t>
            </a:r>
            <a:r>
              <a:rPr lang="en-US" altLang="ko-KR" dirty="0" err="1">
                <a:ea typeface="굴림" pitchFamily="50" charset="-127"/>
              </a:rPr>
              <a:t>a</a:t>
            </a:r>
            <a:r>
              <a:rPr lang="en-US" altLang="ko-KR" baseline="-25000" dirty="0" err="1">
                <a:ea typeface="굴림" pitchFamily="50" charset="-127"/>
              </a:rPr>
              <a:t>i</a:t>
            </a:r>
            <a:r>
              <a:rPr lang="en-US" altLang="ko-KR" dirty="0" err="1">
                <a:ea typeface="굴림" pitchFamily="50" charset="-127"/>
              </a:rPr>
              <a:t>S</a:t>
            </a:r>
            <a:r>
              <a:rPr lang="en-US" altLang="ko-KR" dirty="0">
                <a:ea typeface="굴림" pitchFamily="50" charset="-127"/>
              </a:rPr>
              <a:t>, a</a:t>
            </a:r>
            <a:r>
              <a:rPr lang="en-US" altLang="ko-KR" baseline="-25000" dirty="0">
                <a:ea typeface="굴림" pitchFamily="50" charset="-127"/>
              </a:rPr>
              <a:t>i</a:t>
            </a:r>
            <a:r>
              <a:rPr lang="en-US" altLang="ko-KR" dirty="0">
                <a:ea typeface="굴림" pitchFamily="50" charset="-127"/>
              </a:rPr>
              <a:t>+1…a</a:t>
            </a:r>
            <a:r>
              <a:rPr lang="en-US" altLang="ko-KR" baseline="-25000" dirty="0">
                <a:ea typeface="굴림" pitchFamily="50" charset="-127"/>
              </a:rPr>
              <a:t>n</a:t>
            </a:r>
            <a:r>
              <a:rPr lang="en-US" altLang="ko-KR" dirty="0">
                <a:ea typeface="굴림" pitchFamily="50" charset="-127"/>
              </a:rPr>
              <a:t>$) </a:t>
            </a:r>
          </a:p>
          <a:p>
            <a:pPr marL="971550" lvl="1" indent="-457200" algn="just">
              <a:buFont typeface="+mj-lt"/>
              <a:buAutoNum type="arabicPeriod" startAt="2"/>
            </a:pPr>
            <a:r>
              <a:rPr lang="en-US" altLang="ko-KR" dirty="0">
                <a:ea typeface="굴림" pitchFamily="50" charset="-127"/>
              </a:rPr>
              <a:t>= </a:t>
            </a:r>
            <a:r>
              <a:rPr lang="en-US" altLang="ko-KR" dirty="0" err="1">
                <a:ea typeface="굴림" pitchFamily="50" charset="-127"/>
              </a:rPr>
              <a:t>r</a:t>
            </a:r>
            <a:r>
              <a:rPr lang="en-US" altLang="ko-KR" baseline="-25000" dirty="0" err="1">
                <a:ea typeface="굴림" pitchFamily="50" charset="-127"/>
              </a:rPr>
              <a:t>p</a:t>
            </a:r>
            <a:r>
              <a:rPr lang="en-US" altLang="ko-KR" dirty="0">
                <a:ea typeface="굴림" pitchFamily="50" charset="-127"/>
              </a:rPr>
              <a:t> (reduce A → β) </a:t>
            </a:r>
          </a:p>
          <a:p>
            <a:pPr lvl="1" algn="just">
              <a:buFontTx/>
              <a:buNone/>
            </a:pPr>
            <a:r>
              <a:rPr lang="en-US" altLang="ko-KR" dirty="0">
                <a:ea typeface="굴림" pitchFamily="50" charset="-127"/>
              </a:rPr>
              <a:t>	   (S</a:t>
            </a:r>
            <a:r>
              <a:rPr lang="en-US" altLang="ko-KR" baseline="-25000" dirty="0">
                <a:ea typeface="굴림" pitchFamily="50" charset="-127"/>
              </a:rPr>
              <a:t>0</a:t>
            </a:r>
            <a:r>
              <a:rPr lang="en-US" altLang="ko-KR" dirty="0">
                <a:ea typeface="굴림" pitchFamily="50" charset="-127"/>
              </a:rPr>
              <a:t>X</a:t>
            </a:r>
            <a:r>
              <a:rPr lang="en-US" altLang="ko-KR" baseline="-25000" dirty="0">
                <a:ea typeface="굴림" pitchFamily="50" charset="-127"/>
              </a:rPr>
              <a:t>0</a:t>
            </a:r>
            <a:r>
              <a:rPr lang="en-US" altLang="ko-KR" dirty="0">
                <a:ea typeface="굴림" pitchFamily="50" charset="-127"/>
              </a:rPr>
              <a:t>S</a:t>
            </a:r>
            <a:r>
              <a:rPr lang="en-US" altLang="ko-KR" baseline="-25000" dirty="0">
                <a:ea typeface="굴림" pitchFamily="50" charset="-127"/>
              </a:rPr>
              <a:t>1</a:t>
            </a:r>
            <a:r>
              <a:rPr lang="en-US" altLang="ko-KR" dirty="0">
                <a:ea typeface="굴림" pitchFamily="50" charset="-127"/>
              </a:rPr>
              <a:t>X</a:t>
            </a:r>
            <a:r>
              <a:rPr lang="en-US" altLang="ko-KR" baseline="-25000" dirty="0">
                <a:ea typeface="굴림" pitchFamily="50" charset="-127"/>
              </a:rPr>
              <a:t>1</a:t>
            </a:r>
            <a:r>
              <a:rPr lang="en-US" altLang="ko-KR" dirty="0">
                <a:ea typeface="굴림" pitchFamily="50" charset="-127"/>
              </a:rPr>
              <a:t>…X</a:t>
            </a:r>
            <a:r>
              <a:rPr lang="en-US" altLang="ko-KR" baseline="-25000" dirty="0">
                <a:ea typeface="굴림" pitchFamily="50" charset="-127"/>
              </a:rPr>
              <a:t>m-r</a:t>
            </a:r>
            <a:r>
              <a:rPr lang="en-US" altLang="ko-KR" dirty="0">
                <a:ea typeface="굴림" pitchFamily="50" charset="-127"/>
              </a:rPr>
              <a:t>S</a:t>
            </a:r>
            <a:r>
              <a:rPr lang="en-US" altLang="ko-KR" baseline="-25000" dirty="0">
                <a:ea typeface="굴림" pitchFamily="50" charset="-127"/>
              </a:rPr>
              <a:t>m-r</a:t>
            </a:r>
            <a:r>
              <a:rPr lang="en-US" altLang="ko-KR" dirty="0">
                <a:ea typeface="굴림" pitchFamily="50" charset="-127"/>
              </a:rPr>
              <a:t>AS,a</a:t>
            </a:r>
            <a:r>
              <a:rPr lang="en-US" altLang="ko-KR" baseline="-25000" dirty="0">
                <a:ea typeface="굴림" pitchFamily="50" charset="-127"/>
              </a:rPr>
              <a:t>i</a:t>
            </a:r>
            <a:r>
              <a:rPr lang="en-US" altLang="ko-KR" dirty="0">
                <a:ea typeface="굴림" pitchFamily="50" charset="-127"/>
              </a:rPr>
              <a:t>a</a:t>
            </a:r>
            <a:r>
              <a:rPr lang="en-US" altLang="ko-KR" baseline="-25000" dirty="0">
                <a:ea typeface="굴림" pitchFamily="50" charset="-127"/>
              </a:rPr>
              <a:t>i</a:t>
            </a:r>
            <a:r>
              <a:rPr lang="en-US" altLang="ko-KR" dirty="0">
                <a:ea typeface="굴림" pitchFamily="50" charset="-127"/>
              </a:rPr>
              <a:t>+1…a</a:t>
            </a:r>
            <a:r>
              <a:rPr lang="en-US" altLang="ko-KR" baseline="-25000" dirty="0">
                <a:ea typeface="굴림" pitchFamily="50" charset="-127"/>
              </a:rPr>
              <a:t>n</a:t>
            </a:r>
            <a:r>
              <a:rPr lang="en-US" altLang="ko-KR" dirty="0">
                <a:ea typeface="굴림" pitchFamily="50" charset="-127"/>
              </a:rPr>
              <a:t>$) </a:t>
            </a:r>
          </a:p>
          <a:p>
            <a:pPr lvl="1" algn="just">
              <a:buFontTx/>
              <a:buNone/>
            </a:pPr>
            <a:r>
              <a:rPr lang="en-US" altLang="ko-KR" dirty="0">
                <a:ea typeface="굴림" pitchFamily="50" charset="-127"/>
              </a:rPr>
              <a:t>		 where S = </a:t>
            </a:r>
            <a:r>
              <a:rPr lang="en-US" altLang="ko-KR" dirty="0" err="1">
                <a:ea typeface="굴림" pitchFamily="50" charset="-127"/>
              </a:rPr>
              <a:t>goto</a:t>
            </a:r>
            <a:r>
              <a:rPr lang="en-US" altLang="ko-KR" dirty="0">
                <a:ea typeface="굴림" pitchFamily="50" charset="-127"/>
              </a:rPr>
              <a:t>[</a:t>
            </a:r>
            <a:r>
              <a:rPr lang="en-US" altLang="ko-KR" dirty="0" err="1">
                <a:ea typeface="굴림" pitchFamily="50" charset="-127"/>
              </a:rPr>
              <a:t>S</a:t>
            </a:r>
            <a:r>
              <a:rPr lang="en-US" altLang="ko-KR" baseline="-25000" dirty="0" err="1">
                <a:ea typeface="굴림" pitchFamily="50" charset="-127"/>
              </a:rPr>
              <a:t>m</a:t>
            </a:r>
            <a:r>
              <a:rPr lang="en-US" altLang="ko-KR" baseline="-25000" dirty="0">
                <a:ea typeface="굴림" pitchFamily="50" charset="-127"/>
              </a:rPr>
              <a:t>-r</a:t>
            </a:r>
            <a:r>
              <a:rPr lang="en-US" altLang="ko-KR" dirty="0">
                <a:ea typeface="굴림" pitchFamily="50" charset="-127"/>
              </a:rPr>
              <a:t>, A] and r = the length of β</a:t>
            </a:r>
          </a:p>
          <a:p>
            <a:pPr marL="971550" lvl="1" indent="-457200" algn="just">
              <a:buFont typeface="+mj-lt"/>
              <a:buAutoNum type="arabicPeriod" startAt="3"/>
            </a:pPr>
            <a:r>
              <a:rPr lang="en-US" altLang="ko-KR" dirty="0">
                <a:ea typeface="굴림" pitchFamily="50" charset="-127"/>
              </a:rPr>
              <a:t>accept (parsing is completed) </a:t>
            </a:r>
          </a:p>
          <a:p>
            <a:pPr marL="971550" lvl="1" indent="-457200" algn="just">
              <a:buFont typeface="+mj-lt"/>
              <a:buAutoNum type="arabicPeriod" startAt="3"/>
            </a:pPr>
            <a:r>
              <a:rPr lang="en-US" altLang="ko-KR" dirty="0">
                <a:ea typeface="굴림" pitchFamily="50" charset="-127"/>
              </a:rPr>
              <a:t>error (error recovery is needed) 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Bina</a:t>
            </a:r>
            <a:r>
              <a:rPr lang="en-US" dirty="0"/>
              <a:t> Nusantara University</a:t>
            </a:r>
          </a:p>
        </p:txBody>
      </p:sp>
      <p:sp>
        <p:nvSpPr>
          <p:cNvPr id="1946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8F69EF5-0123-4226-847A-2173DBB2D2FB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2971800" y="152400"/>
            <a:ext cx="5994400" cy="533400"/>
          </a:xfrm>
        </p:spPr>
        <p:txBody>
          <a:bodyPr>
            <a:normAutofit fontScale="90000"/>
          </a:bodyPr>
          <a:lstStyle/>
          <a:p>
            <a:pPr algn="r"/>
            <a:r>
              <a:rPr lang="en-US" altLang="ko-KR" sz="2800" dirty="0">
                <a:ea typeface="굴림" pitchFamily="50" charset="-127"/>
              </a:rPr>
              <a:t>Constructing SLR (Simple LR) parser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524000"/>
            <a:ext cx="2590800" cy="3709988"/>
          </a:xfrm>
        </p:spPr>
        <p:txBody>
          <a:bodyPr>
            <a:normAutofit/>
          </a:bodyPr>
          <a:lstStyle/>
          <a:p>
            <a:pPr marL="0" lvl="4" indent="0">
              <a:buFontTx/>
              <a:buNone/>
            </a:pPr>
            <a:r>
              <a:rPr lang="en-US" altLang="ko-KR" dirty="0">
                <a:ea typeface="굴림" pitchFamily="50" charset="-127"/>
              </a:rPr>
              <a:t>Executing a parser with the parsing table (Slide 15)</a:t>
            </a:r>
          </a:p>
          <a:p>
            <a:pPr marL="0" lvl="4" indent="0">
              <a:buFontTx/>
              <a:buNone/>
            </a:pPr>
            <a:endParaRPr lang="en-US" altLang="ko-KR" dirty="0">
              <a:ea typeface="굴림" pitchFamily="50" charset="-127"/>
            </a:endParaRPr>
          </a:p>
          <a:p>
            <a:pPr marL="0" lvl="4" indent="0">
              <a:buFontTx/>
              <a:buNone/>
            </a:pPr>
            <a:r>
              <a:rPr lang="en-US" altLang="ko-KR" dirty="0">
                <a:ea typeface="굴림" pitchFamily="50" charset="-127"/>
              </a:rPr>
              <a:t>Input : id * id + id</a:t>
            </a:r>
          </a:p>
        </p:txBody>
      </p:sp>
      <p:graphicFrame>
        <p:nvGraphicFramePr>
          <p:cNvPr id="51204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4637342"/>
              </p:ext>
            </p:extLst>
          </p:nvPr>
        </p:nvGraphicFramePr>
        <p:xfrm>
          <a:off x="3632200" y="1143000"/>
          <a:ext cx="5359401" cy="5334000"/>
        </p:xfrm>
        <a:graphic>
          <a:graphicData uri="http://schemas.openxmlformats.org/drawingml/2006/table">
            <a:tbl>
              <a:tblPr/>
              <a:tblGrid>
                <a:gridCol w="5195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01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781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560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stack</a:t>
                      </a:r>
                      <a:endParaRPr kumimoji="0" lang="en-US" altLang="ko-KR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input</a:t>
                      </a:r>
                      <a:endParaRPr kumimoji="0" lang="en-US" altLang="ko-KR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action</a:t>
                      </a:r>
                      <a:endParaRPr kumimoji="0" lang="en-US" altLang="ko-KR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1</a:t>
                      </a:r>
                      <a:endParaRPr kumimoji="0" lang="en-US" altLang="ko-KR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0$</a:t>
                      </a:r>
                      <a:endParaRPr kumimoji="0" lang="en-US" altLang="ko-KR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id * id + id$</a:t>
                      </a:r>
                      <a:endParaRPr kumimoji="0" lang="en-US" altLang="ko-KR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shift</a:t>
                      </a:r>
                      <a:endParaRPr kumimoji="0" lang="en-US" altLang="ko-KR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2</a:t>
                      </a:r>
                      <a:endParaRPr kumimoji="0" lang="en-US" altLang="ko-KR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5id0$</a:t>
                      </a:r>
                      <a:endParaRPr kumimoji="0" lang="en-US" altLang="ko-KR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* </a:t>
                      </a: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id + id$</a:t>
                      </a:r>
                      <a:endParaRPr kumimoji="0" lang="en-US" altLang="ko-KR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reduce F → id</a:t>
                      </a:r>
                      <a:endParaRPr kumimoji="0" lang="en-US" altLang="ko-KR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3</a:t>
                      </a:r>
                      <a:endParaRPr kumimoji="0" lang="en-US" altLang="ko-KR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3F0$</a:t>
                      </a:r>
                      <a:endParaRPr kumimoji="0" lang="en-US" altLang="ko-KR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* </a:t>
                      </a: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id + id$</a:t>
                      </a:r>
                      <a:endParaRPr kumimoji="0" lang="en-US" altLang="ko-KR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reduce T →</a:t>
                      </a: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한양신명조" charset="-127"/>
                        </a:rPr>
                        <a:t> </a:t>
                      </a: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 F</a:t>
                      </a:r>
                      <a:endParaRPr kumimoji="0" lang="en-US" altLang="ko-KR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4</a:t>
                      </a:r>
                      <a:endParaRPr kumimoji="0" lang="en-US" altLang="ko-KR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2T0$</a:t>
                      </a:r>
                      <a:endParaRPr kumimoji="0" lang="en-US" altLang="ko-KR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* </a:t>
                      </a: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id + id$</a:t>
                      </a:r>
                      <a:endParaRPr kumimoji="0" lang="en-US" altLang="ko-KR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shift</a:t>
                      </a:r>
                      <a:endParaRPr kumimoji="0" lang="en-US" altLang="ko-KR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5</a:t>
                      </a:r>
                      <a:endParaRPr kumimoji="0" lang="en-US" altLang="ko-KR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7*2T0$</a:t>
                      </a:r>
                      <a:endParaRPr kumimoji="0" lang="en-US" altLang="ko-KR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id + id$</a:t>
                      </a:r>
                      <a:endParaRPr kumimoji="0" lang="en-US" altLang="ko-KR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shift</a:t>
                      </a:r>
                      <a:endParaRPr kumimoji="0" lang="en-US" altLang="ko-KR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6</a:t>
                      </a:r>
                      <a:endParaRPr kumimoji="0" lang="en-US" altLang="ko-KR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5id7*2T0$</a:t>
                      </a:r>
                      <a:endParaRPr kumimoji="0" lang="en-US" altLang="ko-KR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+ id$</a:t>
                      </a:r>
                      <a:endParaRPr kumimoji="0" lang="en-US" altLang="ko-KR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reduce F →</a:t>
                      </a: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한양신명조" charset="-127"/>
                        </a:rPr>
                        <a:t> </a:t>
                      </a: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 id</a:t>
                      </a:r>
                      <a:endParaRPr kumimoji="0" lang="en-US" altLang="ko-KR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7</a:t>
                      </a:r>
                      <a:endParaRPr kumimoji="0" lang="en-US" altLang="ko-KR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10F7*2T0$</a:t>
                      </a:r>
                      <a:endParaRPr kumimoji="0" lang="en-US" altLang="ko-KR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+ id$</a:t>
                      </a:r>
                      <a:endParaRPr kumimoji="0" lang="en-US" altLang="ko-KR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reduce T</a:t>
                      </a: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한양신명조" charset="-127"/>
                        </a:rPr>
                        <a:t> </a:t>
                      </a: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 →</a:t>
                      </a: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한양신명조" charset="-127"/>
                        </a:rPr>
                        <a:t> </a:t>
                      </a: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 T * F</a:t>
                      </a:r>
                      <a:endParaRPr kumimoji="0" lang="en-US" altLang="ko-KR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8</a:t>
                      </a:r>
                      <a:endParaRPr kumimoji="0" lang="en-US" altLang="ko-KR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2T0$</a:t>
                      </a:r>
                      <a:endParaRPr kumimoji="0" lang="en-US" altLang="ko-KR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+ id$</a:t>
                      </a:r>
                      <a:endParaRPr kumimoji="0" lang="en-US" altLang="ko-KR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reduce E</a:t>
                      </a: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한양신명조" charset="-127"/>
                        </a:rPr>
                        <a:t> </a:t>
                      </a: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 →</a:t>
                      </a: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한양신명조" charset="-127"/>
                        </a:rPr>
                        <a:t> </a:t>
                      </a: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 T</a:t>
                      </a:r>
                      <a:endParaRPr kumimoji="0" lang="en-US" altLang="ko-KR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9</a:t>
                      </a:r>
                      <a:endParaRPr kumimoji="0" lang="en-US" altLang="ko-KR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1E0$</a:t>
                      </a:r>
                      <a:endParaRPr kumimoji="0" lang="en-US" altLang="ko-KR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+ id$</a:t>
                      </a:r>
                      <a:endParaRPr kumimoji="0" lang="en-US" altLang="ko-KR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shift</a:t>
                      </a:r>
                      <a:endParaRPr kumimoji="0" lang="en-US" altLang="ko-KR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10</a:t>
                      </a:r>
                      <a:endParaRPr kumimoji="0" lang="en-US" altLang="ko-KR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6+1E0$</a:t>
                      </a:r>
                      <a:endParaRPr kumimoji="0" lang="en-US" altLang="ko-KR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 id$</a:t>
                      </a:r>
                      <a:endParaRPr kumimoji="0" lang="en-US" altLang="ko-KR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shift</a:t>
                      </a:r>
                      <a:endParaRPr kumimoji="0" lang="en-US" altLang="ko-KR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11</a:t>
                      </a:r>
                      <a:endParaRPr kumimoji="0" lang="en-US" altLang="ko-KR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5 id6+1E0$</a:t>
                      </a:r>
                      <a:endParaRPr kumimoji="0" lang="en-US" altLang="ko-KR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$</a:t>
                      </a:r>
                      <a:endParaRPr kumimoji="0" lang="en-US" altLang="ko-KR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reduce F</a:t>
                      </a: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한양신명조" charset="-127"/>
                        </a:rPr>
                        <a:t> </a:t>
                      </a: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 →</a:t>
                      </a: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한양신명조" charset="-127"/>
                        </a:rPr>
                        <a:t> </a:t>
                      </a: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 id</a:t>
                      </a:r>
                      <a:endParaRPr kumimoji="0" lang="en-US" altLang="ko-KR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12</a:t>
                      </a:r>
                      <a:endParaRPr kumimoji="0" lang="en-US" altLang="ko-KR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3F6+1E0$</a:t>
                      </a:r>
                      <a:endParaRPr kumimoji="0" lang="en-US" altLang="ko-KR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$</a:t>
                      </a:r>
                      <a:endParaRPr kumimoji="0" lang="en-US" altLang="ko-KR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reduce T</a:t>
                      </a: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한양신명조" charset="-127"/>
                        </a:rPr>
                        <a:t> </a:t>
                      </a: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 →</a:t>
                      </a: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한양신명조" charset="-127"/>
                        </a:rPr>
                        <a:t> </a:t>
                      </a: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 F</a:t>
                      </a:r>
                      <a:endParaRPr kumimoji="0" lang="en-US" altLang="ko-KR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13</a:t>
                      </a:r>
                      <a:endParaRPr kumimoji="0" lang="en-US" altLang="ko-KR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9T6+1E0$</a:t>
                      </a:r>
                      <a:endParaRPr kumimoji="0" lang="en-US" altLang="ko-KR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$</a:t>
                      </a:r>
                      <a:endParaRPr kumimoji="0" lang="en-US" altLang="ko-KR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reduce E</a:t>
                      </a: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한양신명조" charset="-127"/>
                        </a:rPr>
                        <a:t> </a:t>
                      </a: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 →</a:t>
                      </a: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한양신명조" charset="-127"/>
                        </a:rPr>
                        <a:t> </a:t>
                      </a: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 E + T</a:t>
                      </a:r>
                      <a:endParaRPr kumimoji="0" lang="en-US" altLang="ko-KR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14</a:t>
                      </a:r>
                      <a:endParaRPr kumimoji="0" lang="en-US" altLang="ko-KR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1E0$</a:t>
                      </a:r>
                      <a:endParaRPr kumimoji="0" lang="en-US" altLang="ko-KR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$</a:t>
                      </a:r>
                      <a:endParaRPr kumimoji="0" lang="en-US" altLang="ko-KR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accept</a:t>
                      </a:r>
                      <a:endParaRPr kumimoji="0" lang="en-US" altLang="ko-KR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6" name="Date Placeholder 3"/>
          <p:cNvSpPr>
            <a:spLocks noGrp="1"/>
          </p:cNvSpPr>
          <p:nvPr>
            <p:ph type="dt" sz="quarter" idx="10"/>
          </p:nvPr>
        </p:nvSpPr>
        <p:spPr>
          <a:xfrm>
            <a:off x="304800" y="6381750"/>
            <a:ext cx="2133600" cy="476250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Bina</a:t>
            </a:r>
            <a:r>
              <a:rPr lang="en-US" dirty="0"/>
              <a:t> Nusantara University</a:t>
            </a:r>
          </a:p>
        </p:txBody>
      </p:sp>
      <p:sp>
        <p:nvSpPr>
          <p:cNvPr id="2056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4C7572B-4CE4-4423-98B5-3ED7DD1D0577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2762672" y="324654"/>
            <a:ext cx="5924128" cy="838200"/>
          </a:xfrm>
        </p:spPr>
        <p:txBody>
          <a:bodyPr>
            <a:normAutofit fontScale="90000"/>
          </a:bodyPr>
          <a:lstStyle/>
          <a:p>
            <a:pPr algn="r"/>
            <a:r>
              <a:rPr lang="en-US" altLang="ko-KR" sz="2800" dirty="0">
                <a:ea typeface="굴림" pitchFamily="50" charset="-127"/>
              </a:rPr>
              <a:t>Stack Implementation of </a:t>
            </a:r>
            <a:br>
              <a:rPr lang="en-US" altLang="ko-KR" sz="2800" dirty="0">
                <a:ea typeface="굴림" pitchFamily="50" charset="-127"/>
              </a:rPr>
            </a:br>
            <a:r>
              <a:rPr lang="en-US" altLang="ko-KR" sz="2800" dirty="0">
                <a:ea typeface="굴림" pitchFamily="50" charset="-127"/>
              </a:rPr>
              <a:t>Shift-Reduce Parsing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71600" y="1676400"/>
            <a:ext cx="7315200" cy="4267200"/>
          </a:xfrm>
        </p:spPr>
        <p:txBody>
          <a:bodyPr>
            <a:normAutofit/>
          </a:bodyPr>
          <a:lstStyle/>
          <a:p>
            <a:pPr algn="just">
              <a:lnSpc>
                <a:spcPct val="90000"/>
              </a:lnSpc>
            </a:pPr>
            <a:r>
              <a:rPr lang="en-US" altLang="ko-KR" sz="2800" dirty="0">
                <a:ea typeface="굴림" pitchFamily="50" charset="-127"/>
              </a:rPr>
              <a:t>Shift </a:t>
            </a:r>
          </a:p>
          <a:p>
            <a:pPr lvl="1" algn="just">
              <a:lnSpc>
                <a:spcPct val="90000"/>
              </a:lnSpc>
            </a:pPr>
            <a:r>
              <a:rPr lang="en-US" altLang="ko-KR" sz="2400" dirty="0">
                <a:ea typeface="굴림" pitchFamily="50" charset="-127"/>
              </a:rPr>
              <a:t>Next input symbol is shifted onto the top of the stack </a:t>
            </a:r>
          </a:p>
          <a:p>
            <a:pPr algn="just">
              <a:lnSpc>
                <a:spcPct val="90000"/>
              </a:lnSpc>
            </a:pPr>
            <a:r>
              <a:rPr lang="en-US" altLang="ko-KR" sz="2800" dirty="0">
                <a:ea typeface="굴림" pitchFamily="50" charset="-127"/>
              </a:rPr>
              <a:t>Reduce </a:t>
            </a:r>
          </a:p>
          <a:p>
            <a:pPr lvl="1" algn="just">
              <a:lnSpc>
                <a:spcPct val="90000"/>
              </a:lnSpc>
            </a:pPr>
            <a:r>
              <a:rPr lang="en-US" altLang="ko-KR" sz="2400" dirty="0">
                <a:ea typeface="굴림" pitchFamily="50" charset="-127"/>
              </a:rPr>
              <a:t>A handle on the stack is replaced by the corresponding non-terminal (A handle always appears on the top of the stack) </a:t>
            </a:r>
          </a:p>
          <a:p>
            <a:pPr algn="just">
              <a:lnSpc>
                <a:spcPct val="90000"/>
              </a:lnSpc>
            </a:pPr>
            <a:r>
              <a:rPr lang="en-US" altLang="ko-KR" sz="2800" dirty="0">
                <a:ea typeface="굴림" pitchFamily="50" charset="-127"/>
              </a:rPr>
              <a:t>Accept </a:t>
            </a:r>
          </a:p>
          <a:p>
            <a:pPr lvl="1" algn="just">
              <a:lnSpc>
                <a:spcPct val="90000"/>
              </a:lnSpc>
            </a:pPr>
            <a:r>
              <a:rPr lang="en-US" altLang="ko-KR" sz="2400" dirty="0">
                <a:ea typeface="굴림" pitchFamily="50" charset="-127"/>
              </a:rPr>
              <a:t>Announce the successful completion </a:t>
            </a:r>
          </a:p>
        </p:txBody>
      </p:sp>
      <p:sp>
        <p:nvSpPr>
          <p:cNvPr id="1031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F7857A3-3675-4802-8723-2C3D33813476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3760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2692400" y="381000"/>
            <a:ext cx="5994400" cy="457200"/>
          </a:xfrm>
        </p:spPr>
        <p:txBody>
          <a:bodyPr>
            <a:normAutofit fontScale="90000"/>
          </a:bodyPr>
          <a:lstStyle/>
          <a:p>
            <a:pPr algn="r"/>
            <a:r>
              <a:rPr lang="en-US" altLang="ko-KR" sz="2800" dirty="0">
                <a:ea typeface="굴림" pitchFamily="50" charset="-127"/>
              </a:rPr>
              <a:t>Viable Prefix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19200" y="1524000"/>
            <a:ext cx="7467600" cy="4572000"/>
          </a:xfrm>
        </p:spPr>
        <p:txBody>
          <a:bodyPr>
            <a:normAutofit/>
          </a:bodyPr>
          <a:lstStyle/>
          <a:p>
            <a:pPr algn="just">
              <a:lnSpc>
                <a:spcPct val="90000"/>
              </a:lnSpc>
            </a:pPr>
            <a:r>
              <a:rPr lang="en-US" altLang="ko-KR" sz="1800" dirty="0">
                <a:ea typeface="굴림" pitchFamily="50" charset="-127"/>
              </a:rPr>
              <a:t>The LR(0) automaton for a grammar characterizes the strings of grammar symbols that can appear on the stack of shift-reduce parser for the grammar.</a:t>
            </a:r>
          </a:p>
          <a:p>
            <a:pPr algn="just">
              <a:lnSpc>
                <a:spcPct val="90000"/>
              </a:lnSpc>
            </a:pPr>
            <a:endParaRPr lang="en-US" altLang="ko-KR" sz="1800" dirty="0">
              <a:ea typeface="굴림" pitchFamily="50" charset="-127"/>
            </a:endParaRPr>
          </a:p>
          <a:p>
            <a:pPr algn="just">
              <a:lnSpc>
                <a:spcPct val="90000"/>
              </a:lnSpc>
            </a:pPr>
            <a:r>
              <a:rPr lang="en-US" altLang="ko-KR" sz="1800" dirty="0">
                <a:ea typeface="굴림" pitchFamily="50" charset="-127"/>
              </a:rPr>
              <a:t>The stack contents must be a prefix of a right sentential form. If the stack holds </a:t>
            </a:r>
            <a:r>
              <a:rPr lang="en-US" altLang="ko-KR" sz="1800" b="1" dirty="0">
                <a:latin typeface="Symbol" pitchFamily="2" charset="2"/>
                <a:ea typeface="굴림" pitchFamily="50" charset="-127"/>
              </a:rPr>
              <a:t>a</a:t>
            </a:r>
            <a:r>
              <a:rPr lang="en-US" altLang="ko-KR" sz="1800" b="1" dirty="0">
                <a:ea typeface="굴림" pitchFamily="50" charset="-127"/>
              </a:rPr>
              <a:t> </a:t>
            </a:r>
            <a:r>
              <a:rPr lang="en-US" altLang="ko-KR" sz="1800" dirty="0">
                <a:ea typeface="굴림" pitchFamily="50" charset="-127"/>
              </a:rPr>
              <a:t>and the rest of the input is </a:t>
            </a:r>
            <a:r>
              <a:rPr lang="en-US" altLang="ko-KR" sz="1800" b="1" dirty="0">
                <a:ea typeface="굴림" pitchFamily="50" charset="-127"/>
              </a:rPr>
              <a:t>x</a:t>
            </a:r>
            <a:r>
              <a:rPr lang="en-US" altLang="ko-KR" sz="1800" dirty="0">
                <a:ea typeface="굴림" pitchFamily="50" charset="-127"/>
              </a:rPr>
              <a:t>, then a sequence of reduction will take </a:t>
            </a:r>
            <a:r>
              <a:rPr lang="en-US" altLang="ko-KR" sz="1800" b="1" dirty="0">
                <a:latin typeface="Symbol" pitchFamily="2" charset="2"/>
                <a:ea typeface="굴림" pitchFamily="50" charset="-127"/>
              </a:rPr>
              <a:t>a</a:t>
            </a:r>
            <a:r>
              <a:rPr lang="en-US" altLang="ko-KR" sz="18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x </a:t>
            </a:r>
            <a:r>
              <a:rPr lang="en-US" altLang="ko-KR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 </a:t>
            </a:r>
            <a:r>
              <a:rPr lang="en-US" altLang="ko-KR" sz="18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</a:t>
            </a:r>
            <a:r>
              <a:rPr lang="en-US" altLang="ko-KR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In term of derivation </a:t>
            </a:r>
            <a:r>
              <a:rPr lang="en-US" altLang="ko-KR" sz="18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 ⇒ </a:t>
            </a:r>
            <a:r>
              <a:rPr lang="en-US" altLang="ko-KR" sz="1800" b="1" dirty="0">
                <a:latin typeface="Symbol" pitchFamily="2" charset="2"/>
                <a:ea typeface="굴림" pitchFamily="50" charset="-127"/>
              </a:rPr>
              <a:t>a</a:t>
            </a:r>
            <a:r>
              <a:rPr lang="en-US" altLang="ko-KR" sz="18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x </a:t>
            </a:r>
            <a:endParaRPr lang="en-US" altLang="ko-KR" sz="1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just">
              <a:lnSpc>
                <a:spcPct val="90000"/>
              </a:lnSpc>
            </a:pPr>
            <a:endParaRPr lang="en-US" altLang="ko-KR" sz="1800" dirty="0">
              <a:ea typeface="굴림" pitchFamily="50" charset="-127"/>
            </a:endParaRPr>
          </a:p>
          <a:p>
            <a:pPr algn="just">
              <a:lnSpc>
                <a:spcPct val="90000"/>
              </a:lnSpc>
            </a:pPr>
            <a:r>
              <a:rPr lang="en-US" altLang="ko-KR" sz="1800" dirty="0">
                <a:ea typeface="굴림" pitchFamily="50" charset="-127"/>
              </a:rPr>
              <a:t>The prefix of a right sentential forms that can appear on the top of the stack of the shift-reduce parser are called </a:t>
            </a:r>
            <a:r>
              <a:rPr lang="en-US" altLang="ko-KR" sz="1800" b="1" dirty="0">
                <a:ea typeface="굴림" pitchFamily="50" charset="-127"/>
              </a:rPr>
              <a:t>Viable Prefix</a:t>
            </a:r>
            <a:r>
              <a:rPr lang="en-US" altLang="ko-KR" sz="1800" dirty="0">
                <a:ea typeface="굴림" pitchFamily="50" charset="-127"/>
              </a:rPr>
              <a:t>.</a:t>
            </a:r>
            <a:endParaRPr lang="en-US" altLang="ko-KR" sz="1800" b="1" dirty="0">
              <a:ea typeface="굴림" pitchFamily="50" charset="-127"/>
            </a:endParaRPr>
          </a:p>
          <a:p>
            <a:pPr algn="just">
              <a:lnSpc>
                <a:spcPct val="90000"/>
              </a:lnSpc>
            </a:pPr>
            <a:endParaRPr lang="en-US" altLang="ko-KR" sz="1800" dirty="0">
              <a:ea typeface="굴림" pitchFamily="50" charset="-127"/>
            </a:endParaRPr>
          </a:p>
          <a:p>
            <a:pPr algn="just">
              <a:lnSpc>
                <a:spcPct val="90000"/>
              </a:lnSpc>
            </a:pPr>
            <a:r>
              <a:rPr lang="en-US" altLang="ko-KR" sz="1800" dirty="0">
                <a:ea typeface="굴림" pitchFamily="50" charset="-127"/>
              </a:rPr>
              <a:t>A viable prefix is a prefix of a right sentential form that does not continue past the right end of the rightmost handle of sentential form.</a:t>
            </a:r>
          </a:p>
          <a:p>
            <a:pPr algn="just">
              <a:lnSpc>
                <a:spcPct val="90000"/>
              </a:lnSpc>
            </a:pPr>
            <a:endParaRPr lang="en-US" altLang="ko-KR" sz="1800" dirty="0">
              <a:ea typeface="굴림" pitchFamily="50" charset="-127"/>
            </a:endParaRPr>
          </a:p>
        </p:txBody>
      </p:sp>
      <p:sp>
        <p:nvSpPr>
          <p:cNvPr id="5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Bina</a:t>
            </a:r>
            <a:r>
              <a:rPr lang="en-US" dirty="0"/>
              <a:t> Nusantara University</a:t>
            </a:r>
          </a:p>
        </p:txBody>
      </p:sp>
      <p:sp>
        <p:nvSpPr>
          <p:cNvPr id="1331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7F18DE7-BC39-45F7-93CD-48A91FC4E5C4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0E58866-777F-6D47-882A-EB2292B1452B}"/>
              </a:ext>
            </a:extLst>
          </p:cNvPr>
          <p:cNvSpPr txBox="1"/>
          <p:nvPr/>
        </p:nvSpPr>
        <p:spPr>
          <a:xfrm>
            <a:off x="7086600" y="3048000"/>
            <a:ext cx="457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</a:t>
            </a:r>
          </a:p>
          <a:p>
            <a:r>
              <a:rPr lang="en-US" dirty="0"/>
              <a:t>rm</a:t>
            </a:r>
          </a:p>
        </p:txBody>
      </p:sp>
    </p:spTree>
    <p:extLst>
      <p:ext uri="{BB962C8B-B14F-4D97-AF65-F5344CB8AC3E}">
        <p14:creationId xmlns:p14="http://schemas.microsoft.com/office/powerpoint/2010/main" val="2746845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2971800" y="228600"/>
            <a:ext cx="6000328" cy="762000"/>
          </a:xfrm>
        </p:spPr>
        <p:txBody>
          <a:bodyPr/>
          <a:lstStyle/>
          <a:p>
            <a:r>
              <a:rPr lang="en-US" altLang="ko-KR" sz="2400" dirty="0">
                <a:ea typeface="굴림" pitchFamily="50" charset="-127"/>
              </a:rPr>
              <a:t>Conflict During Shift-Reduce Parsing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43000" y="1676400"/>
            <a:ext cx="7772400" cy="4876800"/>
          </a:xfrm>
        </p:spPr>
        <p:txBody>
          <a:bodyPr>
            <a:normAutofit/>
          </a:bodyPr>
          <a:lstStyle/>
          <a:p>
            <a:pPr algn="just"/>
            <a:r>
              <a:rPr lang="en-US" altLang="ko-KR" sz="2200" dirty="0">
                <a:ea typeface="굴림" pitchFamily="50" charset="-127"/>
              </a:rPr>
              <a:t>Shift/Reduce conflict </a:t>
            </a:r>
          </a:p>
          <a:p>
            <a:pPr lvl="1" algn="just"/>
            <a:r>
              <a:rPr lang="en-US" altLang="ko-KR" sz="2200" dirty="0">
                <a:ea typeface="굴림" pitchFamily="50" charset="-127"/>
              </a:rPr>
              <a:t>Cannot decide shift or reduce </a:t>
            </a:r>
          </a:p>
          <a:p>
            <a:pPr algn="just"/>
            <a:r>
              <a:rPr lang="en-US" altLang="ko-KR" sz="2200" dirty="0">
                <a:ea typeface="굴림" pitchFamily="50" charset="-127"/>
              </a:rPr>
              <a:t>Reduce/Reduce conflict </a:t>
            </a:r>
          </a:p>
          <a:p>
            <a:pPr lvl="1" algn="just"/>
            <a:r>
              <a:rPr lang="en-US" altLang="ko-KR" sz="2200" dirty="0">
                <a:ea typeface="굴림" pitchFamily="50" charset="-127"/>
              </a:rPr>
              <a:t>Cannot decide which production to use for reduce </a:t>
            </a:r>
          </a:p>
          <a:p>
            <a:pPr algn="just"/>
            <a:r>
              <a:rPr lang="en-US" altLang="ko-KR" sz="2200" dirty="0">
                <a:ea typeface="굴림" pitchFamily="50" charset="-127"/>
              </a:rPr>
              <a:t>e.g. </a:t>
            </a:r>
          </a:p>
          <a:p>
            <a:pPr lvl="1" algn="just"/>
            <a:r>
              <a:rPr lang="en-US" altLang="ko-KR" sz="2200" dirty="0" err="1">
                <a:ea typeface="굴림" pitchFamily="50" charset="-127"/>
              </a:rPr>
              <a:t>stmt</a:t>
            </a:r>
            <a:r>
              <a:rPr lang="en-US" altLang="ko-KR" sz="2200" dirty="0">
                <a:ea typeface="굴림" pitchFamily="50" charset="-127"/>
              </a:rPr>
              <a:t> → if </a:t>
            </a:r>
            <a:r>
              <a:rPr lang="en-US" altLang="ko-KR" sz="2200" dirty="0" err="1">
                <a:ea typeface="굴림" pitchFamily="50" charset="-127"/>
              </a:rPr>
              <a:t>expr</a:t>
            </a:r>
            <a:r>
              <a:rPr lang="en-US" altLang="ko-KR" sz="2200" dirty="0">
                <a:ea typeface="굴림" pitchFamily="50" charset="-127"/>
              </a:rPr>
              <a:t> then </a:t>
            </a:r>
            <a:r>
              <a:rPr lang="en-US" altLang="ko-KR" sz="2200" dirty="0" err="1">
                <a:ea typeface="굴림" pitchFamily="50" charset="-127"/>
              </a:rPr>
              <a:t>stmt</a:t>
            </a:r>
            <a:r>
              <a:rPr lang="en-US" altLang="ko-KR" sz="2200" dirty="0">
                <a:ea typeface="굴림" pitchFamily="50" charset="-127"/>
              </a:rPr>
              <a:t> </a:t>
            </a:r>
          </a:p>
          <a:p>
            <a:pPr lvl="1" algn="just">
              <a:buFontTx/>
              <a:buNone/>
            </a:pPr>
            <a:r>
              <a:rPr lang="en-US" altLang="ko-KR" sz="2200" dirty="0">
                <a:ea typeface="굴림" pitchFamily="50" charset="-127"/>
              </a:rPr>
              <a:t>	| if </a:t>
            </a:r>
            <a:r>
              <a:rPr lang="en-US" altLang="ko-KR" sz="2200" dirty="0" err="1">
                <a:ea typeface="굴림" pitchFamily="50" charset="-127"/>
              </a:rPr>
              <a:t>expr</a:t>
            </a:r>
            <a:r>
              <a:rPr lang="en-US" altLang="ko-KR" sz="2200" dirty="0">
                <a:ea typeface="굴림" pitchFamily="50" charset="-127"/>
              </a:rPr>
              <a:t> then </a:t>
            </a:r>
            <a:r>
              <a:rPr lang="en-US" altLang="ko-KR" sz="2200" dirty="0" err="1">
                <a:ea typeface="굴림" pitchFamily="50" charset="-127"/>
              </a:rPr>
              <a:t>stmt</a:t>
            </a:r>
            <a:r>
              <a:rPr lang="en-US" altLang="ko-KR" sz="2200" dirty="0">
                <a:ea typeface="굴림" pitchFamily="50" charset="-127"/>
              </a:rPr>
              <a:t> else </a:t>
            </a:r>
            <a:r>
              <a:rPr lang="en-US" altLang="ko-KR" sz="2200" dirty="0" err="1">
                <a:ea typeface="굴림" pitchFamily="50" charset="-127"/>
              </a:rPr>
              <a:t>stmt</a:t>
            </a:r>
            <a:r>
              <a:rPr lang="en-US" altLang="ko-KR" sz="2200" dirty="0">
                <a:ea typeface="굴림" pitchFamily="50" charset="-127"/>
              </a:rPr>
              <a:t> </a:t>
            </a:r>
          </a:p>
          <a:p>
            <a:pPr lvl="1" algn="just">
              <a:buFontTx/>
              <a:buNone/>
            </a:pPr>
            <a:r>
              <a:rPr lang="en-US" altLang="ko-KR" sz="2200" dirty="0">
                <a:ea typeface="굴림" pitchFamily="50" charset="-127"/>
              </a:rPr>
              <a:t>	| other </a:t>
            </a:r>
          </a:p>
          <a:p>
            <a:pPr lvl="1" algn="just">
              <a:buFontTx/>
              <a:buNone/>
            </a:pPr>
            <a:endParaRPr lang="en-US" altLang="ko-KR" sz="2200" dirty="0">
              <a:ea typeface="굴림" pitchFamily="50" charset="-127"/>
            </a:endParaRPr>
          </a:p>
          <a:p>
            <a:pPr marL="6350" lvl="1" indent="-6350" algn="just">
              <a:buFontTx/>
              <a:buNone/>
            </a:pPr>
            <a:r>
              <a:rPr lang="en-US" altLang="ko-KR" sz="2200" dirty="0">
                <a:ea typeface="굴림" pitchFamily="50" charset="-127"/>
              </a:rPr>
              <a:t>stack has a handle "</a:t>
            </a:r>
            <a:r>
              <a:rPr lang="en-US" altLang="ko-KR" sz="2200" b="1" dirty="0">
                <a:ea typeface="굴림" pitchFamily="50" charset="-127"/>
              </a:rPr>
              <a:t>if </a:t>
            </a:r>
            <a:r>
              <a:rPr lang="en-US" altLang="ko-KR" sz="2200" b="1" dirty="0" err="1">
                <a:ea typeface="굴림" pitchFamily="50" charset="-127"/>
              </a:rPr>
              <a:t>expr</a:t>
            </a:r>
            <a:r>
              <a:rPr lang="en-US" altLang="ko-KR" sz="2200" b="1" dirty="0">
                <a:ea typeface="굴림" pitchFamily="50" charset="-127"/>
              </a:rPr>
              <a:t> them </a:t>
            </a:r>
            <a:r>
              <a:rPr lang="en-US" altLang="ko-KR" sz="2200" b="1" dirty="0" err="1">
                <a:ea typeface="굴림" pitchFamily="50" charset="-127"/>
              </a:rPr>
              <a:t>stmt</a:t>
            </a:r>
            <a:r>
              <a:rPr lang="en-US" altLang="ko-KR" sz="2200" b="1" dirty="0">
                <a:ea typeface="굴림" pitchFamily="50" charset="-127"/>
              </a:rPr>
              <a:t>"  : </a:t>
            </a:r>
            <a:r>
              <a:rPr lang="en-US" altLang="ko-KR" sz="2200" dirty="0">
                <a:ea typeface="굴림" pitchFamily="50" charset="-127"/>
              </a:rPr>
              <a:t>shift/reduce conflict </a:t>
            </a:r>
          </a:p>
          <a:p>
            <a:pPr algn="just">
              <a:buFontTx/>
              <a:buNone/>
            </a:pPr>
            <a:endParaRPr lang="en-US" altLang="ko-KR" sz="2200" dirty="0">
              <a:ea typeface="굴림" pitchFamily="50" charset="-127"/>
            </a:endParaRPr>
          </a:p>
        </p:txBody>
      </p:sp>
      <p:sp>
        <p:nvSpPr>
          <p:cNvPr id="5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Bina</a:t>
            </a:r>
            <a:r>
              <a:rPr lang="en-US" dirty="0"/>
              <a:t> Nusantara University</a:t>
            </a:r>
          </a:p>
        </p:txBody>
      </p:sp>
      <p:sp>
        <p:nvSpPr>
          <p:cNvPr id="1126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542D45B-EBDB-4ED5-8589-83BF68206FDD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8737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2895600" y="152400"/>
            <a:ext cx="6117432" cy="533400"/>
          </a:xfrm>
        </p:spPr>
        <p:txBody>
          <a:bodyPr>
            <a:normAutofit fontScale="90000"/>
          </a:bodyPr>
          <a:lstStyle/>
          <a:p>
            <a:r>
              <a:rPr lang="en-US" altLang="ko-KR" sz="2800" dirty="0">
                <a:ea typeface="굴림" pitchFamily="50" charset="-127"/>
              </a:rPr>
              <a:t>Constructing SLR (Simple LR</a:t>
            </a:r>
            <a:r>
              <a:rPr lang="en-US" altLang="ko-KR" sz="2800">
                <a:ea typeface="굴림" pitchFamily="50" charset="-127"/>
              </a:rPr>
              <a:t>) parser</a:t>
            </a:r>
            <a:endParaRPr lang="en-US" altLang="ko-KR" sz="2800" dirty="0">
              <a:ea typeface="굴림" pitchFamily="50" charset="-127"/>
            </a:endParaRP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56480" y="1524000"/>
            <a:ext cx="7858919" cy="1981200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altLang="ko-KR" dirty="0">
                <a:ea typeface="굴림" pitchFamily="50" charset="-127"/>
              </a:rPr>
              <a:t>A grammar that is not ambiguous, not SLR(1) :</a:t>
            </a:r>
          </a:p>
          <a:p>
            <a:pPr marL="0" indent="0" algn="just">
              <a:buNone/>
            </a:pPr>
            <a:r>
              <a:rPr lang="en-US" altLang="ko-KR" dirty="0">
                <a:ea typeface="굴림" pitchFamily="50" charset="-127"/>
              </a:rPr>
              <a:t>S → L = R </a:t>
            </a:r>
          </a:p>
          <a:p>
            <a:pPr marL="0" indent="0" algn="just">
              <a:buNone/>
            </a:pPr>
            <a:r>
              <a:rPr lang="en-US" altLang="ko-KR" dirty="0">
                <a:ea typeface="굴림" pitchFamily="50" charset="-127"/>
              </a:rPr>
              <a:t>S → R </a:t>
            </a:r>
          </a:p>
          <a:p>
            <a:pPr marL="0" indent="0" algn="just">
              <a:buNone/>
            </a:pPr>
            <a:r>
              <a:rPr lang="en-US" altLang="ko-KR" dirty="0">
                <a:ea typeface="굴림" pitchFamily="50" charset="-127"/>
              </a:rPr>
              <a:t>L → * R </a:t>
            </a:r>
          </a:p>
          <a:p>
            <a:pPr marL="0" indent="0" algn="just">
              <a:buNone/>
            </a:pPr>
            <a:r>
              <a:rPr lang="en-US" altLang="ko-KR" dirty="0">
                <a:ea typeface="굴림" pitchFamily="50" charset="-127"/>
              </a:rPr>
              <a:t>L → id</a:t>
            </a:r>
          </a:p>
          <a:p>
            <a:pPr marL="0" indent="0" algn="just">
              <a:buNone/>
            </a:pPr>
            <a:r>
              <a:rPr lang="en-US" altLang="ko-KR" dirty="0">
                <a:ea typeface="굴림" pitchFamily="50" charset="-127"/>
              </a:rPr>
              <a:t>R → L </a:t>
            </a:r>
          </a:p>
        </p:txBody>
      </p:sp>
      <p:sp>
        <p:nvSpPr>
          <p:cNvPr id="16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Bina</a:t>
            </a:r>
            <a:r>
              <a:rPr lang="en-US" dirty="0"/>
              <a:t> Nusantara University</a:t>
            </a:r>
          </a:p>
        </p:txBody>
      </p:sp>
      <p:sp>
        <p:nvSpPr>
          <p:cNvPr id="2151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A52E1F1-C9A5-4467-818A-904DFC146551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670811" y="3549402"/>
            <a:ext cx="1905000" cy="2139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900" dirty="0">
                <a:latin typeface="Open Sans"/>
                <a:ea typeface="굴림" pitchFamily="50" charset="-127"/>
                <a:sym typeface="Symbol"/>
              </a:rPr>
              <a:t>I2 :</a:t>
            </a:r>
          </a:p>
          <a:p>
            <a:r>
              <a:rPr lang="en-US" altLang="ko-KR" sz="1900" dirty="0">
                <a:latin typeface="Open Sans"/>
                <a:ea typeface="굴림" pitchFamily="50" charset="-127"/>
              </a:rPr>
              <a:t>S </a:t>
            </a:r>
            <a:r>
              <a:rPr lang="en-US" altLang="ko-KR" sz="1900" dirty="0">
                <a:latin typeface="Open Sans"/>
                <a:ea typeface="굴림" pitchFamily="50" charset="-127"/>
                <a:sym typeface="Wingdings" pitchFamily="2" charset="2"/>
              </a:rPr>
              <a:t> </a:t>
            </a:r>
            <a:r>
              <a:rPr lang="en-US" altLang="ko-KR" sz="1900" dirty="0">
                <a:latin typeface="Open Sans"/>
                <a:ea typeface="굴림" pitchFamily="50" charset="-127"/>
              </a:rPr>
              <a:t>L</a:t>
            </a:r>
            <a:r>
              <a:rPr lang="en-US" altLang="ko-KR" sz="1900" dirty="0">
                <a:latin typeface="Open Sans"/>
                <a:ea typeface="굴림" pitchFamily="50" charset="-127"/>
                <a:sym typeface="Symbol"/>
              </a:rPr>
              <a:t> </a:t>
            </a:r>
            <a:r>
              <a:rPr lang="en-US" altLang="ko-KR" sz="1900" dirty="0">
                <a:latin typeface="Open Sans"/>
                <a:ea typeface="굴림" pitchFamily="50" charset="-127"/>
              </a:rPr>
              <a:t> = R</a:t>
            </a:r>
          </a:p>
          <a:p>
            <a:r>
              <a:rPr lang="en-US" altLang="ko-KR" sz="1900" dirty="0">
                <a:latin typeface="Open Sans"/>
                <a:ea typeface="굴림" pitchFamily="50" charset="-127"/>
              </a:rPr>
              <a:t>R </a:t>
            </a:r>
            <a:r>
              <a:rPr lang="en-US" altLang="ko-KR" sz="1900" dirty="0">
                <a:latin typeface="Open Sans"/>
                <a:ea typeface="굴림" pitchFamily="50" charset="-127"/>
                <a:sym typeface="Wingdings" pitchFamily="2" charset="2"/>
              </a:rPr>
              <a:t> </a:t>
            </a:r>
            <a:r>
              <a:rPr lang="en-US" altLang="ko-KR" sz="1900" dirty="0">
                <a:latin typeface="Open Sans"/>
                <a:ea typeface="굴림" pitchFamily="50" charset="-127"/>
              </a:rPr>
              <a:t>L</a:t>
            </a:r>
            <a:r>
              <a:rPr lang="en-US" altLang="ko-KR" sz="1900" dirty="0">
                <a:latin typeface="Open Sans"/>
                <a:ea typeface="굴림" pitchFamily="50" charset="-127"/>
                <a:sym typeface="Symbol"/>
              </a:rPr>
              <a:t> </a:t>
            </a:r>
          </a:p>
          <a:p>
            <a:endParaRPr lang="en-US" altLang="ko-KR" sz="1900" dirty="0">
              <a:latin typeface="Open Sans"/>
              <a:ea typeface="굴림" pitchFamily="50" charset="-127"/>
              <a:sym typeface="Symbol"/>
            </a:endParaRPr>
          </a:p>
          <a:p>
            <a:r>
              <a:rPr lang="en-US" altLang="ko-KR" sz="1900" dirty="0">
                <a:latin typeface="Open Sans"/>
                <a:ea typeface="굴림" pitchFamily="50" charset="-127"/>
                <a:sym typeface="Symbol"/>
              </a:rPr>
              <a:t>I3:</a:t>
            </a:r>
          </a:p>
          <a:p>
            <a:r>
              <a:rPr lang="en-US" altLang="ko-KR" sz="1900" dirty="0">
                <a:latin typeface="Open Sans"/>
                <a:ea typeface="굴림" pitchFamily="50" charset="-127"/>
              </a:rPr>
              <a:t>S </a:t>
            </a:r>
            <a:r>
              <a:rPr lang="en-US" altLang="ko-KR" sz="1900" dirty="0">
                <a:latin typeface="Open Sans"/>
                <a:ea typeface="굴림" pitchFamily="50" charset="-127"/>
                <a:sym typeface="Wingdings" pitchFamily="2" charset="2"/>
              </a:rPr>
              <a:t> </a:t>
            </a:r>
            <a:r>
              <a:rPr lang="en-US" altLang="ko-KR" sz="1900" dirty="0">
                <a:latin typeface="Open Sans"/>
                <a:ea typeface="굴림" pitchFamily="50" charset="-127"/>
              </a:rPr>
              <a:t>R</a:t>
            </a:r>
            <a:r>
              <a:rPr lang="en-US" altLang="ko-KR" sz="1900" dirty="0">
                <a:latin typeface="Open Sans"/>
                <a:ea typeface="굴림" pitchFamily="50" charset="-127"/>
                <a:sym typeface="Symbol"/>
              </a:rPr>
              <a:t> </a:t>
            </a:r>
          </a:p>
          <a:p>
            <a:endParaRPr lang="en-US" altLang="ko-KR" sz="1900" dirty="0">
              <a:latin typeface="Open Sans"/>
              <a:ea typeface="굴림" pitchFamily="50" charset="-127"/>
              <a:sym typeface="Symbo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267200" y="3545592"/>
            <a:ext cx="1905000" cy="30315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900" dirty="0">
                <a:latin typeface="Open Sans"/>
                <a:ea typeface="굴림" pitchFamily="50" charset="-127"/>
                <a:sym typeface="Symbol"/>
              </a:rPr>
              <a:t>I4 :</a:t>
            </a:r>
          </a:p>
          <a:p>
            <a:r>
              <a:rPr lang="en-US" altLang="ko-KR" sz="1900" dirty="0">
                <a:latin typeface="Open Sans"/>
                <a:ea typeface="굴림" pitchFamily="50" charset="-127"/>
              </a:rPr>
              <a:t>L </a:t>
            </a:r>
            <a:r>
              <a:rPr lang="en-US" altLang="ko-KR" sz="1900" dirty="0">
                <a:latin typeface="Open Sans"/>
                <a:ea typeface="굴림" pitchFamily="50" charset="-127"/>
                <a:sym typeface="Wingdings" pitchFamily="2" charset="2"/>
              </a:rPr>
              <a:t> </a:t>
            </a:r>
            <a:r>
              <a:rPr lang="en-US" altLang="ko-KR" sz="1900" dirty="0">
                <a:latin typeface="Open Sans"/>
                <a:ea typeface="굴림" pitchFamily="50" charset="-127"/>
              </a:rPr>
              <a:t>*</a:t>
            </a:r>
            <a:r>
              <a:rPr lang="en-US" altLang="ko-KR" sz="1900" dirty="0">
                <a:latin typeface="Open Sans"/>
                <a:ea typeface="굴림" pitchFamily="50" charset="-127"/>
                <a:sym typeface="Symbol"/>
              </a:rPr>
              <a:t> </a:t>
            </a:r>
            <a:r>
              <a:rPr lang="en-US" altLang="ko-KR" sz="1900" dirty="0">
                <a:latin typeface="Open Sans"/>
                <a:ea typeface="굴림" pitchFamily="50" charset="-127"/>
              </a:rPr>
              <a:t> R </a:t>
            </a:r>
          </a:p>
          <a:p>
            <a:r>
              <a:rPr lang="en-US" altLang="ko-KR" sz="1900" dirty="0">
                <a:latin typeface="Open Sans"/>
                <a:ea typeface="굴림" pitchFamily="50" charset="-127"/>
              </a:rPr>
              <a:t>R </a:t>
            </a:r>
            <a:r>
              <a:rPr lang="en-US" altLang="ko-KR" sz="1900" dirty="0">
                <a:latin typeface="Open Sans"/>
                <a:ea typeface="굴림" pitchFamily="50" charset="-127"/>
                <a:sym typeface="Wingdings" pitchFamily="2" charset="2"/>
              </a:rPr>
              <a:t> </a:t>
            </a:r>
            <a:r>
              <a:rPr lang="en-US" altLang="ko-KR" sz="1900" dirty="0">
                <a:latin typeface="Open Sans"/>
                <a:ea typeface="굴림" pitchFamily="50" charset="-127"/>
                <a:sym typeface="Symbol"/>
              </a:rPr>
              <a:t></a:t>
            </a:r>
            <a:r>
              <a:rPr lang="en-US" altLang="ko-KR" sz="1900" dirty="0">
                <a:latin typeface="Open Sans"/>
                <a:ea typeface="굴림" pitchFamily="50" charset="-127"/>
              </a:rPr>
              <a:t>L</a:t>
            </a:r>
          </a:p>
          <a:p>
            <a:pPr algn="just"/>
            <a:r>
              <a:rPr lang="en-US" altLang="ko-KR" sz="1900" dirty="0">
                <a:latin typeface="Open Sans"/>
                <a:ea typeface="굴림" pitchFamily="50" charset="-127"/>
              </a:rPr>
              <a:t>L </a:t>
            </a:r>
            <a:r>
              <a:rPr lang="en-US" altLang="ko-KR" sz="1900" dirty="0">
                <a:latin typeface="Open Sans"/>
                <a:ea typeface="굴림" pitchFamily="50" charset="-127"/>
                <a:sym typeface="Wingdings" pitchFamily="2" charset="2"/>
              </a:rPr>
              <a:t> </a:t>
            </a:r>
            <a:r>
              <a:rPr lang="en-US" altLang="ko-KR" sz="1900" dirty="0">
                <a:latin typeface="Open Sans"/>
                <a:ea typeface="굴림" pitchFamily="50" charset="-127"/>
                <a:sym typeface="Symbol"/>
              </a:rPr>
              <a:t></a:t>
            </a:r>
            <a:r>
              <a:rPr lang="en-US" altLang="ko-KR" sz="1900" dirty="0">
                <a:latin typeface="Open Sans"/>
                <a:ea typeface="굴림" pitchFamily="50" charset="-127"/>
              </a:rPr>
              <a:t>* R </a:t>
            </a:r>
          </a:p>
          <a:p>
            <a:pPr algn="just"/>
            <a:r>
              <a:rPr lang="en-US" altLang="ko-KR" sz="1900" dirty="0">
                <a:latin typeface="Open Sans"/>
                <a:ea typeface="굴림" pitchFamily="50" charset="-127"/>
              </a:rPr>
              <a:t>L </a:t>
            </a:r>
            <a:r>
              <a:rPr lang="en-US" altLang="ko-KR" sz="1900" dirty="0">
                <a:latin typeface="Open Sans"/>
                <a:ea typeface="굴림" pitchFamily="50" charset="-127"/>
                <a:sym typeface="Wingdings" pitchFamily="2" charset="2"/>
              </a:rPr>
              <a:t> </a:t>
            </a:r>
            <a:r>
              <a:rPr lang="en-US" altLang="ko-KR" sz="1900" dirty="0">
                <a:latin typeface="Open Sans"/>
                <a:ea typeface="굴림" pitchFamily="50" charset="-127"/>
                <a:sym typeface="Symbol"/>
              </a:rPr>
              <a:t></a:t>
            </a:r>
            <a:r>
              <a:rPr lang="en-US" altLang="ko-KR" sz="1900" dirty="0">
                <a:latin typeface="Open Sans"/>
                <a:ea typeface="굴림" pitchFamily="50" charset="-127"/>
              </a:rPr>
              <a:t>id</a:t>
            </a:r>
          </a:p>
          <a:p>
            <a:pPr algn="just"/>
            <a:endParaRPr lang="en-US" sz="1900" dirty="0">
              <a:latin typeface="Open Sans"/>
              <a:ea typeface="굴림" pitchFamily="50" charset="-127"/>
            </a:endParaRPr>
          </a:p>
          <a:p>
            <a:pPr algn="just"/>
            <a:r>
              <a:rPr lang="en-US" sz="1900" dirty="0">
                <a:latin typeface="Open Sans"/>
                <a:ea typeface="굴림" pitchFamily="50" charset="-127"/>
              </a:rPr>
              <a:t>I5 :</a:t>
            </a:r>
          </a:p>
          <a:p>
            <a:pPr algn="just"/>
            <a:r>
              <a:rPr lang="en-US" altLang="ko-KR" sz="2000" dirty="0">
                <a:ea typeface="굴림" pitchFamily="50" charset="-127"/>
              </a:rPr>
              <a:t>L </a:t>
            </a:r>
            <a:r>
              <a:rPr lang="en-US" altLang="ko-KR" sz="2000" dirty="0">
                <a:ea typeface="굴림" pitchFamily="50" charset="-127"/>
                <a:sym typeface="Wingdings" pitchFamily="2" charset="2"/>
              </a:rPr>
              <a:t> </a:t>
            </a:r>
            <a:r>
              <a:rPr lang="en-US" altLang="ko-KR" sz="2000" dirty="0">
                <a:ea typeface="굴림" pitchFamily="50" charset="-127"/>
              </a:rPr>
              <a:t>id</a:t>
            </a:r>
            <a:r>
              <a:rPr lang="en-US" altLang="ko-KR" sz="2000" dirty="0">
                <a:ea typeface="굴림" pitchFamily="50" charset="-127"/>
                <a:sym typeface="Symbol"/>
              </a:rPr>
              <a:t> </a:t>
            </a:r>
            <a:endParaRPr lang="en-US" altLang="ko-KR" sz="2000" dirty="0">
              <a:ea typeface="굴림" pitchFamily="50" charset="-127"/>
            </a:endParaRPr>
          </a:p>
          <a:p>
            <a:pPr algn="just"/>
            <a:endParaRPr lang="en-US" sz="1900" dirty="0">
              <a:latin typeface="Open Sans"/>
              <a:ea typeface="굴림" pitchFamily="50" charset="-127"/>
            </a:endParaRPr>
          </a:p>
          <a:p>
            <a:pPr algn="just"/>
            <a:endParaRPr lang="en-US" sz="1900" dirty="0">
              <a:latin typeface="Open San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863589" y="3545592"/>
            <a:ext cx="1905000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900" dirty="0">
                <a:latin typeface="Open Sans"/>
                <a:ea typeface="굴림" pitchFamily="50" charset="-127"/>
                <a:sym typeface="Symbol"/>
              </a:rPr>
              <a:t>I6 :</a:t>
            </a:r>
          </a:p>
          <a:p>
            <a:r>
              <a:rPr lang="en-US" altLang="ko-KR" sz="1900" dirty="0">
                <a:latin typeface="Open Sans"/>
                <a:ea typeface="굴림" pitchFamily="50" charset="-127"/>
              </a:rPr>
              <a:t>S </a:t>
            </a:r>
            <a:r>
              <a:rPr lang="en-US" altLang="ko-KR" sz="1900" dirty="0">
                <a:latin typeface="Open Sans"/>
                <a:ea typeface="굴림" pitchFamily="50" charset="-127"/>
                <a:sym typeface="Wingdings" pitchFamily="2" charset="2"/>
              </a:rPr>
              <a:t> </a:t>
            </a:r>
            <a:r>
              <a:rPr lang="en-US" altLang="ko-KR" sz="1900" dirty="0">
                <a:latin typeface="Open Sans"/>
                <a:ea typeface="굴림" pitchFamily="50" charset="-127"/>
              </a:rPr>
              <a:t>L</a:t>
            </a:r>
            <a:r>
              <a:rPr lang="en-US" altLang="ko-KR" sz="1900" dirty="0">
                <a:latin typeface="Open Sans"/>
                <a:ea typeface="굴림" pitchFamily="50" charset="-127"/>
                <a:sym typeface="Symbol"/>
              </a:rPr>
              <a:t> </a:t>
            </a:r>
            <a:r>
              <a:rPr lang="en-US" altLang="ko-KR" sz="1900" dirty="0">
                <a:latin typeface="Open Sans"/>
                <a:ea typeface="굴림" pitchFamily="50" charset="-127"/>
              </a:rPr>
              <a:t>=</a:t>
            </a:r>
            <a:r>
              <a:rPr lang="en-US" altLang="ko-KR" sz="1900" dirty="0">
                <a:latin typeface="Open Sans"/>
                <a:ea typeface="굴림" pitchFamily="50" charset="-127"/>
                <a:sym typeface="Symbol"/>
              </a:rPr>
              <a:t> </a:t>
            </a:r>
            <a:r>
              <a:rPr lang="en-US" altLang="ko-KR" sz="1900" dirty="0">
                <a:latin typeface="Open Sans"/>
                <a:ea typeface="굴림" pitchFamily="50" charset="-127"/>
              </a:rPr>
              <a:t> R</a:t>
            </a:r>
          </a:p>
          <a:p>
            <a:r>
              <a:rPr lang="en-US" altLang="ko-KR" sz="1900" dirty="0">
                <a:latin typeface="Open Sans"/>
                <a:ea typeface="굴림" pitchFamily="50" charset="-127"/>
              </a:rPr>
              <a:t>R </a:t>
            </a:r>
            <a:r>
              <a:rPr lang="en-US" altLang="ko-KR" sz="1900" dirty="0">
                <a:latin typeface="Open Sans"/>
                <a:ea typeface="굴림" pitchFamily="50" charset="-127"/>
                <a:sym typeface="Wingdings" pitchFamily="2" charset="2"/>
              </a:rPr>
              <a:t> </a:t>
            </a:r>
            <a:r>
              <a:rPr lang="en-US" altLang="ko-KR" sz="1900" dirty="0">
                <a:latin typeface="Open Sans"/>
                <a:ea typeface="굴림" pitchFamily="50" charset="-127"/>
                <a:sym typeface="Symbol"/>
              </a:rPr>
              <a:t></a:t>
            </a:r>
            <a:r>
              <a:rPr lang="en-US" altLang="ko-KR" sz="1900" dirty="0">
                <a:latin typeface="Open Sans"/>
                <a:ea typeface="굴림" pitchFamily="50" charset="-127"/>
              </a:rPr>
              <a:t>L</a:t>
            </a:r>
          </a:p>
          <a:p>
            <a:pPr algn="just"/>
            <a:r>
              <a:rPr lang="en-US" altLang="ko-KR" sz="1900" dirty="0">
                <a:latin typeface="Open Sans"/>
                <a:ea typeface="굴림" pitchFamily="50" charset="-127"/>
              </a:rPr>
              <a:t>L </a:t>
            </a:r>
            <a:r>
              <a:rPr lang="en-US" altLang="ko-KR" sz="1900" dirty="0">
                <a:latin typeface="Open Sans"/>
                <a:ea typeface="굴림" pitchFamily="50" charset="-127"/>
                <a:sym typeface="Wingdings" pitchFamily="2" charset="2"/>
              </a:rPr>
              <a:t> </a:t>
            </a:r>
            <a:r>
              <a:rPr lang="en-US" altLang="ko-KR" sz="1900" dirty="0">
                <a:latin typeface="Open Sans"/>
                <a:ea typeface="굴림" pitchFamily="50" charset="-127"/>
                <a:sym typeface="Symbol"/>
              </a:rPr>
              <a:t></a:t>
            </a:r>
            <a:r>
              <a:rPr lang="en-US" altLang="ko-KR" sz="1900" dirty="0">
                <a:latin typeface="Open Sans"/>
                <a:ea typeface="굴림" pitchFamily="50" charset="-127"/>
              </a:rPr>
              <a:t>* R </a:t>
            </a:r>
          </a:p>
          <a:p>
            <a:pPr algn="just"/>
            <a:r>
              <a:rPr lang="en-US" altLang="ko-KR" sz="1900" dirty="0">
                <a:latin typeface="Open Sans"/>
                <a:ea typeface="굴림" pitchFamily="50" charset="-127"/>
              </a:rPr>
              <a:t>L </a:t>
            </a:r>
            <a:r>
              <a:rPr lang="en-US" altLang="ko-KR" sz="1900" dirty="0">
                <a:latin typeface="Open Sans"/>
                <a:ea typeface="굴림" pitchFamily="50" charset="-127"/>
                <a:sym typeface="Wingdings" pitchFamily="2" charset="2"/>
              </a:rPr>
              <a:t> </a:t>
            </a:r>
            <a:r>
              <a:rPr lang="en-US" altLang="ko-KR" sz="1900" dirty="0">
                <a:latin typeface="Open Sans"/>
                <a:ea typeface="굴림" pitchFamily="50" charset="-127"/>
                <a:sym typeface="Symbol"/>
              </a:rPr>
              <a:t></a:t>
            </a:r>
            <a:r>
              <a:rPr lang="en-US" altLang="ko-KR" sz="1900" dirty="0">
                <a:latin typeface="Open Sans"/>
                <a:ea typeface="굴림" pitchFamily="50" charset="-127"/>
              </a:rPr>
              <a:t>id</a:t>
            </a:r>
          </a:p>
          <a:p>
            <a:pPr algn="just"/>
            <a:endParaRPr lang="en-US" sz="1900" dirty="0">
              <a:latin typeface="Open Sans"/>
              <a:ea typeface="굴림" pitchFamily="50" charset="-127"/>
            </a:endParaRPr>
          </a:p>
          <a:p>
            <a:pPr algn="just"/>
            <a:r>
              <a:rPr lang="en-US" sz="1900" dirty="0">
                <a:latin typeface="Open Sans"/>
                <a:ea typeface="굴림" pitchFamily="50" charset="-127"/>
              </a:rPr>
              <a:t>I7 :</a:t>
            </a:r>
          </a:p>
          <a:p>
            <a:r>
              <a:rPr lang="en-US" altLang="ko-KR" sz="2000" dirty="0">
                <a:latin typeface="Open Sans"/>
                <a:ea typeface="굴림" pitchFamily="50" charset="-127"/>
              </a:rPr>
              <a:t>L </a:t>
            </a:r>
            <a:r>
              <a:rPr lang="en-US" altLang="ko-KR" sz="2000" dirty="0">
                <a:latin typeface="Open Sans"/>
                <a:ea typeface="굴림" pitchFamily="50" charset="-127"/>
                <a:sym typeface="Wingdings" pitchFamily="2" charset="2"/>
              </a:rPr>
              <a:t> </a:t>
            </a:r>
            <a:r>
              <a:rPr lang="en-US" altLang="ko-KR" sz="2000" dirty="0">
                <a:latin typeface="Open Sans"/>
                <a:ea typeface="굴림" pitchFamily="50" charset="-127"/>
              </a:rPr>
              <a:t>*</a:t>
            </a:r>
            <a:r>
              <a:rPr lang="en-US" altLang="ko-KR" sz="2000" dirty="0">
                <a:latin typeface="Open Sans"/>
                <a:ea typeface="굴림" pitchFamily="50" charset="-127"/>
                <a:sym typeface="Symbol"/>
              </a:rPr>
              <a:t> </a:t>
            </a:r>
            <a:r>
              <a:rPr lang="en-US" altLang="ko-KR" sz="2000" dirty="0">
                <a:latin typeface="Open Sans"/>
                <a:ea typeface="굴림" pitchFamily="50" charset="-127"/>
              </a:rPr>
              <a:t>R</a:t>
            </a:r>
            <a:r>
              <a:rPr lang="en-US" altLang="ko-KR" sz="2000" dirty="0">
                <a:latin typeface="Open Sans"/>
                <a:ea typeface="굴림" pitchFamily="50" charset="-127"/>
                <a:sym typeface="Symbol"/>
              </a:rPr>
              <a:t> </a:t>
            </a:r>
            <a:endParaRPr lang="en-US" sz="1900" dirty="0">
              <a:latin typeface="Open San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459978" y="3545592"/>
            <a:ext cx="1905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900" dirty="0">
                <a:latin typeface="Open Sans"/>
                <a:ea typeface="굴림" pitchFamily="50" charset="-127"/>
                <a:sym typeface="Symbol"/>
              </a:rPr>
              <a:t>I8 :</a:t>
            </a:r>
          </a:p>
          <a:p>
            <a:r>
              <a:rPr lang="en-US" altLang="ko-KR" sz="1900" dirty="0">
                <a:latin typeface="Open Sans"/>
                <a:ea typeface="굴림" pitchFamily="50" charset="-127"/>
              </a:rPr>
              <a:t>R </a:t>
            </a:r>
            <a:r>
              <a:rPr lang="en-US" altLang="ko-KR" sz="1900" dirty="0">
                <a:latin typeface="Open Sans"/>
                <a:ea typeface="굴림" pitchFamily="50" charset="-127"/>
                <a:sym typeface="Wingdings" pitchFamily="2" charset="2"/>
              </a:rPr>
              <a:t> </a:t>
            </a:r>
            <a:r>
              <a:rPr lang="en-US" altLang="ko-KR" sz="1900" dirty="0">
                <a:latin typeface="Open Sans"/>
                <a:ea typeface="굴림" pitchFamily="50" charset="-127"/>
              </a:rPr>
              <a:t>L</a:t>
            </a:r>
            <a:r>
              <a:rPr lang="en-US" altLang="ko-KR" sz="1900" dirty="0">
                <a:latin typeface="Open Sans"/>
                <a:ea typeface="굴림" pitchFamily="50" charset="-127"/>
                <a:sym typeface="Symbol"/>
              </a:rPr>
              <a:t> </a:t>
            </a:r>
            <a:endParaRPr lang="en-US" altLang="ko-KR" sz="1900" dirty="0">
              <a:latin typeface="Open Sans"/>
              <a:ea typeface="굴림" pitchFamily="50" charset="-127"/>
            </a:endParaRPr>
          </a:p>
          <a:p>
            <a:pPr algn="just"/>
            <a:endParaRPr lang="en-US" sz="1900" dirty="0">
              <a:latin typeface="Open Sans"/>
              <a:ea typeface="굴림" pitchFamily="50" charset="-127"/>
            </a:endParaRPr>
          </a:p>
          <a:p>
            <a:pPr algn="just"/>
            <a:r>
              <a:rPr lang="en-US" sz="1900" dirty="0">
                <a:latin typeface="Open Sans"/>
                <a:ea typeface="굴림" pitchFamily="50" charset="-127"/>
              </a:rPr>
              <a:t>I9 :</a:t>
            </a:r>
          </a:p>
          <a:p>
            <a:r>
              <a:rPr lang="en-US" altLang="ko-KR" sz="2000" dirty="0">
                <a:latin typeface="Open Sans"/>
                <a:ea typeface="굴림" pitchFamily="50" charset="-127"/>
              </a:rPr>
              <a:t>S </a:t>
            </a:r>
            <a:r>
              <a:rPr lang="en-US" altLang="ko-KR" sz="2000" dirty="0">
                <a:latin typeface="Open Sans"/>
                <a:ea typeface="굴림" pitchFamily="50" charset="-127"/>
                <a:sym typeface="Wingdings" pitchFamily="2" charset="2"/>
              </a:rPr>
              <a:t> </a:t>
            </a:r>
            <a:r>
              <a:rPr lang="en-US" altLang="ko-KR" sz="2000" dirty="0">
                <a:latin typeface="Open Sans"/>
                <a:ea typeface="굴림" pitchFamily="50" charset="-127"/>
              </a:rPr>
              <a:t>L</a:t>
            </a:r>
            <a:r>
              <a:rPr lang="en-US" altLang="ko-KR" sz="2000" dirty="0">
                <a:latin typeface="Open Sans"/>
                <a:ea typeface="굴림" pitchFamily="50" charset="-127"/>
                <a:sym typeface="Symbol"/>
              </a:rPr>
              <a:t> </a:t>
            </a:r>
            <a:r>
              <a:rPr lang="en-US" altLang="ko-KR" sz="2000" dirty="0">
                <a:latin typeface="Open Sans"/>
                <a:ea typeface="굴림" pitchFamily="50" charset="-127"/>
              </a:rPr>
              <a:t>=</a:t>
            </a:r>
            <a:r>
              <a:rPr lang="en-US" altLang="ko-KR" sz="2000" dirty="0">
                <a:latin typeface="Open Sans"/>
                <a:ea typeface="굴림" pitchFamily="50" charset="-127"/>
                <a:sym typeface="Symbol"/>
              </a:rPr>
              <a:t> </a:t>
            </a:r>
            <a:r>
              <a:rPr lang="en-US" altLang="ko-KR" sz="2000" dirty="0">
                <a:latin typeface="Open Sans"/>
                <a:ea typeface="굴림" pitchFamily="50" charset="-127"/>
              </a:rPr>
              <a:t>R</a:t>
            </a:r>
            <a:r>
              <a:rPr lang="en-US" altLang="ko-KR" sz="2000" dirty="0">
                <a:latin typeface="Open Sans"/>
                <a:ea typeface="굴림" pitchFamily="50" charset="-127"/>
                <a:sym typeface="Symbol"/>
              </a:rPr>
              <a:t> </a:t>
            </a:r>
            <a:r>
              <a:rPr lang="en-US" altLang="ko-KR" sz="2000" dirty="0">
                <a:latin typeface="Open Sans"/>
                <a:ea typeface="굴림" pitchFamily="50" charset="-127"/>
              </a:rPr>
              <a:t>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6480" y="3549402"/>
            <a:ext cx="1905000" cy="33085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900" dirty="0">
                <a:latin typeface="Open Sans"/>
                <a:ea typeface="굴림" pitchFamily="50" charset="-127"/>
              </a:rPr>
              <a:t>I0 : </a:t>
            </a:r>
          </a:p>
          <a:p>
            <a:pPr algn="just"/>
            <a:r>
              <a:rPr lang="en-US" altLang="ko-KR" sz="1900" dirty="0">
                <a:latin typeface="Open Sans"/>
                <a:ea typeface="굴림" pitchFamily="50" charset="-127"/>
              </a:rPr>
              <a:t>S’ </a:t>
            </a:r>
            <a:r>
              <a:rPr lang="en-US" altLang="ko-KR" sz="1900" dirty="0">
                <a:latin typeface="Open Sans"/>
                <a:ea typeface="굴림" pitchFamily="50" charset="-127"/>
                <a:sym typeface="Wingdings" pitchFamily="2" charset="2"/>
              </a:rPr>
              <a:t></a:t>
            </a:r>
            <a:r>
              <a:rPr lang="en-US" altLang="ko-KR" sz="1900" dirty="0">
                <a:latin typeface="Open Sans"/>
                <a:ea typeface="굴림" pitchFamily="50" charset="-127"/>
                <a:sym typeface="Symbol"/>
              </a:rPr>
              <a:t></a:t>
            </a:r>
            <a:r>
              <a:rPr lang="en-US" altLang="ko-KR" sz="1900" dirty="0">
                <a:latin typeface="Open Sans"/>
                <a:ea typeface="굴림" pitchFamily="50" charset="-127"/>
                <a:sym typeface="Wingdings" pitchFamily="2" charset="2"/>
              </a:rPr>
              <a:t>S</a:t>
            </a:r>
          </a:p>
          <a:p>
            <a:pPr algn="just"/>
            <a:r>
              <a:rPr lang="en-US" altLang="ko-KR" sz="1900" dirty="0">
                <a:latin typeface="Open Sans"/>
                <a:ea typeface="굴림" pitchFamily="50" charset="-127"/>
              </a:rPr>
              <a:t>S </a:t>
            </a:r>
            <a:r>
              <a:rPr lang="en-US" altLang="ko-KR" sz="1900" dirty="0">
                <a:latin typeface="Open Sans"/>
                <a:ea typeface="굴림" pitchFamily="50" charset="-127"/>
                <a:sym typeface="Wingdings" pitchFamily="2" charset="2"/>
              </a:rPr>
              <a:t> </a:t>
            </a:r>
            <a:r>
              <a:rPr lang="en-US" altLang="ko-KR" sz="1900" dirty="0">
                <a:latin typeface="Open Sans"/>
                <a:ea typeface="굴림" pitchFamily="50" charset="-127"/>
                <a:sym typeface="Symbol"/>
              </a:rPr>
              <a:t></a:t>
            </a:r>
            <a:r>
              <a:rPr lang="en-US" altLang="ko-KR" sz="1900" dirty="0">
                <a:latin typeface="Open Sans"/>
                <a:ea typeface="굴림" pitchFamily="50" charset="-127"/>
              </a:rPr>
              <a:t>L = R </a:t>
            </a:r>
          </a:p>
          <a:p>
            <a:pPr algn="just"/>
            <a:r>
              <a:rPr lang="en-US" altLang="ko-KR" sz="1900" dirty="0">
                <a:latin typeface="Open Sans"/>
                <a:ea typeface="굴림" pitchFamily="50" charset="-127"/>
              </a:rPr>
              <a:t>S </a:t>
            </a:r>
            <a:r>
              <a:rPr lang="en-US" altLang="ko-KR" sz="1900" dirty="0">
                <a:latin typeface="Open Sans"/>
                <a:ea typeface="굴림" pitchFamily="50" charset="-127"/>
                <a:sym typeface="Wingdings" pitchFamily="2" charset="2"/>
              </a:rPr>
              <a:t> </a:t>
            </a:r>
            <a:r>
              <a:rPr lang="en-US" altLang="ko-KR" sz="1900" dirty="0">
                <a:latin typeface="Open Sans"/>
                <a:ea typeface="굴림" pitchFamily="50" charset="-127"/>
                <a:sym typeface="Symbol"/>
              </a:rPr>
              <a:t></a:t>
            </a:r>
            <a:r>
              <a:rPr lang="en-US" altLang="ko-KR" sz="1900" dirty="0">
                <a:latin typeface="Open Sans"/>
                <a:ea typeface="굴림" pitchFamily="50" charset="-127"/>
              </a:rPr>
              <a:t>R </a:t>
            </a:r>
          </a:p>
          <a:p>
            <a:pPr algn="just"/>
            <a:r>
              <a:rPr lang="en-US" altLang="ko-KR" sz="1900" dirty="0">
                <a:latin typeface="Open Sans"/>
                <a:ea typeface="굴림" pitchFamily="50" charset="-127"/>
              </a:rPr>
              <a:t>L </a:t>
            </a:r>
            <a:r>
              <a:rPr lang="en-US" altLang="ko-KR" sz="1900" dirty="0">
                <a:latin typeface="Open Sans"/>
                <a:ea typeface="굴림" pitchFamily="50" charset="-127"/>
                <a:sym typeface="Wingdings" pitchFamily="2" charset="2"/>
              </a:rPr>
              <a:t> </a:t>
            </a:r>
            <a:r>
              <a:rPr lang="en-US" altLang="ko-KR" sz="1900" dirty="0">
                <a:latin typeface="Open Sans"/>
                <a:ea typeface="굴림" pitchFamily="50" charset="-127"/>
                <a:sym typeface="Symbol"/>
              </a:rPr>
              <a:t></a:t>
            </a:r>
            <a:r>
              <a:rPr lang="en-US" altLang="ko-KR" sz="1900" dirty="0">
                <a:latin typeface="Open Sans"/>
                <a:ea typeface="굴림" pitchFamily="50" charset="-127"/>
              </a:rPr>
              <a:t>* R </a:t>
            </a:r>
          </a:p>
          <a:p>
            <a:pPr algn="just"/>
            <a:r>
              <a:rPr lang="en-US" altLang="ko-KR" sz="1900" dirty="0">
                <a:latin typeface="Open Sans"/>
                <a:ea typeface="굴림" pitchFamily="50" charset="-127"/>
              </a:rPr>
              <a:t>L </a:t>
            </a:r>
            <a:r>
              <a:rPr lang="en-US" altLang="ko-KR" sz="1900" dirty="0">
                <a:latin typeface="Open Sans"/>
                <a:ea typeface="굴림" pitchFamily="50" charset="-127"/>
                <a:sym typeface="Wingdings" pitchFamily="2" charset="2"/>
              </a:rPr>
              <a:t> </a:t>
            </a:r>
            <a:r>
              <a:rPr lang="en-US" altLang="ko-KR" sz="1900" dirty="0">
                <a:latin typeface="Open Sans"/>
                <a:ea typeface="굴림" pitchFamily="50" charset="-127"/>
                <a:sym typeface="Symbol"/>
              </a:rPr>
              <a:t></a:t>
            </a:r>
            <a:r>
              <a:rPr lang="en-US" altLang="ko-KR" sz="1900" dirty="0">
                <a:latin typeface="Open Sans"/>
                <a:ea typeface="굴림" pitchFamily="50" charset="-127"/>
              </a:rPr>
              <a:t>id</a:t>
            </a:r>
          </a:p>
          <a:p>
            <a:pPr algn="just"/>
            <a:r>
              <a:rPr lang="en-US" altLang="ko-KR" sz="1900" dirty="0">
                <a:latin typeface="Open Sans"/>
                <a:ea typeface="굴림" pitchFamily="50" charset="-127"/>
              </a:rPr>
              <a:t>R </a:t>
            </a:r>
            <a:r>
              <a:rPr lang="en-US" altLang="ko-KR" sz="1900" dirty="0">
                <a:latin typeface="Open Sans"/>
                <a:ea typeface="굴림" pitchFamily="50" charset="-127"/>
                <a:sym typeface="Wingdings" pitchFamily="2" charset="2"/>
              </a:rPr>
              <a:t> </a:t>
            </a:r>
            <a:r>
              <a:rPr lang="en-US" altLang="ko-KR" sz="1900" dirty="0">
                <a:latin typeface="Open Sans"/>
                <a:ea typeface="굴림" pitchFamily="50" charset="-127"/>
                <a:sym typeface="Symbol"/>
              </a:rPr>
              <a:t></a:t>
            </a:r>
            <a:r>
              <a:rPr lang="en-US" altLang="ko-KR" sz="1900" dirty="0">
                <a:latin typeface="Open Sans"/>
                <a:ea typeface="굴림" pitchFamily="50" charset="-127"/>
              </a:rPr>
              <a:t>L</a:t>
            </a:r>
          </a:p>
          <a:p>
            <a:pPr algn="just"/>
            <a:endParaRPr lang="en-US" altLang="ko-KR" sz="1900" dirty="0">
              <a:latin typeface="Open Sans"/>
              <a:ea typeface="굴림" pitchFamily="50" charset="-127"/>
            </a:endParaRPr>
          </a:p>
          <a:p>
            <a:pPr algn="just"/>
            <a:r>
              <a:rPr lang="en-US" altLang="ko-KR" sz="1900" dirty="0">
                <a:latin typeface="Open Sans"/>
                <a:ea typeface="굴림" pitchFamily="50" charset="-127"/>
              </a:rPr>
              <a:t>I1 :</a:t>
            </a:r>
          </a:p>
          <a:p>
            <a:pPr algn="just"/>
            <a:r>
              <a:rPr lang="en-US" altLang="ko-KR" sz="1900" dirty="0">
                <a:latin typeface="Open Sans"/>
                <a:ea typeface="굴림" pitchFamily="50" charset="-127"/>
              </a:rPr>
              <a:t>S’ </a:t>
            </a:r>
            <a:r>
              <a:rPr lang="en-US" altLang="ko-KR" sz="1900" dirty="0">
                <a:latin typeface="Open Sans"/>
                <a:ea typeface="굴림" pitchFamily="50" charset="-127"/>
                <a:sym typeface="Wingdings" pitchFamily="2" charset="2"/>
              </a:rPr>
              <a:t>S</a:t>
            </a:r>
            <a:r>
              <a:rPr lang="en-US" altLang="ko-KR" sz="1900" dirty="0">
                <a:latin typeface="Open Sans"/>
                <a:ea typeface="굴림" pitchFamily="50" charset="-127"/>
                <a:sym typeface="Symbol"/>
              </a:rPr>
              <a:t></a:t>
            </a:r>
            <a:endParaRPr lang="en-US" altLang="ko-KR" sz="1900" dirty="0">
              <a:latin typeface="Open Sans"/>
              <a:ea typeface="굴림" pitchFamily="50" charset="-127"/>
              <a:sym typeface="Wingdings" pitchFamily="2" charset="2"/>
            </a:endParaRPr>
          </a:p>
          <a:p>
            <a:pPr algn="just"/>
            <a:endParaRPr lang="en-US" altLang="ko-KR" sz="1900" dirty="0">
              <a:latin typeface="Open Sans"/>
              <a:ea typeface="굴림" pitchFamily="50" charset="-127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895600" y="2069068"/>
            <a:ext cx="5943600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ko-KR" sz="1900" dirty="0">
                <a:latin typeface="Open Sans"/>
                <a:ea typeface="굴림" pitchFamily="50" charset="-127"/>
              </a:rPr>
              <a:t>Then, </a:t>
            </a:r>
          </a:p>
          <a:p>
            <a:pPr algn="just"/>
            <a:r>
              <a:rPr lang="en-US" altLang="ko-KR" sz="1900" dirty="0">
                <a:latin typeface="Open Sans"/>
                <a:ea typeface="굴림" pitchFamily="50" charset="-127"/>
              </a:rPr>
              <a:t>FOLLOW(R)  = FOLLOW(S) = FOLLOW(L) = { = }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2895600" y="152400"/>
            <a:ext cx="6117432" cy="533400"/>
          </a:xfrm>
        </p:spPr>
        <p:txBody>
          <a:bodyPr>
            <a:normAutofit fontScale="90000"/>
          </a:bodyPr>
          <a:lstStyle/>
          <a:p>
            <a:r>
              <a:rPr lang="en-US" altLang="ko-KR" sz="2800" dirty="0">
                <a:ea typeface="굴림" pitchFamily="50" charset="-127"/>
              </a:rPr>
              <a:t>Constructing SLR (Simple LR</a:t>
            </a:r>
            <a:r>
              <a:rPr lang="en-US" altLang="ko-KR" sz="2800">
                <a:ea typeface="굴림" pitchFamily="50" charset="-127"/>
              </a:rPr>
              <a:t>) parser</a:t>
            </a:r>
            <a:endParaRPr lang="en-US" altLang="ko-KR" sz="2800" dirty="0">
              <a:ea typeface="굴림" pitchFamily="50" charset="-127"/>
            </a:endParaRP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56480" y="1524000"/>
            <a:ext cx="7858919" cy="50292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ko-KR">
                <a:ea typeface="굴림" pitchFamily="50" charset="-127"/>
              </a:rPr>
              <a:t>Action[2</a:t>
            </a:r>
            <a:r>
              <a:rPr lang="en-US" altLang="ko-KR" dirty="0">
                <a:ea typeface="굴림" pitchFamily="50" charset="-127"/>
              </a:rPr>
              <a:t>, =] → Shift or Reduce </a:t>
            </a:r>
          </a:p>
          <a:p>
            <a:pPr algn="just"/>
            <a:r>
              <a:rPr lang="en-US" altLang="ko-KR" dirty="0">
                <a:ea typeface="굴림" pitchFamily="50" charset="-127"/>
              </a:rPr>
              <a:t>Because SLR is not powerful enough to remember sufficient left context to decide next action on "=" </a:t>
            </a:r>
          </a:p>
        </p:txBody>
      </p:sp>
      <p:sp>
        <p:nvSpPr>
          <p:cNvPr id="21519" name="Text Box 13"/>
          <p:cNvSpPr txBox="1">
            <a:spLocks noChangeArrowheads="1"/>
          </p:cNvSpPr>
          <p:nvPr/>
        </p:nvSpPr>
        <p:spPr bwMode="auto">
          <a:xfrm>
            <a:off x="3124200" y="3929062"/>
            <a:ext cx="360363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latinLnBrk="1">
              <a:spcBef>
                <a:spcPct val="50000"/>
              </a:spcBef>
            </a:pPr>
            <a:r>
              <a:rPr kumimoji="1" lang="en-US" altLang="ko-KR" sz="1600">
                <a:latin typeface="Open Sans"/>
                <a:ea typeface="굴림" pitchFamily="50" charset="-127"/>
              </a:rPr>
              <a:t>L</a:t>
            </a:r>
          </a:p>
        </p:txBody>
      </p:sp>
      <p:sp>
        <p:nvSpPr>
          <p:cNvPr id="21520" name="Text Box 14"/>
          <p:cNvSpPr txBox="1">
            <a:spLocks noChangeArrowheads="1"/>
          </p:cNvSpPr>
          <p:nvPr/>
        </p:nvSpPr>
        <p:spPr bwMode="auto">
          <a:xfrm>
            <a:off x="5507037" y="3962400"/>
            <a:ext cx="360363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latinLnBrk="1">
              <a:spcBef>
                <a:spcPct val="50000"/>
              </a:spcBef>
            </a:pPr>
            <a:r>
              <a:rPr kumimoji="1" lang="en-US" altLang="ko-KR" sz="1600">
                <a:latin typeface="Open Sans"/>
                <a:ea typeface="굴림" pitchFamily="50" charset="-127"/>
              </a:rPr>
              <a:t>=</a:t>
            </a:r>
          </a:p>
        </p:txBody>
      </p:sp>
      <p:sp>
        <p:nvSpPr>
          <p:cNvPr id="16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Bina</a:t>
            </a:r>
            <a:r>
              <a:rPr lang="en-US" dirty="0"/>
              <a:t> Nusantara University</a:t>
            </a:r>
          </a:p>
        </p:txBody>
      </p:sp>
      <p:sp>
        <p:nvSpPr>
          <p:cNvPr id="2151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A52E1F1-C9A5-4467-818A-904DFC146551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1752600" y="2667000"/>
            <a:ext cx="1219200" cy="3124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r>
              <a:rPr kumimoji="1" lang="en-US" altLang="ko-KR">
                <a:latin typeface="Open Sans"/>
                <a:ea typeface="굴림" pitchFamily="50" charset="-127"/>
              </a:rPr>
              <a:t>I0</a:t>
            </a:r>
          </a:p>
          <a:p>
            <a:pPr algn="ctr" latinLnBrk="1"/>
            <a:r>
              <a:rPr kumimoji="1" lang="en-US" altLang="ko-KR">
                <a:latin typeface="Open Sans"/>
                <a:ea typeface="굴림" pitchFamily="50" charset="-127"/>
              </a:rPr>
              <a:t>S`</a:t>
            </a:r>
            <a:r>
              <a:rPr kumimoji="1" lang="en-US" altLang="ko-KR">
                <a:latin typeface="Open Sans"/>
                <a:ea typeface="굴림" pitchFamily="50" charset="-127"/>
                <a:sym typeface="Wingdings" pitchFamily="2" charset="2"/>
              </a:rPr>
              <a:t>·S</a:t>
            </a:r>
            <a:br>
              <a:rPr kumimoji="1" lang="en-US" altLang="ko-KR">
                <a:latin typeface="Open Sans"/>
                <a:ea typeface="굴림" pitchFamily="50" charset="-127"/>
                <a:sym typeface="Wingdings" pitchFamily="2" charset="2"/>
              </a:rPr>
            </a:br>
            <a:r>
              <a:rPr kumimoji="1" lang="en-US" altLang="ko-KR">
                <a:latin typeface="Open Sans"/>
                <a:ea typeface="굴림" pitchFamily="50" charset="-127"/>
                <a:sym typeface="Wingdings" pitchFamily="2" charset="2"/>
              </a:rPr>
              <a:t>S·L=R</a:t>
            </a:r>
            <a:br>
              <a:rPr kumimoji="1" lang="en-US" altLang="ko-KR">
                <a:latin typeface="Open Sans"/>
                <a:ea typeface="굴림" pitchFamily="50" charset="-127"/>
                <a:sym typeface="Wingdings" pitchFamily="2" charset="2"/>
              </a:rPr>
            </a:br>
            <a:r>
              <a:rPr kumimoji="1" lang="en-US" altLang="ko-KR">
                <a:latin typeface="Open Sans"/>
                <a:ea typeface="굴림" pitchFamily="50" charset="-127"/>
                <a:sym typeface="Wingdings" pitchFamily="2" charset="2"/>
              </a:rPr>
              <a:t>S·R</a:t>
            </a:r>
            <a:br>
              <a:rPr kumimoji="1" lang="en-US" altLang="ko-KR">
                <a:latin typeface="Open Sans"/>
                <a:ea typeface="굴림" pitchFamily="50" charset="-127"/>
                <a:sym typeface="Wingdings" pitchFamily="2" charset="2"/>
              </a:rPr>
            </a:br>
            <a:r>
              <a:rPr kumimoji="1" lang="en-US" altLang="ko-KR">
                <a:latin typeface="Open Sans"/>
                <a:ea typeface="굴림" pitchFamily="50" charset="-127"/>
                <a:sym typeface="Wingdings" pitchFamily="2" charset="2"/>
              </a:rPr>
              <a:t>L·*R</a:t>
            </a:r>
            <a:br>
              <a:rPr kumimoji="1" lang="en-US" altLang="ko-KR">
                <a:latin typeface="Open Sans"/>
                <a:ea typeface="굴림" pitchFamily="50" charset="-127"/>
                <a:sym typeface="Wingdings" pitchFamily="2" charset="2"/>
              </a:rPr>
            </a:br>
            <a:r>
              <a:rPr kumimoji="1" lang="en-US" altLang="ko-KR">
                <a:latin typeface="Open Sans"/>
                <a:ea typeface="굴림" pitchFamily="50" charset="-127"/>
                <a:sym typeface="Wingdings" pitchFamily="2" charset="2"/>
              </a:rPr>
              <a:t>L·id</a:t>
            </a:r>
            <a:br>
              <a:rPr kumimoji="1" lang="en-US" altLang="ko-KR">
                <a:latin typeface="Open Sans"/>
                <a:ea typeface="굴림" pitchFamily="50" charset="-127"/>
                <a:sym typeface="Wingdings" pitchFamily="2" charset="2"/>
              </a:rPr>
            </a:br>
            <a:r>
              <a:rPr kumimoji="1" lang="en-US" altLang="ko-KR">
                <a:latin typeface="Open Sans"/>
                <a:ea typeface="굴림" pitchFamily="50" charset="-127"/>
                <a:sym typeface="Wingdings" pitchFamily="2" charset="2"/>
              </a:rPr>
              <a:t>R·L</a:t>
            </a:r>
          </a:p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3657600" y="3429000"/>
            <a:ext cx="1600200" cy="1600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r>
              <a:rPr kumimoji="1" lang="en-US" altLang="ko-KR">
                <a:latin typeface="Open Sans"/>
                <a:ea typeface="굴림" pitchFamily="50" charset="-127"/>
              </a:rPr>
              <a:t>I2</a:t>
            </a:r>
          </a:p>
          <a:p>
            <a:pPr algn="ctr" latinLnBrk="1"/>
            <a:r>
              <a:rPr kumimoji="1" lang="en-US" altLang="ko-KR">
                <a:latin typeface="Open Sans"/>
                <a:ea typeface="굴림" pitchFamily="50" charset="-127"/>
              </a:rPr>
              <a:t>S</a:t>
            </a:r>
            <a:r>
              <a:rPr kumimoji="1" lang="en-US" altLang="ko-KR">
                <a:latin typeface="Open Sans"/>
                <a:ea typeface="굴림" pitchFamily="50" charset="-127"/>
                <a:sym typeface="Wingdings" pitchFamily="2" charset="2"/>
              </a:rPr>
              <a:t>L·=R</a:t>
            </a:r>
            <a:br>
              <a:rPr kumimoji="1" lang="en-US" altLang="ko-KR">
                <a:latin typeface="Open Sans"/>
                <a:ea typeface="굴림" pitchFamily="50" charset="-127"/>
                <a:sym typeface="Wingdings" pitchFamily="2" charset="2"/>
              </a:rPr>
            </a:br>
            <a:r>
              <a:rPr kumimoji="1" lang="en-US" altLang="ko-KR">
                <a:latin typeface="Open Sans"/>
                <a:ea typeface="굴림" pitchFamily="50" charset="-127"/>
                <a:sym typeface="Wingdings" pitchFamily="2" charset="2"/>
              </a:rPr>
              <a:t>RL·</a:t>
            </a:r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6019800" y="3200400"/>
            <a:ext cx="1600200" cy="2057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r>
              <a:rPr kumimoji="1" lang="en-US" altLang="ko-KR">
                <a:latin typeface="Open Sans"/>
                <a:ea typeface="굴림" pitchFamily="50" charset="-127"/>
              </a:rPr>
              <a:t>I6</a:t>
            </a:r>
          </a:p>
          <a:p>
            <a:pPr algn="ctr" latinLnBrk="1"/>
            <a:r>
              <a:rPr kumimoji="1" lang="en-US" altLang="ko-KR">
                <a:latin typeface="Open Sans"/>
                <a:ea typeface="굴림" pitchFamily="50" charset="-127"/>
              </a:rPr>
              <a:t>S</a:t>
            </a:r>
            <a:r>
              <a:rPr kumimoji="1" lang="en-US" altLang="ko-KR">
                <a:latin typeface="Open Sans"/>
                <a:ea typeface="굴림" pitchFamily="50" charset="-127"/>
                <a:sym typeface="Wingdings" pitchFamily="2" charset="2"/>
              </a:rPr>
              <a:t>L=·R</a:t>
            </a:r>
            <a:br>
              <a:rPr kumimoji="1" lang="en-US" altLang="ko-KR">
                <a:latin typeface="Open Sans"/>
                <a:ea typeface="굴림" pitchFamily="50" charset="-127"/>
                <a:sym typeface="Wingdings" pitchFamily="2" charset="2"/>
              </a:rPr>
            </a:br>
            <a:r>
              <a:rPr kumimoji="1" lang="en-US" altLang="ko-KR">
                <a:latin typeface="Open Sans"/>
                <a:ea typeface="굴림" pitchFamily="50" charset="-127"/>
                <a:sym typeface="Wingdings" pitchFamily="2" charset="2"/>
              </a:rPr>
              <a:t>R·L</a:t>
            </a:r>
            <a:br>
              <a:rPr kumimoji="1" lang="en-US" altLang="ko-KR">
                <a:latin typeface="Open Sans"/>
                <a:ea typeface="굴림" pitchFamily="50" charset="-127"/>
                <a:sym typeface="Wingdings" pitchFamily="2" charset="2"/>
              </a:rPr>
            </a:br>
            <a:r>
              <a:rPr kumimoji="1" lang="en-US" altLang="ko-KR">
                <a:latin typeface="Open Sans"/>
                <a:ea typeface="굴림" pitchFamily="50" charset="-127"/>
                <a:sym typeface="Wingdings" pitchFamily="2" charset="2"/>
              </a:rPr>
              <a:t>L·*R</a:t>
            </a:r>
            <a:br>
              <a:rPr kumimoji="1" lang="en-US" altLang="ko-KR">
                <a:latin typeface="Open Sans"/>
                <a:ea typeface="굴림" pitchFamily="50" charset="-127"/>
                <a:sym typeface="Wingdings" pitchFamily="2" charset="2"/>
              </a:rPr>
            </a:br>
            <a:r>
              <a:rPr kumimoji="1" lang="en-US" altLang="ko-KR">
                <a:latin typeface="Open Sans"/>
                <a:ea typeface="굴림" pitchFamily="50" charset="-127"/>
                <a:sym typeface="Wingdings" pitchFamily="2" charset="2"/>
              </a:rPr>
              <a:t>L·id</a:t>
            </a:r>
          </a:p>
        </p:txBody>
      </p:sp>
      <p:cxnSp>
        <p:nvCxnSpPr>
          <p:cNvPr id="21" name="Straight Arrow Connector 20"/>
          <p:cNvCxnSpPr>
            <a:stCxn id="17" idx="6"/>
            <a:endCxn id="18" idx="2"/>
          </p:cNvCxnSpPr>
          <p:nvPr/>
        </p:nvCxnSpPr>
        <p:spPr>
          <a:xfrm>
            <a:off x="2971800" y="4229100"/>
            <a:ext cx="685800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18" idx="6"/>
            <a:endCxn id="19" idx="2"/>
          </p:cNvCxnSpPr>
          <p:nvPr/>
        </p:nvCxnSpPr>
        <p:spPr>
          <a:xfrm>
            <a:off x="5257800" y="4229100"/>
            <a:ext cx="762000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3276600" y="152400"/>
            <a:ext cx="5334000" cy="762000"/>
          </a:xfrm>
        </p:spPr>
        <p:txBody>
          <a:bodyPr>
            <a:normAutofit fontScale="90000"/>
          </a:bodyPr>
          <a:lstStyle/>
          <a:p>
            <a:pPr algn="r"/>
            <a:r>
              <a:rPr lang="en-US" altLang="ko-KR" sz="2800" dirty="0">
                <a:ea typeface="굴림" pitchFamily="50" charset="-127"/>
              </a:rPr>
              <a:t>Constructing LR(1) Parsing Table </a:t>
            </a:r>
            <a:br>
              <a:rPr lang="en-US" altLang="ko-KR" sz="2800" dirty="0">
                <a:ea typeface="굴림" pitchFamily="50" charset="-127"/>
              </a:rPr>
            </a:br>
            <a:r>
              <a:rPr lang="en-US" altLang="ko-KR" sz="2800" dirty="0">
                <a:ea typeface="굴림" pitchFamily="50" charset="-127"/>
              </a:rPr>
              <a:t>(1/4) 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66800" y="1828801"/>
            <a:ext cx="7543800" cy="4495799"/>
          </a:xfrm>
        </p:spPr>
        <p:txBody>
          <a:bodyPr>
            <a:normAutofit/>
          </a:bodyPr>
          <a:lstStyle/>
          <a:p>
            <a:pPr algn="just">
              <a:lnSpc>
                <a:spcPct val="90000"/>
              </a:lnSpc>
            </a:pPr>
            <a:r>
              <a:rPr lang="en-US" altLang="ko-KR" dirty="0">
                <a:ea typeface="굴림" pitchFamily="50" charset="-127"/>
              </a:rPr>
              <a:t>In SLR, reduction of A → α is determined by looking to see if a comes after α while LR sees if βAa is allowed </a:t>
            </a:r>
          </a:p>
          <a:p>
            <a:pPr algn="just">
              <a:lnSpc>
                <a:spcPct val="90000"/>
              </a:lnSpc>
            </a:pPr>
            <a:endParaRPr lang="en-US" altLang="ko-KR" dirty="0">
              <a:ea typeface="굴림" pitchFamily="50" charset="-127"/>
            </a:endParaRPr>
          </a:p>
          <a:p>
            <a:pPr algn="just">
              <a:lnSpc>
                <a:spcPct val="90000"/>
              </a:lnSpc>
            </a:pPr>
            <a:r>
              <a:rPr lang="en-US" altLang="ko-KR" dirty="0">
                <a:ea typeface="굴림" pitchFamily="50" charset="-127"/>
              </a:rPr>
              <a:t>Redefinition of items to include a terminal symbol </a:t>
            </a:r>
          </a:p>
          <a:p>
            <a:pPr algn="just">
              <a:lnSpc>
                <a:spcPct val="90000"/>
              </a:lnSpc>
              <a:buFontTx/>
              <a:buNone/>
            </a:pPr>
            <a:r>
              <a:rPr lang="en-US" altLang="ko-KR" dirty="0">
                <a:ea typeface="굴림" pitchFamily="50" charset="-127"/>
              </a:rPr>
              <a:t>	[A → α·β, a], where A → αβ is a production and </a:t>
            </a:r>
            <a:r>
              <a:rPr lang="en-US" altLang="ko-KR" b="1" dirty="0">
                <a:ea typeface="굴림" pitchFamily="50" charset="-127"/>
              </a:rPr>
              <a:t>a </a:t>
            </a:r>
            <a:r>
              <a:rPr lang="en-US" altLang="ko-KR" dirty="0">
                <a:ea typeface="굴림" pitchFamily="50" charset="-127"/>
              </a:rPr>
              <a:t>is a terminal or the right </a:t>
            </a:r>
            <a:r>
              <a:rPr lang="en-US" altLang="ko-KR" dirty="0" err="1">
                <a:ea typeface="굴림" pitchFamily="50" charset="-127"/>
              </a:rPr>
              <a:t>endmarker</a:t>
            </a:r>
            <a:r>
              <a:rPr lang="en-US" altLang="ko-KR" dirty="0">
                <a:ea typeface="굴림" pitchFamily="50" charset="-127"/>
              </a:rPr>
              <a:t> </a:t>
            </a:r>
            <a:r>
              <a:rPr lang="en-US" altLang="ko-KR" b="1" dirty="0">
                <a:ea typeface="굴림" pitchFamily="50" charset="-127"/>
              </a:rPr>
              <a:t>$</a:t>
            </a:r>
            <a:r>
              <a:rPr lang="en-US" altLang="ko-KR" dirty="0">
                <a:ea typeface="굴림" pitchFamily="50" charset="-127"/>
              </a:rPr>
              <a:t>. </a:t>
            </a:r>
          </a:p>
          <a:p>
            <a:pPr algn="just">
              <a:lnSpc>
                <a:spcPct val="90000"/>
              </a:lnSpc>
              <a:buFontTx/>
              <a:buNone/>
            </a:pPr>
            <a:endParaRPr lang="en-US" altLang="ko-KR" dirty="0">
              <a:ea typeface="굴림" pitchFamily="50" charset="-127"/>
            </a:endParaRPr>
          </a:p>
          <a:p>
            <a:pPr algn="just">
              <a:lnSpc>
                <a:spcPct val="90000"/>
              </a:lnSpc>
            </a:pPr>
            <a:r>
              <a:rPr lang="en-US" altLang="ko-KR" dirty="0">
                <a:ea typeface="굴림" pitchFamily="50" charset="-127"/>
              </a:rPr>
              <a:t>The lookahead symbol a has no effect when β ≠ </a:t>
            </a:r>
            <a:r>
              <a:rPr lang="en-US" altLang="ko-KR" dirty="0" err="1">
                <a:ea typeface="굴림" pitchFamily="50" charset="-127"/>
              </a:rPr>
              <a:t>ε</a:t>
            </a:r>
            <a:r>
              <a:rPr lang="en-US" altLang="ko-KR" dirty="0">
                <a:ea typeface="굴림" pitchFamily="50" charset="-127"/>
              </a:rPr>
              <a:t>, but an item of the form [A → α·, a] calls for reduction by A → α </a:t>
            </a:r>
            <a:r>
              <a:rPr lang="en-US" altLang="ko-KR" b="1" dirty="0">
                <a:ea typeface="굴림" pitchFamily="50" charset="-127"/>
              </a:rPr>
              <a:t>only if </a:t>
            </a:r>
            <a:r>
              <a:rPr lang="en-US" altLang="ko-KR" dirty="0">
                <a:ea typeface="굴림" pitchFamily="50" charset="-127"/>
              </a:rPr>
              <a:t>the next input symbol is </a:t>
            </a:r>
            <a:r>
              <a:rPr lang="en-US" altLang="ko-KR" b="1" dirty="0">
                <a:ea typeface="굴림" pitchFamily="50" charset="-127"/>
              </a:rPr>
              <a:t>a</a:t>
            </a:r>
            <a:r>
              <a:rPr lang="en-US" altLang="ko-KR" dirty="0">
                <a:ea typeface="굴림" pitchFamily="50" charset="-127"/>
              </a:rPr>
              <a:t>, where </a:t>
            </a:r>
            <a:r>
              <a:rPr lang="en-US" altLang="ko-KR" b="1" dirty="0">
                <a:ea typeface="굴림" pitchFamily="50" charset="-127"/>
              </a:rPr>
              <a:t>a</a:t>
            </a:r>
            <a:r>
              <a:rPr lang="en-US" altLang="ko-KR" dirty="0">
                <a:ea typeface="굴림" pitchFamily="50" charset="-127"/>
              </a:rPr>
              <a:t> ∈ FOLLOW(A).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Bina</a:t>
            </a:r>
            <a:r>
              <a:rPr lang="en-US" dirty="0"/>
              <a:t> Nusantara University</a:t>
            </a:r>
          </a:p>
        </p:txBody>
      </p:sp>
      <p:sp>
        <p:nvSpPr>
          <p:cNvPr id="2253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093134A-0242-4415-BF2C-5532049E0119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66800" y="1600201"/>
            <a:ext cx="7620000" cy="4876800"/>
          </a:xfrm>
        </p:spPr>
        <p:txBody>
          <a:bodyPr>
            <a:normAutofit/>
          </a:bodyPr>
          <a:lstStyle/>
          <a:p>
            <a:pPr algn="just"/>
            <a:r>
              <a:rPr lang="en-US" altLang="ko-KR" dirty="0">
                <a:ea typeface="굴림" pitchFamily="50" charset="-127"/>
              </a:rPr>
              <a:t>Closure(I)</a:t>
            </a:r>
          </a:p>
          <a:p>
            <a:pPr algn="just">
              <a:buNone/>
            </a:pPr>
            <a:r>
              <a:rPr lang="en-US" altLang="ko-KR" dirty="0">
                <a:ea typeface="굴림" pitchFamily="50" charset="-127"/>
              </a:rPr>
              <a:t>	Repeat</a:t>
            </a:r>
          </a:p>
          <a:p>
            <a:pPr lvl="1" algn="just">
              <a:buNone/>
            </a:pPr>
            <a:r>
              <a:rPr lang="en-US" altLang="ko-KR" dirty="0">
                <a:ea typeface="굴림" pitchFamily="50" charset="-127"/>
              </a:rPr>
              <a:t>	For (each item [A → α</a:t>
            </a:r>
            <a:r>
              <a:rPr lang="en-US" altLang="ko-KR" dirty="0">
                <a:ea typeface="굴림" pitchFamily="50" charset="-127"/>
                <a:sym typeface="Wingdings" pitchFamily="2" charset="2"/>
              </a:rPr>
              <a:t>·</a:t>
            </a:r>
            <a:r>
              <a:rPr lang="en-US" altLang="ko-KR" dirty="0">
                <a:ea typeface="굴림" pitchFamily="50" charset="-127"/>
              </a:rPr>
              <a:t>Bβ, a] ∈ I) </a:t>
            </a:r>
          </a:p>
          <a:p>
            <a:pPr lvl="1" algn="just">
              <a:buFontTx/>
              <a:buNone/>
            </a:pPr>
            <a:r>
              <a:rPr lang="en-US" altLang="ko-KR" dirty="0">
                <a:ea typeface="굴림" pitchFamily="50" charset="-127"/>
              </a:rPr>
              <a:t>		    For (each production B → γ in G' )</a:t>
            </a:r>
          </a:p>
          <a:p>
            <a:pPr lvl="1" algn="just">
              <a:buFontTx/>
              <a:buNone/>
            </a:pPr>
            <a:r>
              <a:rPr lang="en-US" altLang="ko-KR" dirty="0">
                <a:ea typeface="굴림" pitchFamily="50" charset="-127"/>
              </a:rPr>
              <a:t>			For (each terminal b in  FIRST(βα))</a:t>
            </a:r>
          </a:p>
          <a:p>
            <a:pPr lvl="1" algn="just">
              <a:buFontTx/>
              <a:buNone/>
            </a:pPr>
            <a:r>
              <a:rPr lang="en-US" altLang="ko-KR" dirty="0">
                <a:ea typeface="굴림" pitchFamily="50" charset="-127"/>
              </a:rPr>
              <a:t>			 add [ B → </a:t>
            </a:r>
            <a:r>
              <a:rPr lang="en-US" altLang="ko-KR" dirty="0">
                <a:ea typeface="굴림" pitchFamily="50" charset="-127"/>
                <a:sym typeface="Wingdings" pitchFamily="2" charset="2"/>
              </a:rPr>
              <a:t>·</a:t>
            </a:r>
            <a:r>
              <a:rPr lang="en-US" altLang="ko-KR" dirty="0" err="1">
                <a:ea typeface="굴림" pitchFamily="50" charset="-127"/>
              </a:rPr>
              <a:t>γ</a:t>
            </a:r>
            <a:r>
              <a:rPr lang="en-US" altLang="ko-KR" dirty="0">
                <a:ea typeface="굴림" pitchFamily="50" charset="-127"/>
              </a:rPr>
              <a:t> ] to set I </a:t>
            </a:r>
          </a:p>
          <a:p>
            <a:pPr lvl="1" algn="just">
              <a:buFontTx/>
              <a:buNone/>
            </a:pPr>
            <a:r>
              <a:rPr lang="en-US" altLang="ko-KR" dirty="0">
                <a:ea typeface="굴림" pitchFamily="50" charset="-127"/>
              </a:rPr>
              <a:t>until no more items are added to I. </a:t>
            </a:r>
          </a:p>
          <a:p>
            <a:pPr algn="just"/>
            <a:endParaRPr lang="en-US" altLang="ko-KR" dirty="0">
              <a:ea typeface="굴림" pitchFamily="50" charset="-127"/>
            </a:endParaRPr>
          </a:p>
          <a:p>
            <a:pPr algn="just"/>
            <a:r>
              <a:rPr lang="en-US" altLang="ko-KR" dirty="0">
                <a:ea typeface="굴림" pitchFamily="50" charset="-127"/>
              </a:rPr>
              <a:t>GOTO[I, x] </a:t>
            </a:r>
          </a:p>
          <a:p>
            <a:pPr algn="just">
              <a:buNone/>
            </a:pPr>
            <a:r>
              <a:rPr lang="en-US" altLang="ko-KR" dirty="0">
                <a:ea typeface="굴림" pitchFamily="50" charset="-127"/>
              </a:rPr>
              <a:t>	Initialize J to the empty set</a:t>
            </a:r>
          </a:p>
          <a:p>
            <a:pPr algn="just">
              <a:buNone/>
            </a:pPr>
            <a:r>
              <a:rPr lang="en-US" altLang="ko-KR" dirty="0">
                <a:ea typeface="굴림" pitchFamily="50" charset="-127"/>
              </a:rPr>
              <a:t>	For (each item [A → α</a:t>
            </a:r>
            <a:r>
              <a:rPr lang="en-US" altLang="ko-KR" dirty="0">
                <a:ea typeface="굴림" pitchFamily="50" charset="-127"/>
                <a:sym typeface="Wingdings" pitchFamily="2" charset="2"/>
              </a:rPr>
              <a:t>·</a:t>
            </a:r>
            <a:r>
              <a:rPr lang="en-US" altLang="ko-KR" dirty="0">
                <a:ea typeface="굴림" pitchFamily="50" charset="-127"/>
              </a:rPr>
              <a:t>Xβ, a] ∈ I)</a:t>
            </a:r>
          </a:p>
          <a:p>
            <a:pPr algn="just">
              <a:buNone/>
            </a:pPr>
            <a:r>
              <a:rPr lang="en-US" altLang="ko-KR" dirty="0">
                <a:ea typeface="굴림" pitchFamily="50" charset="-127"/>
              </a:rPr>
              <a:t>		add item [A → αX</a:t>
            </a:r>
            <a:r>
              <a:rPr lang="en-US" altLang="ko-KR" dirty="0">
                <a:ea typeface="굴림" pitchFamily="50" charset="-127"/>
                <a:sym typeface="Wingdings" pitchFamily="2" charset="2"/>
              </a:rPr>
              <a:t>·</a:t>
            </a:r>
            <a:r>
              <a:rPr lang="en-US" altLang="ko-KR" dirty="0">
                <a:ea typeface="굴림" pitchFamily="50" charset="-127"/>
              </a:rPr>
              <a:t>β, a] to set J, and find closure(J) 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Bina</a:t>
            </a:r>
            <a:r>
              <a:rPr lang="en-US" dirty="0"/>
              <a:t> Nusantara University</a:t>
            </a:r>
          </a:p>
        </p:txBody>
      </p:sp>
      <p:sp>
        <p:nvSpPr>
          <p:cNvPr id="2355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1C80742-7665-489F-AAAB-640591EAC645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B41DDECA-D169-0D4B-A4EF-08B7DF859E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76600" y="152400"/>
            <a:ext cx="5334000" cy="762000"/>
          </a:xfrm>
        </p:spPr>
        <p:txBody>
          <a:bodyPr>
            <a:normAutofit fontScale="90000"/>
          </a:bodyPr>
          <a:lstStyle/>
          <a:p>
            <a:pPr algn="r"/>
            <a:r>
              <a:rPr lang="en-US" altLang="ko-KR" sz="2800" dirty="0">
                <a:ea typeface="굴림" pitchFamily="50" charset="-127"/>
              </a:rPr>
              <a:t>Constructing LR(1) Parsing Table </a:t>
            </a:r>
            <a:br>
              <a:rPr lang="en-US" altLang="ko-KR" sz="2800" dirty="0">
                <a:ea typeface="굴림" pitchFamily="50" charset="-127"/>
              </a:rPr>
            </a:br>
            <a:r>
              <a:rPr lang="en-US" altLang="ko-KR" sz="2800" dirty="0">
                <a:ea typeface="굴림" pitchFamily="50" charset="-127"/>
              </a:rPr>
              <a:t>(2/4) 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9800" y="1422400"/>
            <a:ext cx="8128000" cy="4879975"/>
          </a:xfrm>
        </p:spPr>
        <p:txBody>
          <a:bodyPr>
            <a:normAutofit/>
          </a:bodyPr>
          <a:lstStyle/>
          <a:p>
            <a:r>
              <a:rPr lang="en-US" altLang="ko-KR" dirty="0">
                <a:ea typeface="굴림" pitchFamily="50" charset="-127"/>
              </a:rPr>
              <a:t>Example</a:t>
            </a:r>
          </a:p>
          <a:p>
            <a:pPr lvl="1"/>
            <a:r>
              <a:rPr lang="en-US" altLang="ko-KR" dirty="0">
                <a:ea typeface="굴림" pitchFamily="50" charset="-127"/>
              </a:rPr>
              <a:t>S' → S, S → CC, C → </a:t>
            </a:r>
            <a:r>
              <a:rPr lang="en-US" altLang="ko-KR" dirty="0" err="1">
                <a:ea typeface="굴림" pitchFamily="50" charset="-127"/>
              </a:rPr>
              <a:t>cC</a:t>
            </a:r>
            <a:r>
              <a:rPr lang="en-US" altLang="ko-KR" dirty="0">
                <a:ea typeface="굴림" pitchFamily="50" charset="-127"/>
              </a:rPr>
              <a:t> | d </a:t>
            </a:r>
          </a:p>
        </p:txBody>
      </p:sp>
      <p:sp>
        <p:nvSpPr>
          <p:cNvPr id="24621" name="Text Box 48"/>
          <p:cNvSpPr txBox="1">
            <a:spLocks noChangeArrowheads="1"/>
          </p:cNvSpPr>
          <p:nvPr/>
        </p:nvSpPr>
        <p:spPr bwMode="auto">
          <a:xfrm>
            <a:off x="2168926" y="6324600"/>
            <a:ext cx="5135033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atinLnBrk="1">
              <a:spcBef>
                <a:spcPct val="50000"/>
              </a:spcBef>
            </a:pPr>
            <a:r>
              <a:rPr kumimoji="1" lang="en-US" altLang="ko-KR" sz="1600" b="1" dirty="0">
                <a:latin typeface="Open Sans"/>
                <a:ea typeface="굴림" pitchFamily="50" charset="-127"/>
              </a:rPr>
              <a:t>&lt;LR(1) Finite State Diagram&gt;</a:t>
            </a:r>
          </a:p>
        </p:txBody>
      </p:sp>
      <p:sp>
        <p:nvSpPr>
          <p:cNvPr id="49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Bina</a:t>
            </a:r>
            <a:r>
              <a:rPr lang="en-US" dirty="0"/>
              <a:t> Nusantara University</a:t>
            </a:r>
          </a:p>
        </p:txBody>
      </p:sp>
      <p:sp>
        <p:nvSpPr>
          <p:cNvPr id="2471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9C486D1-6D97-44DA-9C41-629A63C1A45D}" type="slidenum">
              <a:rPr lang="en-US" smtClean="0"/>
              <a:pPr/>
              <a:t>26</a:t>
            </a:fld>
            <a:endParaRPr lang="en-US"/>
          </a:p>
        </p:txBody>
      </p:sp>
      <p:grpSp>
        <p:nvGrpSpPr>
          <p:cNvPr id="94" name="Group 93"/>
          <p:cNvGrpSpPr/>
          <p:nvPr/>
        </p:nvGrpSpPr>
        <p:grpSpPr>
          <a:xfrm>
            <a:off x="1175066" y="2209800"/>
            <a:ext cx="7359334" cy="4343400"/>
            <a:chOff x="1175066" y="2209800"/>
            <a:chExt cx="7359334" cy="4343400"/>
          </a:xfrm>
        </p:grpSpPr>
        <p:sp>
          <p:nvSpPr>
            <p:cNvPr id="24580" name="Oval 4"/>
            <p:cNvSpPr>
              <a:spLocks noChangeArrowheads="1"/>
            </p:cNvSpPr>
            <p:nvPr/>
          </p:nvSpPr>
          <p:spPr bwMode="auto">
            <a:xfrm>
              <a:off x="3144968" y="2209800"/>
              <a:ext cx="1960432" cy="6858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latinLnBrk="1"/>
              <a:r>
                <a:rPr kumimoji="1" lang="en-US" altLang="ko-KR" sz="1600">
                  <a:solidFill>
                    <a:schemeClr val="bg1"/>
                  </a:solidFill>
                  <a:latin typeface="Open Sans"/>
                  <a:ea typeface="굴림" pitchFamily="50" charset="-127"/>
                </a:rPr>
                <a:t>I4</a:t>
              </a:r>
            </a:p>
            <a:p>
              <a:pPr algn="ctr" latinLnBrk="1"/>
              <a:r>
                <a:rPr kumimoji="1" lang="en-US" altLang="ko-KR" sz="1600">
                  <a:solidFill>
                    <a:schemeClr val="bg1"/>
                  </a:solidFill>
                  <a:latin typeface="Open Sans"/>
                  <a:ea typeface="굴림" pitchFamily="50" charset="-127"/>
                </a:rPr>
                <a:t>C</a:t>
              </a:r>
              <a:r>
                <a:rPr kumimoji="1" lang="en-US" altLang="ko-KR" sz="1600">
                  <a:solidFill>
                    <a:schemeClr val="bg1"/>
                  </a:solidFill>
                  <a:latin typeface="Open Sans"/>
                  <a:ea typeface="굴림" pitchFamily="50" charset="-127"/>
                  <a:sym typeface="Wingdings" pitchFamily="2" charset="2"/>
                </a:rPr>
                <a:t>d</a:t>
              </a:r>
              <a:r>
                <a:rPr kumimoji="1" lang="en-US" altLang="ko-KR" sz="1600">
                  <a:solidFill>
                    <a:schemeClr val="bg1"/>
                  </a:solidFill>
                  <a:latin typeface="Open Sans"/>
                  <a:ea typeface="굴림" pitchFamily="50" charset="-127"/>
                  <a:cs typeface="Tahoma" pitchFamily="34" charset="0"/>
                  <a:sym typeface="Wingdings" pitchFamily="2" charset="2"/>
                </a:rPr>
                <a:t>·, c/d</a:t>
              </a:r>
              <a:endParaRPr kumimoji="1" lang="en-US" altLang="ko-KR" sz="1600">
                <a:solidFill>
                  <a:schemeClr val="bg1"/>
                </a:solidFill>
                <a:latin typeface="Open Sans"/>
                <a:ea typeface="굴림" pitchFamily="50" charset="-127"/>
                <a:cs typeface="Tahoma" pitchFamily="34" charset="0"/>
              </a:endParaRPr>
            </a:p>
          </p:txBody>
        </p:sp>
        <p:sp>
          <p:nvSpPr>
            <p:cNvPr id="24581" name="Oval 5"/>
            <p:cNvSpPr>
              <a:spLocks noChangeArrowheads="1"/>
            </p:cNvSpPr>
            <p:nvPr/>
          </p:nvSpPr>
          <p:spPr bwMode="auto">
            <a:xfrm>
              <a:off x="6573968" y="2209800"/>
              <a:ext cx="1960432" cy="6858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latinLnBrk="1"/>
              <a:r>
                <a:rPr kumimoji="1" lang="en-US" altLang="ko-KR" sz="1600">
                  <a:solidFill>
                    <a:schemeClr val="bg1"/>
                  </a:solidFill>
                  <a:latin typeface="Open Sans"/>
                  <a:ea typeface="굴림" pitchFamily="50" charset="-127"/>
                </a:rPr>
                <a:t>I8</a:t>
              </a:r>
            </a:p>
            <a:p>
              <a:pPr algn="ctr" latinLnBrk="1"/>
              <a:r>
                <a:rPr kumimoji="1" lang="en-US" altLang="ko-KR" sz="1600">
                  <a:solidFill>
                    <a:schemeClr val="bg1"/>
                  </a:solidFill>
                  <a:latin typeface="Open Sans"/>
                  <a:ea typeface="굴림" pitchFamily="50" charset="-127"/>
                </a:rPr>
                <a:t>C</a:t>
              </a:r>
              <a:r>
                <a:rPr kumimoji="1" lang="en-US" altLang="ko-KR" sz="1600">
                  <a:solidFill>
                    <a:schemeClr val="bg1"/>
                  </a:solidFill>
                  <a:latin typeface="Open Sans"/>
                  <a:ea typeface="굴림" pitchFamily="50" charset="-127"/>
                  <a:sym typeface="Wingdings" pitchFamily="2" charset="2"/>
                </a:rPr>
                <a:t>cC</a:t>
              </a:r>
              <a:r>
                <a:rPr kumimoji="1" lang="en-US" altLang="ko-KR" sz="1600">
                  <a:solidFill>
                    <a:schemeClr val="bg1"/>
                  </a:solidFill>
                  <a:latin typeface="Open Sans"/>
                  <a:ea typeface="굴림" pitchFamily="50" charset="-127"/>
                  <a:cs typeface="Tahoma" pitchFamily="34" charset="0"/>
                  <a:sym typeface="Wingdings" pitchFamily="2" charset="2"/>
                </a:rPr>
                <a:t>·, c/d</a:t>
              </a:r>
            </a:p>
          </p:txBody>
        </p:sp>
        <p:sp>
          <p:nvSpPr>
            <p:cNvPr id="24582" name="Oval 6"/>
            <p:cNvSpPr>
              <a:spLocks noChangeArrowheads="1"/>
            </p:cNvSpPr>
            <p:nvPr/>
          </p:nvSpPr>
          <p:spPr bwMode="auto">
            <a:xfrm>
              <a:off x="1624227" y="2840037"/>
              <a:ext cx="1960432" cy="15033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latinLnBrk="1"/>
              <a:r>
                <a:rPr kumimoji="1" lang="en-US" altLang="ko-KR" sz="1600">
                  <a:solidFill>
                    <a:schemeClr val="bg1"/>
                  </a:solidFill>
                  <a:latin typeface="Open Sans"/>
                  <a:ea typeface="굴림" pitchFamily="50" charset="-127"/>
                </a:rPr>
                <a:t>I0</a:t>
              </a:r>
            </a:p>
            <a:p>
              <a:pPr algn="ctr" latinLnBrk="1"/>
              <a:r>
                <a:rPr kumimoji="1" lang="en-US" altLang="ko-KR" sz="1600">
                  <a:solidFill>
                    <a:schemeClr val="bg1"/>
                  </a:solidFill>
                  <a:latin typeface="Open Sans"/>
                  <a:ea typeface="굴림" pitchFamily="50" charset="-127"/>
                </a:rPr>
                <a:t>S`</a:t>
              </a:r>
              <a:r>
                <a:rPr kumimoji="1" lang="en-US" altLang="ko-KR" sz="1600">
                  <a:solidFill>
                    <a:schemeClr val="bg1"/>
                  </a:solidFill>
                  <a:latin typeface="Open Sans"/>
                  <a:ea typeface="굴림" pitchFamily="50" charset="-127"/>
                  <a:sym typeface="Wingdings" pitchFamily="2" charset="2"/>
                </a:rPr>
                <a:t></a:t>
              </a:r>
              <a:r>
                <a:rPr kumimoji="1" lang="en-US" altLang="ko-KR" sz="1600">
                  <a:solidFill>
                    <a:schemeClr val="bg1"/>
                  </a:solidFill>
                  <a:latin typeface="Open Sans"/>
                  <a:ea typeface="굴림" pitchFamily="50" charset="-127"/>
                  <a:cs typeface="Tahoma" pitchFamily="34" charset="0"/>
                  <a:sym typeface="Wingdings" pitchFamily="2" charset="2"/>
                </a:rPr>
                <a:t>·S, $</a:t>
              </a:r>
              <a:endParaRPr kumimoji="1" lang="en-US" altLang="ko-KR" sz="1600">
                <a:solidFill>
                  <a:schemeClr val="bg1"/>
                </a:solidFill>
                <a:latin typeface="Open Sans"/>
                <a:ea typeface="굴림" pitchFamily="50" charset="-127"/>
              </a:endParaRPr>
            </a:p>
            <a:p>
              <a:pPr algn="ctr" latinLnBrk="1"/>
              <a:r>
                <a:rPr kumimoji="1" lang="en-US" altLang="ko-KR" sz="1600">
                  <a:solidFill>
                    <a:schemeClr val="bg1"/>
                  </a:solidFill>
                  <a:latin typeface="Open Sans"/>
                  <a:ea typeface="굴림" pitchFamily="50" charset="-127"/>
                  <a:sym typeface="Wingdings" pitchFamily="2" charset="2"/>
                </a:rPr>
                <a:t>S·CC, $</a:t>
              </a:r>
              <a:br>
                <a:rPr kumimoji="1" lang="en-US" altLang="ko-KR" sz="1600">
                  <a:solidFill>
                    <a:schemeClr val="bg1"/>
                  </a:solidFill>
                  <a:latin typeface="Open Sans"/>
                  <a:ea typeface="굴림" pitchFamily="50" charset="-127"/>
                  <a:sym typeface="Wingdings" pitchFamily="2" charset="2"/>
                </a:rPr>
              </a:br>
              <a:r>
                <a:rPr kumimoji="1" lang="en-US" altLang="ko-KR" sz="1600">
                  <a:solidFill>
                    <a:schemeClr val="bg1"/>
                  </a:solidFill>
                  <a:latin typeface="Open Sans"/>
                  <a:ea typeface="굴림" pitchFamily="50" charset="-127"/>
                  <a:sym typeface="Wingdings" pitchFamily="2" charset="2"/>
                </a:rPr>
                <a:t>C·cC, c/d</a:t>
              </a:r>
              <a:br>
                <a:rPr kumimoji="1" lang="en-US" altLang="ko-KR" sz="1600">
                  <a:solidFill>
                    <a:schemeClr val="bg1"/>
                  </a:solidFill>
                  <a:latin typeface="Open Sans"/>
                  <a:ea typeface="굴림" pitchFamily="50" charset="-127"/>
                  <a:sym typeface="Wingdings" pitchFamily="2" charset="2"/>
                </a:rPr>
              </a:br>
              <a:r>
                <a:rPr kumimoji="1" lang="en-US" altLang="ko-KR" sz="1600">
                  <a:solidFill>
                    <a:schemeClr val="bg1"/>
                  </a:solidFill>
                  <a:latin typeface="Open Sans"/>
                  <a:ea typeface="굴림" pitchFamily="50" charset="-127"/>
                  <a:sym typeface="Wingdings" pitchFamily="2" charset="2"/>
                </a:rPr>
                <a:t>C·d, c/d</a:t>
              </a:r>
            </a:p>
          </p:txBody>
        </p:sp>
        <p:sp>
          <p:nvSpPr>
            <p:cNvPr id="24583" name="Oval 7"/>
            <p:cNvSpPr>
              <a:spLocks noChangeArrowheads="1"/>
            </p:cNvSpPr>
            <p:nvPr/>
          </p:nvSpPr>
          <p:spPr bwMode="auto">
            <a:xfrm>
              <a:off x="4821369" y="2971800"/>
              <a:ext cx="1960431" cy="117792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latinLnBrk="1"/>
              <a:r>
                <a:rPr kumimoji="1" lang="en-US" altLang="ko-KR" sz="1600">
                  <a:solidFill>
                    <a:schemeClr val="bg1"/>
                  </a:solidFill>
                  <a:latin typeface="Open Sans"/>
                  <a:ea typeface="굴림" pitchFamily="50" charset="-127"/>
                  <a:cs typeface="Tahoma" pitchFamily="34" charset="0"/>
                  <a:sym typeface="Wingdings" pitchFamily="2" charset="2"/>
                </a:rPr>
                <a:t>I3</a:t>
              </a:r>
            </a:p>
            <a:p>
              <a:pPr algn="ctr" latinLnBrk="1"/>
              <a:r>
                <a:rPr kumimoji="1" lang="en-US" altLang="ko-KR" sz="1600">
                  <a:solidFill>
                    <a:schemeClr val="bg1"/>
                  </a:solidFill>
                  <a:latin typeface="Open Sans"/>
                  <a:ea typeface="굴림" pitchFamily="50" charset="-127"/>
                  <a:cs typeface="Tahoma" pitchFamily="34" charset="0"/>
                  <a:sym typeface="Wingdings" pitchFamily="2" charset="2"/>
                </a:rPr>
                <a:t>Cc·C, c/d</a:t>
              </a:r>
              <a:br>
                <a:rPr kumimoji="1" lang="en-US" altLang="ko-KR" sz="1600">
                  <a:solidFill>
                    <a:schemeClr val="bg1"/>
                  </a:solidFill>
                  <a:latin typeface="Open Sans"/>
                  <a:ea typeface="굴림" pitchFamily="50" charset="-127"/>
                  <a:cs typeface="Tahoma" pitchFamily="34" charset="0"/>
                  <a:sym typeface="Wingdings" pitchFamily="2" charset="2"/>
                </a:rPr>
              </a:br>
              <a:r>
                <a:rPr kumimoji="1" lang="en-US" altLang="ko-KR" sz="1600">
                  <a:solidFill>
                    <a:schemeClr val="bg1"/>
                  </a:solidFill>
                  <a:latin typeface="Open Sans"/>
                  <a:ea typeface="굴림" pitchFamily="50" charset="-127"/>
                  <a:cs typeface="Tahoma" pitchFamily="34" charset="0"/>
                  <a:sym typeface="Wingdings" pitchFamily="2" charset="2"/>
                </a:rPr>
                <a:t>C·cC, c/d</a:t>
              </a:r>
              <a:br>
                <a:rPr kumimoji="1" lang="en-US" altLang="ko-KR" sz="1600">
                  <a:solidFill>
                    <a:schemeClr val="bg1"/>
                  </a:solidFill>
                  <a:latin typeface="Open Sans"/>
                  <a:ea typeface="굴림" pitchFamily="50" charset="-127"/>
                  <a:cs typeface="Tahoma" pitchFamily="34" charset="0"/>
                  <a:sym typeface="Wingdings" pitchFamily="2" charset="2"/>
                </a:rPr>
              </a:br>
              <a:r>
                <a:rPr kumimoji="1" lang="en-US" altLang="ko-KR" sz="1600">
                  <a:solidFill>
                    <a:schemeClr val="bg1"/>
                  </a:solidFill>
                  <a:latin typeface="Open Sans"/>
                  <a:ea typeface="굴림" pitchFamily="50" charset="-127"/>
                  <a:cs typeface="Tahoma" pitchFamily="34" charset="0"/>
                  <a:sym typeface="Wingdings" pitchFamily="2" charset="2"/>
                </a:rPr>
                <a:t>C·d, c/d</a:t>
              </a:r>
            </a:p>
          </p:txBody>
        </p:sp>
        <p:sp>
          <p:nvSpPr>
            <p:cNvPr id="24584" name="Oval 8"/>
            <p:cNvSpPr>
              <a:spLocks noChangeArrowheads="1"/>
            </p:cNvSpPr>
            <p:nvPr/>
          </p:nvSpPr>
          <p:spPr bwMode="auto">
            <a:xfrm>
              <a:off x="3297368" y="4114801"/>
              <a:ext cx="1960432" cy="11430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latinLnBrk="1"/>
              <a:r>
                <a:rPr kumimoji="1" lang="en-US" altLang="ko-KR" sz="1600">
                  <a:solidFill>
                    <a:schemeClr val="bg1"/>
                  </a:solidFill>
                  <a:latin typeface="Open Sans"/>
                  <a:ea typeface="굴림" pitchFamily="50" charset="-127"/>
                  <a:sym typeface="Wingdings" pitchFamily="2" charset="2"/>
                </a:rPr>
                <a:t>I2</a:t>
              </a:r>
            </a:p>
            <a:p>
              <a:pPr algn="ctr" latinLnBrk="1"/>
              <a:r>
                <a:rPr kumimoji="1" lang="en-US" altLang="ko-KR" sz="1600">
                  <a:solidFill>
                    <a:schemeClr val="bg1"/>
                  </a:solidFill>
                  <a:latin typeface="Open Sans"/>
                  <a:ea typeface="굴림" pitchFamily="50" charset="-127"/>
                  <a:sym typeface="Wingdings" pitchFamily="2" charset="2"/>
                </a:rPr>
                <a:t>SC</a:t>
              </a:r>
              <a:r>
                <a:rPr kumimoji="1" lang="en-US" altLang="ko-KR" sz="1600">
                  <a:solidFill>
                    <a:schemeClr val="bg1"/>
                  </a:solidFill>
                  <a:latin typeface="Open Sans"/>
                  <a:ea typeface="굴림" pitchFamily="50" charset="-127"/>
                  <a:cs typeface="Tahoma" pitchFamily="34" charset="0"/>
                  <a:sym typeface="Wingdings" pitchFamily="2" charset="2"/>
                </a:rPr>
                <a:t>·C, $</a:t>
              </a:r>
              <a:br>
                <a:rPr kumimoji="1" lang="en-US" altLang="ko-KR" sz="1600">
                  <a:solidFill>
                    <a:schemeClr val="bg1"/>
                  </a:solidFill>
                  <a:latin typeface="Open Sans"/>
                  <a:ea typeface="굴림" pitchFamily="50" charset="-127"/>
                  <a:cs typeface="Tahoma" pitchFamily="34" charset="0"/>
                  <a:sym typeface="Wingdings" pitchFamily="2" charset="2"/>
                </a:rPr>
              </a:br>
              <a:r>
                <a:rPr kumimoji="1" lang="en-US" altLang="ko-KR" sz="1600">
                  <a:solidFill>
                    <a:schemeClr val="bg1"/>
                  </a:solidFill>
                  <a:latin typeface="Open Sans"/>
                  <a:ea typeface="굴림" pitchFamily="50" charset="-127"/>
                  <a:cs typeface="Tahoma" pitchFamily="34" charset="0"/>
                  <a:sym typeface="Wingdings" pitchFamily="2" charset="2"/>
                </a:rPr>
                <a:t>C·cC, $</a:t>
              </a:r>
              <a:br>
                <a:rPr kumimoji="1" lang="en-US" altLang="ko-KR" sz="1600">
                  <a:solidFill>
                    <a:schemeClr val="bg1"/>
                  </a:solidFill>
                  <a:latin typeface="Open Sans"/>
                  <a:ea typeface="굴림" pitchFamily="50" charset="-127"/>
                  <a:cs typeface="Tahoma" pitchFamily="34" charset="0"/>
                  <a:sym typeface="Wingdings" pitchFamily="2" charset="2"/>
                </a:rPr>
              </a:br>
              <a:r>
                <a:rPr kumimoji="1" lang="en-US" altLang="ko-KR" sz="1600">
                  <a:solidFill>
                    <a:schemeClr val="bg1"/>
                  </a:solidFill>
                  <a:latin typeface="Open Sans"/>
                  <a:ea typeface="굴림" pitchFamily="50" charset="-127"/>
                  <a:sym typeface="Wingdings" pitchFamily="2" charset="2"/>
                </a:rPr>
                <a:t>C·d, $</a:t>
              </a:r>
            </a:p>
          </p:txBody>
        </p:sp>
        <p:sp>
          <p:nvSpPr>
            <p:cNvPr id="24585" name="Oval 9"/>
            <p:cNvSpPr>
              <a:spLocks noChangeArrowheads="1"/>
            </p:cNvSpPr>
            <p:nvPr/>
          </p:nvSpPr>
          <p:spPr bwMode="auto">
            <a:xfrm>
              <a:off x="6345368" y="4419600"/>
              <a:ext cx="1960432" cy="116522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latinLnBrk="1"/>
              <a:r>
                <a:rPr kumimoji="1" lang="en-US" altLang="ko-KR" sz="1600">
                  <a:solidFill>
                    <a:schemeClr val="bg1"/>
                  </a:solidFill>
                  <a:latin typeface="Open Sans"/>
                  <a:ea typeface="굴림" pitchFamily="50" charset="-127"/>
                  <a:cs typeface="Tahoma" pitchFamily="34" charset="0"/>
                  <a:sym typeface="Wingdings" pitchFamily="2" charset="2"/>
                </a:rPr>
                <a:t>I6</a:t>
              </a:r>
            </a:p>
            <a:p>
              <a:pPr algn="ctr" latinLnBrk="1"/>
              <a:r>
                <a:rPr kumimoji="1" lang="en-US" altLang="ko-KR" sz="1600">
                  <a:solidFill>
                    <a:schemeClr val="bg1"/>
                  </a:solidFill>
                  <a:latin typeface="Open Sans"/>
                  <a:ea typeface="굴림" pitchFamily="50" charset="-127"/>
                  <a:cs typeface="Tahoma" pitchFamily="34" charset="0"/>
                  <a:sym typeface="Wingdings" pitchFamily="2" charset="2"/>
                </a:rPr>
                <a:t>C</a:t>
              </a:r>
              <a:r>
                <a:rPr kumimoji="1" lang="en-US" altLang="ko-KR" sz="1600" dirty="0" err="1">
                  <a:solidFill>
                    <a:schemeClr val="bg1"/>
                  </a:solidFill>
                  <a:latin typeface="Open Sans"/>
                  <a:ea typeface="굴림" pitchFamily="50" charset="-127"/>
                  <a:cs typeface="Tahoma" pitchFamily="34" charset="0"/>
                  <a:sym typeface="Wingdings" pitchFamily="2" charset="2"/>
                </a:rPr>
                <a:t>c·C</a:t>
              </a:r>
              <a:r>
                <a:rPr kumimoji="1" lang="en-US" altLang="ko-KR" sz="1600" dirty="0">
                  <a:solidFill>
                    <a:schemeClr val="bg1"/>
                  </a:solidFill>
                  <a:latin typeface="Open Sans"/>
                  <a:ea typeface="굴림" pitchFamily="50" charset="-127"/>
                  <a:cs typeface="Tahoma" pitchFamily="34" charset="0"/>
                  <a:sym typeface="Wingdings" pitchFamily="2" charset="2"/>
                </a:rPr>
                <a:t>, $</a:t>
              </a:r>
              <a:br>
                <a:rPr kumimoji="1" lang="en-US" altLang="ko-KR" sz="1600" dirty="0">
                  <a:solidFill>
                    <a:schemeClr val="bg1"/>
                  </a:solidFill>
                  <a:latin typeface="Open Sans"/>
                  <a:ea typeface="굴림" pitchFamily="50" charset="-127"/>
                  <a:cs typeface="Tahoma" pitchFamily="34" charset="0"/>
                  <a:sym typeface="Wingdings" pitchFamily="2" charset="2"/>
                </a:rPr>
              </a:br>
              <a:r>
                <a:rPr kumimoji="1" lang="en-US" altLang="ko-KR" sz="1600" dirty="0">
                  <a:solidFill>
                    <a:schemeClr val="bg1"/>
                  </a:solidFill>
                  <a:latin typeface="Open Sans"/>
                  <a:ea typeface="굴림" pitchFamily="50" charset="-127"/>
                  <a:cs typeface="Tahoma" pitchFamily="34" charset="0"/>
                  <a:sym typeface="Wingdings" pitchFamily="2" charset="2"/>
                </a:rPr>
                <a:t>C·</a:t>
              </a:r>
              <a:r>
                <a:rPr kumimoji="1" lang="en-US" altLang="ko-KR" sz="1600" dirty="0" err="1">
                  <a:solidFill>
                    <a:schemeClr val="bg1"/>
                  </a:solidFill>
                  <a:latin typeface="Open Sans"/>
                  <a:ea typeface="굴림" pitchFamily="50" charset="-127"/>
                  <a:cs typeface="Tahoma" pitchFamily="34" charset="0"/>
                  <a:sym typeface="Wingdings" pitchFamily="2" charset="2"/>
                </a:rPr>
                <a:t>cC</a:t>
              </a:r>
              <a:r>
                <a:rPr kumimoji="1" lang="en-US" altLang="ko-KR" sz="1600" dirty="0">
                  <a:solidFill>
                    <a:schemeClr val="bg1"/>
                  </a:solidFill>
                  <a:latin typeface="Open Sans"/>
                  <a:ea typeface="굴림" pitchFamily="50" charset="-127"/>
                  <a:cs typeface="Tahoma" pitchFamily="34" charset="0"/>
                  <a:sym typeface="Wingdings" pitchFamily="2" charset="2"/>
                </a:rPr>
                <a:t>, $</a:t>
              </a:r>
              <a:br>
                <a:rPr kumimoji="1" lang="en-US" altLang="ko-KR" sz="1600" dirty="0">
                  <a:solidFill>
                    <a:schemeClr val="bg1"/>
                  </a:solidFill>
                  <a:latin typeface="Open Sans"/>
                  <a:ea typeface="굴림" pitchFamily="50" charset="-127"/>
                  <a:cs typeface="Tahoma" pitchFamily="34" charset="0"/>
                  <a:sym typeface="Wingdings" pitchFamily="2" charset="2"/>
                </a:rPr>
              </a:br>
              <a:r>
                <a:rPr kumimoji="1" lang="en-US" altLang="ko-KR" sz="1600" dirty="0">
                  <a:solidFill>
                    <a:schemeClr val="bg1"/>
                  </a:solidFill>
                  <a:latin typeface="Open Sans"/>
                  <a:ea typeface="굴림" pitchFamily="50" charset="-127"/>
                  <a:cs typeface="Tahoma" pitchFamily="34" charset="0"/>
                  <a:sym typeface="Wingdings" pitchFamily="2" charset="2"/>
                </a:rPr>
                <a:t>C·d, $</a:t>
              </a:r>
            </a:p>
          </p:txBody>
        </p:sp>
        <p:sp>
          <p:nvSpPr>
            <p:cNvPr id="24586" name="Oval 10"/>
            <p:cNvSpPr>
              <a:spLocks noChangeArrowheads="1"/>
            </p:cNvSpPr>
            <p:nvPr/>
          </p:nvSpPr>
          <p:spPr bwMode="auto">
            <a:xfrm>
              <a:off x="1892647" y="5562600"/>
              <a:ext cx="1307753" cy="6096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latinLnBrk="1"/>
              <a:r>
                <a:rPr kumimoji="1" lang="en-US" altLang="ko-KR" sz="1600">
                  <a:solidFill>
                    <a:schemeClr val="bg1"/>
                  </a:solidFill>
                  <a:latin typeface="Open Sans"/>
                  <a:ea typeface="굴림" pitchFamily="50" charset="-127"/>
                </a:rPr>
                <a:t>I5</a:t>
              </a:r>
            </a:p>
            <a:p>
              <a:pPr algn="ctr" latinLnBrk="1"/>
              <a:r>
                <a:rPr kumimoji="1" lang="en-US" altLang="ko-KR" sz="1600">
                  <a:solidFill>
                    <a:schemeClr val="bg1"/>
                  </a:solidFill>
                  <a:latin typeface="Open Sans"/>
                  <a:ea typeface="굴림" pitchFamily="50" charset="-127"/>
                </a:rPr>
                <a:t>S</a:t>
              </a:r>
              <a:r>
                <a:rPr kumimoji="1" lang="en-US" altLang="ko-KR" sz="1600">
                  <a:solidFill>
                    <a:schemeClr val="bg1"/>
                  </a:solidFill>
                  <a:latin typeface="Open Sans"/>
                  <a:ea typeface="굴림" pitchFamily="50" charset="-127"/>
                  <a:sym typeface="Wingdings" pitchFamily="2" charset="2"/>
                </a:rPr>
                <a:t>CC·</a:t>
              </a:r>
              <a:r>
                <a:rPr kumimoji="1" lang="en-US" altLang="ko-KR" sz="1600">
                  <a:solidFill>
                    <a:schemeClr val="bg1"/>
                  </a:solidFill>
                  <a:latin typeface="Open Sans"/>
                  <a:ea typeface="굴림" pitchFamily="50" charset="-127"/>
                  <a:cs typeface="Tahoma" pitchFamily="34" charset="0"/>
                  <a:sym typeface="Wingdings" pitchFamily="2" charset="2"/>
                </a:rPr>
                <a:t>, $</a:t>
              </a:r>
            </a:p>
          </p:txBody>
        </p:sp>
        <p:sp>
          <p:nvSpPr>
            <p:cNvPr id="24587" name="Oval 11"/>
            <p:cNvSpPr>
              <a:spLocks noChangeArrowheads="1"/>
            </p:cNvSpPr>
            <p:nvPr/>
          </p:nvSpPr>
          <p:spPr bwMode="auto">
            <a:xfrm>
              <a:off x="3581400" y="5715000"/>
              <a:ext cx="1415734" cy="533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latinLnBrk="1"/>
              <a:r>
                <a:rPr kumimoji="1" lang="en-US" altLang="ko-KR" sz="1600">
                  <a:solidFill>
                    <a:schemeClr val="bg1"/>
                  </a:solidFill>
                  <a:latin typeface="Open Sans"/>
                  <a:ea typeface="굴림" pitchFamily="50" charset="-127"/>
                </a:rPr>
                <a:t>I7</a:t>
              </a:r>
            </a:p>
            <a:p>
              <a:pPr algn="ctr" latinLnBrk="1"/>
              <a:r>
                <a:rPr kumimoji="1" lang="en-US" altLang="ko-KR" sz="1600">
                  <a:solidFill>
                    <a:schemeClr val="bg1"/>
                  </a:solidFill>
                  <a:latin typeface="Open Sans"/>
                  <a:ea typeface="굴림" pitchFamily="50" charset="-127"/>
                </a:rPr>
                <a:t>C</a:t>
              </a:r>
              <a:r>
                <a:rPr kumimoji="1" lang="en-US" altLang="ko-KR" sz="1600">
                  <a:solidFill>
                    <a:schemeClr val="bg1"/>
                  </a:solidFill>
                  <a:latin typeface="Open Sans"/>
                  <a:ea typeface="굴림" pitchFamily="50" charset="-127"/>
                  <a:sym typeface="Wingdings" pitchFamily="2" charset="2"/>
                </a:rPr>
                <a:t>d</a:t>
              </a:r>
              <a:r>
                <a:rPr kumimoji="1" lang="en-US" altLang="ko-KR" sz="1600">
                  <a:solidFill>
                    <a:schemeClr val="bg1"/>
                  </a:solidFill>
                  <a:latin typeface="Open Sans"/>
                  <a:ea typeface="굴림" pitchFamily="50" charset="-127"/>
                  <a:cs typeface="Tahoma" pitchFamily="34" charset="0"/>
                  <a:sym typeface="Wingdings" pitchFamily="2" charset="2"/>
                </a:rPr>
                <a:t>·, $</a:t>
              </a:r>
              <a:endParaRPr kumimoji="1" lang="en-US" altLang="ko-KR" sz="1600">
                <a:solidFill>
                  <a:schemeClr val="bg1"/>
                </a:solidFill>
                <a:latin typeface="Open Sans"/>
                <a:ea typeface="굴림" pitchFamily="50" charset="-127"/>
                <a:cs typeface="Tahoma" pitchFamily="34" charset="0"/>
              </a:endParaRPr>
            </a:p>
          </p:txBody>
        </p:sp>
        <p:sp>
          <p:nvSpPr>
            <p:cNvPr id="24588" name="Oval 12"/>
            <p:cNvSpPr>
              <a:spLocks noChangeArrowheads="1"/>
            </p:cNvSpPr>
            <p:nvPr/>
          </p:nvSpPr>
          <p:spPr bwMode="auto">
            <a:xfrm>
              <a:off x="5638800" y="5964238"/>
              <a:ext cx="1960432" cy="5889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latinLnBrk="1"/>
              <a:r>
                <a:rPr kumimoji="1" lang="en-US" altLang="ko-KR" sz="1600">
                  <a:solidFill>
                    <a:schemeClr val="bg1"/>
                  </a:solidFill>
                  <a:latin typeface="Open Sans"/>
                  <a:ea typeface="굴림" pitchFamily="50" charset="-127"/>
                </a:rPr>
                <a:t>I9</a:t>
              </a:r>
            </a:p>
            <a:p>
              <a:pPr algn="ctr" latinLnBrk="1"/>
              <a:r>
                <a:rPr kumimoji="1" lang="en-US" altLang="ko-KR" sz="1600">
                  <a:solidFill>
                    <a:schemeClr val="bg1"/>
                  </a:solidFill>
                  <a:latin typeface="Open Sans"/>
                  <a:ea typeface="굴림" pitchFamily="50" charset="-127"/>
                </a:rPr>
                <a:t>C</a:t>
              </a:r>
              <a:r>
                <a:rPr kumimoji="1" lang="en-US" altLang="ko-KR" sz="1600">
                  <a:solidFill>
                    <a:schemeClr val="bg1"/>
                  </a:solidFill>
                  <a:latin typeface="Open Sans"/>
                  <a:ea typeface="굴림" pitchFamily="50" charset="-127"/>
                  <a:sym typeface="Wingdings" pitchFamily="2" charset="2"/>
                </a:rPr>
                <a:t>cC·,</a:t>
              </a:r>
              <a:r>
                <a:rPr kumimoji="1" lang="en-US" altLang="ko-KR" sz="1600">
                  <a:solidFill>
                    <a:schemeClr val="bg1"/>
                  </a:solidFill>
                  <a:latin typeface="Open Sans"/>
                  <a:ea typeface="굴림" pitchFamily="50" charset="-127"/>
                  <a:cs typeface="Tahoma" pitchFamily="34" charset="0"/>
                  <a:sym typeface="Wingdings" pitchFamily="2" charset="2"/>
                </a:rPr>
                <a:t> $</a:t>
              </a:r>
            </a:p>
          </p:txBody>
        </p:sp>
        <p:sp>
          <p:nvSpPr>
            <p:cNvPr id="24589" name="Oval 13"/>
            <p:cNvSpPr>
              <a:spLocks noChangeArrowheads="1"/>
            </p:cNvSpPr>
            <p:nvPr/>
          </p:nvSpPr>
          <p:spPr bwMode="auto">
            <a:xfrm>
              <a:off x="1175066" y="4668838"/>
              <a:ext cx="1415734" cy="5889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latinLnBrk="1"/>
              <a:r>
                <a:rPr kumimoji="1" lang="en-US" altLang="ko-KR" sz="1600">
                  <a:solidFill>
                    <a:schemeClr val="bg1"/>
                  </a:solidFill>
                  <a:latin typeface="Open Sans"/>
                  <a:ea typeface="굴림" pitchFamily="50" charset="-127"/>
                </a:rPr>
                <a:t>I1</a:t>
              </a:r>
            </a:p>
            <a:p>
              <a:pPr algn="ctr" latinLnBrk="1"/>
              <a:r>
                <a:rPr kumimoji="1" lang="en-US" altLang="ko-KR" sz="1600">
                  <a:solidFill>
                    <a:schemeClr val="bg1"/>
                  </a:solidFill>
                  <a:latin typeface="Open Sans"/>
                  <a:ea typeface="굴림" pitchFamily="50" charset="-127"/>
                </a:rPr>
                <a:t>S`</a:t>
              </a:r>
              <a:r>
                <a:rPr kumimoji="1" lang="en-US" altLang="ko-KR" sz="1600">
                  <a:solidFill>
                    <a:schemeClr val="bg1"/>
                  </a:solidFill>
                  <a:latin typeface="Open Sans"/>
                  <a:ea typeface="굴림" pitchFamily="50" charset="-127"/>
                  <a:sym typeface="Wingdings" pitchFamily="2" charset="2"/>
                </a:rPr>
                <a:t>S. </a:t>
              </a:r>
              <a:r>
                <a:rPr kumimoji="1" lang="en-US" altLang="ko-KR" sz="1600">
                  <a:solidFill>
                    <a:schemeClr val="bg1"/>
                  </a:solidFill>
                  <a:latin typeface="Open Sans"/>
                  <a:ea typeface="굴림" pitchFamily="50" charset="-127"/>
                  <a:cs typeface="Tahoma" pitchFamily="34" charset="0"/>
                  <a:sym typeface="Wingdings" pitchFamily="2" charset="2"/>
                </a:rPr>
                <a:t>, $</a:t>
              </a:r>
              <a:endParaRPr kumimoji="1" lang="en-US" altLang="ko-KR" sz="1600">
                <a:solidFill>
                  <a:schemeClr val="bg1"/>
                </a:solidFill>
                <a:latin typeface="Open Sans"/>
                <a:ea typeface="굴림" pitchFamily="50" charset="-127"/>
                <a:cs typeface="Tahoma" pitchFamily="34" charset="0"/>
              </a:endParaRPr>
            </a:p>
          </p:txBody>
        </p:sp>
        <p:sp>
          <p:nvSpPr>
            <p:cNvPr id="24599" name="Text Box 24"/>
            <p:cNvSpPr txBox="1">
              <a:spLocks noChangeArrowheads="1"/>
            </p:cNvSpPr>
            <p:nvPr/>
          </p:nvSpPr>
          <p:spPr bwMode="auto">
            <a:xfrm>
              <a:off x="2667000" y="2209800"/>
              <a:ext cx="544698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latinLnBrk="1">
                <a:spcBef>
                  <a:spcPct val="50000"/>
                </a:spcBef>
              </a:pPr>
              <a:r>
                <a:rPr kumimoji="1" lang="en-US" altLang="ko-KR" sz="1600">
                  <a:latin typeface="Open Sans"/>
                  <a:ea typeface="굴림" pitchFamily="50" charset="-127"/>
                </a:rPr>
                <a:t>d</a:t>
              </a:r>
            </a:p>
          </p:txBody>
        </p:sp>
        <p:sp>
          <p:nvSpPr>
            <p:cNvPr id="24600" name="Text Box 25"/>
            <p:cNvSpPr txBox="1">
              <a:spLocks noChangeArrowheads="1"/>
            </p:cNvSpPr>
            <p:nvPr/>
          </p:nvSpPr>
          <p:spPr bwMode="auto">
            <a:xfrm>
              <a:off x="6313302" y="2590800"/>
              <a:ext cx="544698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latinLnBrk="1">
                <a:spcBef>
                  <a:spcPct val="50000"/>
                </a:spcBef>
              </a:pPr>
              <a:r>
                <a:rPr kumimoji="1" lang="en-US" altLang="ko-KR" sz="1600">
                  <a:latin typeface="Open Sans"/>
                  <a:ea typeface="굴림" pitchFamily="50" charset="-127"/>
                </a:rPr>
                <a:t>C</a:t>
              </a:r>
            </a:p>
          </p:txBody>
        </p:sp>
        <p:sp>
          <p:nvSpPr>
            <p:cNvPr id="24601" name="Text Box 26"/>
            <p:cNvSpPr txBox="1">
              <a:spLocks noChangeArrowheads="1"/>
            </p:cNvSpPr>
            <p:nvPr/>
          </p:nvSpPr>
          <p:spPr bwMode="auto">
            <a:xfrm>
              <a:off x="3800619" y="3230563"/>
              <a:ext cx="544697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latinLnBrk="1">
                <a:spcBef>
                  <a:spcPct val="50000"/>
                </a:spcBef>
              </a:pPr>
              <a:r>
                <a:rPr kumimoji="1" lang="en-US" altLang="ko-KR" sz="1600">
                  <a:latin typeface="Open Sans"/>
                  <a:ea typeface="굴림" pitchFamily="50" charset="-127"/>
                </a:rPr>
                <a:t>c</a:t>
              </a:r>
            </a:p>
          </p:txBody>
        </p:sp>
        <p:sp>
          <p:nvSpPr>
            <p:cNvPr id="24602" name="Text Box 27"/>
            <p:cNvSpPr txBox="1">
              <a:spLocks noChangeArrowheads="1"/>
            </p:cNvSpPr>
            <p:nvPr/>
          </p:nvSpPr>
          <p:spPr bwMode="auto">
            <a:xfrm>
              <a:off x="2895600" y="4385846"/>
              <a:ext cx="544697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latinLnBrk="1">
                <a:spcBef>
                  <a:spcPct val="50000"/>
                </a:spcBef>
              </a:pPr>
              <a:r>
                <a:rPr kumimoji="1" lang="en-US" altLang="ko-KR" sz="1600">
                  <a:latin typeface="Open Sans"/>
                  <a:ea typeface="굴림" pitchFamily="50" charset="-127"/>
                </a:rPr>
                <a:t>C</a:t>
              </a:r>
            </a:p>
          </p:txBody>
        </p:sp>
        <p:sp>
          <p:nvSpPr>
            <p:cNvPr id="24603" name="Text Box 28"/>
            <p:cNvSpPr txBox="1">
              <a:spLocks noChangeArrowheads="1"/>
            </p:cNvSpPr>
            <p:nvPr/>
          </p:nvSpPr>
          <p:spPr bwMode="auto">
            <a:xfrm>
              <a:off x="1295400" y="4165600"/>
              <a:ext cx="544697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latinLnBrk="1">
                <a:spcBef>
                  <a:spcPct val="50000"/>
                </a:spcBef>
              </a:pPr>
              <a:r>
                <a:rPr kumimoji="1" lang="en-US" altLang="ko-KR" sz="1600">
                  <a:latin typeface="Open Sans"/>
                  <a:ea typeface="굴림" pitchFamily="50" charset="-127"/>
                </a:rPr>
                <a:t>S</a:t>
              </a:r>
            </a:p>
          </p:txBody>
        </p:sp>
        <p:sp>
          <p:nvSpPr>
            <p:cNvPr id="24604" name="Text Box 29"/>
            <p:cNvSpPr txBox="1">
              <a:spLocks noChangeArrowheads="1"/>
            </p:cNvSpPr>
            <p:nvPr/>
          </p:nvSpPr>
          <p:spPr bwMode="auto">
            <a:xfrm>
              <a:off x="2808102" y="5029200"/>
              <a:ext cx="544698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latinLnBrk="1">
                <a:spcBef>
                  <a:spcPct val="50000"/>
                </a:spcBef>
              </a:pPr>
              <a:r>
                <a:rPr kumimoji="1" lang="en-US" altLang="ko-KR" sz="1600">
                  <a:latin typeface="Open Sans"/>
                  <a:ea typeface="굴림" pitchFamily="50" charset="-127"/>
                </a:rPr>
                <a:t>C</a:t>
              </a:r>
            </a:p>
          </p:txBody>
        </p:sp>
        <p:sp>
          <p:nvSpPr>
            <p:cNvPr id="24605" name="Text Box 30"/>
            <p:cNvSpPr txBox="1">
              <a:spLocks noChangeArrowheads="1"/>
            </p:cNvSpPr>
            <p:nvPr/>
          </p:nvSpPr>
          <p:spPr bwMode="auto">
            <a:xfrm>
              <a:off x="4027303" y="5300246"/>
              <a:ext cx="544697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latinLnBrk="1">
                <a:spcBef>
                  <a:spcPct val="50000"/>
                </a:spcBef>
              </a:pPr>
              <a:r>
                <a:rPr kumimoji="1" lang="en-US" altLang="ko-KR" sz="1600">
                  <a:latin typeface="Open Sans"/>
                  <a:ea typeface="굴림" pitchFamily="50" charset="-127"/>
                </a:rPr>
                <a:t>d</a:t>
              </a:r>
            </a:p>
          </p:txBody>
        </p:sp>
        <p:sp>
          <p:nvSpPr>
            <p:cNvPr id="24606" name="Text Box 31"/>
            <p:cNvSpPr txBox="1">
              <a:spLocks noChangeArrowheads="1"/>
            </p:cNvSpPr>
            <p:nvPr/>
          </p:nvSpPr>
          <p:spPr bwMode="auto">
            <a:xfrm>
              <a:off x="5551302" y="4670425"/>
              <a:ext cx="544698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latinLnBrk="1">
                <a:spcBef>
                  <a:spcPct val="50000"/>
                </a:spcBef>
              </a:pPr>
              <a:r>
                <a:rPr kumimoji="1" lang="en-US" altLang="ko-KR" sz="1600">
                  <a:latin typeface="Open Sans"/>
                  <a:ea typeface="굴림" pitchFamily="50" charset="-127"/>
                </a:rPr>
                <a:t>c</a:t>
              </a:r>
            </a:p>
          </p:txBody>
        </p:sp>
        <p:cxnSp>
          <p:nvCxnSpPr>
            <p:cNvPr id="24617" name="AutoShape 44"/>
            <p:cNvCxnSpPr>
              <a:cxnSpLocks noChangeShapeType="1"/>
              <a:stCxn id="24585" idx="5"/>
              <a:endCxn id="24585" idx="6"/>
            </p:cNvCxnSpPr>
            <p:nvPr/>
          </p:nvCxnSpPr>
          <p:spPr bwMode="auto">
            <a:xfrm rot="5400000" flipH="1" flipV="1">
              <a:off x="7956265" y="5064648"/>
              <a:ext cx="411969" cy="287099"/>
            </a:xfrm>
            <a:prstGeom prst="curvedConnector4">
              <a:avLst>
                <a:gd name="adj1" fmla="val -96911"/>
                <a:gd name="adj2" fmla="val 179624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</p:spPr>
        </p:cxnSp>
        <p:cxnSp>
          <p:nvCxnSpPr>
            <p:cNvPr id="24618" name="AutoShape 45"/>
            <p:cNvCxnSpPr>
              <a:cxnSpLocks noChangeShapeType="1"/>
              <a:stCxn id="24583" idx="5"/>
              <a:endCxn id="24583" idx="6"/>
            </p:cNvCxnSpPr>
            <p:nvPr/>
          </p:nvCxnSpPr>
          <p:spPr bwMode="auto">
            <a:xfrm rot="5400000" flipH="1" flipV="1">
              <a:off x="6430020" y="3625443"/>
              <a:ext cx="416459" cy="287099"/>
            </a:xfrm>
            <a:prstGeom prst="curvedConnector4">
              <a:avLst>
                <a:gd name="adj1" fmla="val -96313"/>
                <a:gd name="adj2" fmla="val 179624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</p:spPr>
        </p:cxnSp>
        <p:sp>
          <p:nvSpPr>
            <p:cNvPr id="24619" name="Text Box 46"/>
            <p:cNvSpPr txBox="1">
              <a:spLocks noChangeArrowheads="1"/>
            </p:cNvSpPr>
            <p:nvPr/>
          </p:nvSpPr>
          <p:spPr bwMode="auto">
            <a:xfrm>
              <a:off x="6999102" y="3852446"/>
              <a:ext cx="544698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latinLnBrk="1">
                <a:spcBef>
                  <a:spcPct val="50000"/>
                </a:spcBef>
              </a:pPr>
              <a:r>
                <a:rPr kumimoji="1" lang="en-US" altLang="ko-KR" sz="1600">
                  <a:latin typeface="Open Sans"/>
                  <a:ea typeface="굴림" pitchFamily="50" charset="-127"/>
                </a:rPr>
                <a:t>c</a:t>
              </a:r>
            </a:p>
          </p:txBody>
        </p:sp>
        <p:sp>
          <p:nvSpPr>
            <p:cNvPr id="24620" name="Text Box 47"/>
            <p:cNvSpPr txBox="1">
              <a:spLocks noChangeArrowheads="1"/>
            </p:cNvSpPr>
            <p:nvPr/>
          </p:nvSpPr>
          <p:spPr bwMode="auto">
            <a:xfrm>
              <a:off x="7913502" y="5638800"/>
              <a:ext cx="544698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latinLnBrk="1">
                <a:spcBef>
                  <a:spcPct val="50000"/>
                </a:spcBef>
              </a:pPr>
              <a:r>
                <a:rPr kumimoji="1" lang="en-US" altLang="ko-KR" sz="1600">
                  <a:latin typeface="Open Sans"/>
                  <a:ea typeface="굴림" pitchFamily="50" charset="-127"/>
                </a:rPr>
                <a:t>c</a:t>
              </a:r>
            </a:p>
          </p:txBody>
        </p:sp>
        <p:cxnSp>
          <p:nvCxnSpPr>
            <p:cNvPr id="53" name="Straight Arrow Connector 52"/>
            <p:cNvCxnSpPr>
              <a:stCxn id="24582" idx="0"/>
              <a:endCxn id="24580" idx="2"/>
            </p:cNvCxnSpPr>
            <p:nvPr/>
          </p:nvCxnSpPr>
          <p:spPr>
            <a:xfrm rot="5400000" flipH="1" flipV="1">
              <a:off x="2731037" y="2426107"/>
              <a:ext cx="287337" cy="540525"/>
            </a:xfrm>
            <a:prstGeom prst="bentConnector2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2"/>
            <p:cNvCxnSpPr>
              <a:stCxn id="24583" idx="0"/>
              <a:endCxn id="24581" idx="2"/>
            </p:cNvCxnSpPr>
            <p:nvPr/>
          </p:nvCxnSpPr>
          <p:spPr>
            <a:xfrm rot="5400000" flipH="1" flipV="1">
              <a:off x="5978226" y="2376059"/>
              <a:ext cx="419100" cy="772383"/>
            </a:xfrm>
            <a:prstGeom prst="bentConnector2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Arrow Connector 52"/>
            <p:cNvCxnSpPr>
              <a:stCxn id="24582" idx="6"/>
              <a:endCxn id="24583" idx="2"/>
            </p:cNvCxnSpPr>
            <p:nvPr/>
          </p:nvCxnSpPr>
          <p:spPr>
            <a:xfrm flipV="1">
              <a:off x="3584659" y="3560763"/>
              <a:ext cx="1236710" cy="30956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Arrow Connector 52"/>
            <p:cNvCxnSpPr>
              <a:stCxn id="24582" idx="2"/>
              <a:endCxn id="24589" idx="1"/>
            </p:cNvCxnSpPr>
            <p:nvPr/>
          </p:nvCxnSpPr>
          <p:spPr>
            <a:xfrm rot="10800000" flipV="1">
              <a:off x="1382397" y="3591719"/>
              <a:ext cx="241831" cy="1163370"/>
            </a:xfrm>
            <a:prstGeom prst="bentConnector2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Arrow Connector 52"/>
            <p:cNvCxnSpPr>
              <a:stCxn id="24582" idx="4"/>
              <a:endCxn id="24584" idx="2"/>
            </p:cNvCxnSpPr>
            <p:nvPr/>
          </p:nvCxnSpPr>
          <p:spPr>
            <a:xfrm rot="16200000" flipH="1">
              <a:off x="2779455" y="4168387"/>
              <a:ext cx="342901" cy="692925"/>
            </a:xfrm>
            <a:prstGeom prst="bentConnector2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Arrow Connector 52"/>
            <p:cNvCxnSpPr>
              <a:stCxn id="24584" idx="6"/>
              <a:endCxn id="24585" idx="2"/>
            </p:cNvCxnSpPr>
            <p:nvPr/>
          </p:nvCxnSpPr>
          <p:spPr>
            <a:xfrm>
              <a:off x="5257800" y="4686301"/>
              <a:ext cx="1087568" cy="315912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Arrow Connector 52"/>
            <p:cNvCxnSpPr>
              <a:stCxn id="24585" idx="3"/>
              <a:endCxn id="24588" idx="0"/>
            </p:cNvCxnSpPr>
            <p:nvPr/>
          </p:nvCxnSpPr>
          <p:spPr>
            <a:xfrm rot="5400000">
              <a:off x="6350714" y="5682485"/>
              <a:ext cx="550056" cy="13451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Text Box 27"/>
            <p:cNvSpPr txBox="1">
              <a:spLocks noChangeArrowheads="1"/>
            </p:cNvSpPr>
            <p:nvPr/>
          </p:nvSpPr>
          <p:spPr bwMode="auto">
            <a:xfrm>
              <a:off x="6324600" y="5452646"/>
              <a:ext cx="544697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latinLnBrk="1">
                <a:spcBef>
                  <a:spcPct val="50000"/>
                </a:spcBef>
              </a:pPr>
              <a:r>
                <a:rPr kumimoji="1" lang="en-US" altLang="ko-KR" sz="1600">
                  <a:latin typeface="Open Sans"/>
                  <a:ea typeface="굴림" pitchFamily="50" charset="-127"/>
                </a:rPr>
                <a:t>C</a:t>
              </a:r>
            </a:p>
          </p:txBody>
        </p:sp>
        <p:cxnSp>
          <p:nvCxnSpPr>
            <p:cNvPr id="87" name="Straight Arrow Connector 52"/>
            <p:cNvCxnSpPr>
              <a:stCxn id="24584" idx="4"/>
            </p:cNvCxnSpPr>
            <p:nvPr/>
          </p:nvCxnSpPr>
          <p:spPr>
            <a:xfrm rot="5400000">
              <a:off x="4043794" y="5481209"/>
              <a:ext cx="457199" cy="10382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Arrow Connector 52"/>
            <p:cNvCxnSpPr>
              <a:stCxn id="24584" idx="3"/>
              <a:endCxn id="24586" idx="0"/>
            </p:cNvCxnSpPr>
            <p:nvPr/>
          </p:nvCxnSpPr>
          <p:spPr>
            <a:xfrm rot="5400000">
              <a:off x="2829403" y="4807535"/>
              <a:ext cx="472187" cy="1037943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Rectangle 2">
            <a:extLst>
              <a:ext uri="{FF2B5EF4-FFF2-40B4-BE49-F238E27FC236}">
                <a16:creationId xmlns:a16="http://schemas.microsoft.com/office/drawing/2014/main" id="{08C9C8FA-1A79-BE4E-A126-F66B4E4FDE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76600" y="152400"/>
            <a:ext cx="5334000" cy="762000"/>
          </a:xfrm>
        </p:spPr>
        <p:txBody>
          <a:bodyPr>
            <a:normAutofit fontScale="90000"/>
          </a:bodyPr>
          <a:lstStyle/>
          <a:p>
            <a:pPr algn="r"/>
            <a:r>
              <a:rPr lang="en-US" altLang="ko-KR" sz="2800" dirty="0">
                <a:ea typeface="굴림" pitchFamily="50" charset="-127"/>
              </a:rPr>
              <a:t>Constructing LR(1) Parsing Table </a:t>
            </a:r>
            <a:br>
              <a:rPr lang="en-US" altLang="ko-KR" sz="2800" dirty="0">
                <a:ea typeface="굴림" pitchFamily="50" charset="-127"/>
              </a:rPr>
            </a:br>
            <a:r>
              <a:rPr lang="en-US" altLang="ko-KR" sz="2800" dirty="0">
                <a:ea typeface="굴림" pitchFamily="50" charset="-127"/>
              </a:rPr>
              <a:t>(3/4) 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43000" y="1600200"/>
            <a:ext cx="2743200" cy="4702175"/>
          </a:xfrm>
        </p:spPr>
        <p:txBody>
          <a:bodyPr>
            <a:normAutofit/>
          </a:bodyPr>
          <a:lstStyle/>
          <a:p>
            <a:r>
              <a:rPr lang="en-US" altLang="ko-KR">
                <a:ea typeface="굴림" pitchFamily="50" charset="-127"/>
              </a:rPr>
              <a:t>Example</a:t>
            </a:r>
          </a:p>
          <a:p>
            <a:pPr>
              <a:buNone/>
            </a:pPr>
            <a:r>
              <a:rPr lang="en-US" altLang="ko-KR">
                <a:ea typeface="굴림" pitchFamily="50" charset="-127"/>
              </a:rPr>
              <a:t>	S</a:t>
            </a:r>
            <a:r>
              <a:rPr lang="en-US" altLang="ko-KR" dirty="0">
                <a:ea typeface="굴림" pitchFamily="50" charset="-127"/>
              </a:rPr>
              <a:t>' </a:t>
            </a:r>
            <a:r>
              <a:rPr lang="en-US" altLang="ko-KR">
                <a:ea typeface="굴림" pitchFamily="50" charset="-127"/>
              </a:rPr>
              <a:t>→ S</a:t>
            </a:r>
          </a:p>
          <a:p>
            <a:pPr>
              <a:buNone/>
            </a:pPr>
            <a:r>
              <a:rPr lang="en-US" altLang="ko-KR">
                <a:ea typeface="굴림" pitchFamily="50" charset="-127"/>
              </a:rPr>
              <a:t>	S → CC</a:t>
            </a:r>
          </a:p>
          <a:p>
            <a:pPr>
              <a:buNone/>
            </a:pPr>
            <a:r>
              <a:rPr lang="en-US" altLang="ko-KR">
                <a:ea typeface="굴림" pitchFamily="50" charset="-127"/>
              </a:rPr>
              <a:t>	C </a:t>
            </a:r>
            <a:r>
              <a:rPr lang="en-US" altLang="ko-KR" dirty="0">
                <a:ea typeface="굴림" pitchFamily="50" charset="-127"/>
              </a:rPr>
              <a:t>→ </a:t>
            </a:r>
            <a:r>
              <a:rPr lang="en-US" altLang="ko-KR" dirty="0" err="1">
                <a:ea typeface="굴림" pitchFamily="50" charset="-127"/>
              </a:rPr>
              <a:t>cC</a:t>
            </a:r>
            <a:r>
              <a:rPr lang="en-US" altLang="ko-KR" dirty="0">
                <a:ea typeface="굴림" pitchFamily="50" charset="-127"/>
              </a:rPr>
              <a:t> | d </a:t>
            </a:r>
          </a:p>
        </p:txBody>
      </p:sp>
      <p:graphicFrame>
        <p:nvGraphicFramePr>
          <p:cNvPr id="55345" name="Group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0759210"/>
              </p:ext>
            </p:extLst>
          </p:nvPr>
        </p:nvGraphicFramePr>
        <p:xfrm>
          <a:off x="4191001" y="1142996"/>
          <a:ext cx="4648200" cy="4495804"/>
        </p:xfrm>
        <a:graphic>
          <a:graphicData uri="http://schemas.openxmlformats.org/drawingml/2006/table">
            <a:tbl>
              <a:tblPr/>
              <a:tblGrid>
                <a:gridCol w="9296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43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65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48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13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8134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8945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State</a:t>
                      </a:r>
                      <a:r>
                        <a:rPr kumimoji="0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한양신명조" charset="-127"/>
                        </a:rPr>
                        <a:t> </a:t>
                      </a:r>
                      <a:endParaRPr kumimoji="0" lang="en-US" altLang="ko-K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18000" marR="18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Action</a:t>
                      </a:r>
                      <a:endParaRPr kumimoji="0" lang="en-US" altLang="ko-K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Goto</a:t>
                      </a:r>
                      <a:endParaRPr kumimoji="0" lang="en-US" altLang="ko-K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894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c</a:t>
                      </a:r>
                      <a:endParaRPr kumimoji="0" lang="en-US" altLang="ko-K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d</a:t>
                      </a:r>
                      <a:endParaRPr kumimoji="0" lang="en-US" altLang="ko-K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$</a:t>
                      </a:r>
                      <a:endParaRPr kumimoji="0" lang="en-US" altLang="ko-K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S</a:t>
                      </a:r>
                      <a:endParaRPr kumimoji="0" lang="en-US" altLang="ko-K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C</a:t>
                      </a:r>
                      <a:endParaRPr kumimoji="0" lang="en-US" altLang="ko-K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894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0</a:t>
                      </a:r>
                      <a:endParaRPr kumimoji="0" lang="en-US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18000" marR="18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S3</a:t>
                      </a:r>
                      <a:endParaRPr kumimoji="0" lang="en-US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S4</a:t>
                      </a:r>
                      <a:endParaRPr kumimoji="0" lang="en-US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　</a:t>
                      </a:r>
                      <a:endParaRPr kumimoji="0" lang="ko-KR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1</a:t>
                      </a:r>
                      <a:endParaRPr kumimoji="0" lang="en-US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2</a:t>
                      </a:r>
                      <a:endParaRPr kumimoji="0" lang="en-US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740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1</a:t>
                      </a:r>
                      <a:endParaRPr kumimoji="0" lang="en-US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18000" marR="18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　</a:t>
                      </a:r>
                      <a:endParaRPr kumimoji="0" lang="ko-KR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　</a:t>
                      </a:r>
                      <a:endParaRPr kumimoji="0" lang="ko-KR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Accept</a:t>
                      </a:r>
                      <a:endParaRPr kumimoji="0" lang="en-US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　</a:t>
                      </a:r>
                      <a:endParaRPr kumimoji="0" lang="ko-KR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　</a:t>
                      </a:r>
                      <a:endParaRPr kumimoji="0" lang="ko-KR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894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2</a:t>
                      </a:r>
                      <a:endParaRPr kumimoji="0" lang="en-US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18000" marR="18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S6</a:t>
                      </a:r>
                      <a:endParaRPr kumimoji="0" lang="en-US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S7</a:t>
                      </a:r>
                      <a:endParaRPr kumimoji="0" lang="en-US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　</a:t>
                      </a:r>
                      <a:endParaRPr kumimoji="0" lang="ko-KR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　</a:t>
                      </a:r>
                      <a:endParaRPr kumimoji="0" lang="ko-KR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5</a:t>
                      </a:r>
                      <a:endParaRPr kumimoji="0" lang="en-US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894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3</a:t>
                      </a:r>
                      <a:endParaRPr kumimoji="0" lang="en-US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18000" marR="18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S3</a:t>
                      </a:r>
                      <a:endParaRPr kumimoji="0" lang="en-US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S4</a:t>
                      </a:r>
                      <a:endParaRPr kumimoji="0" lang="en-US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　</a:t>
                      </a:r>
                      <a:endParaRPr kumimoji="0" lang="ko-KR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　</a:t>
                      </a:r>
                      <a:endParaRPr kumimoji="0" lang="ko-KR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8</a:t>
                      </a:r>
                      <a:endParaRPr kumimoji="0" lang="en-US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894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4</a:t>
                      </a:r>
                      <a:endParaRPr kumimoji="0" lang="en-US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18000" marR="18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R3</a:t>
                      </a:r>
                      <a:endParaRPr kumimoji="0" lang="en-US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R3</a:t>
                      </a:r>
                      <a:endParaRPr kumimoji="0" lang="en-US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　</a:t>
                      </a:r>
                      <a:endParaRPr kumimoji="0" lang="ko-KR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　</a:t>
                      </a:r>
                      <a:endParaRPr kumimoji="0" lang="ko-KR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　</a:t>
                      </a:r>
                      <a:endParaRPr kumimoji="0" lang="ko-KR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894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5</a:t>
                      </a:r>
                      <a:endParaRPr kumimoji="0" lang="en-US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18000" marR="18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　</a:t>
                      </a:r>
                      <a:endParaRPr kumimoji="0" lang="ko-KR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　</a:t>
                      </a:r>
                      <a:endParaRPr kumimoji="0" lang="ko-KR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R1</a:t>
                      </a:r>
                      <a:endParaRPr kumimoji="0" lang="en-US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　</a:t>
                      </a:r>
                      <a:endParaRPr kumimoji="0" lang="ko-KR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　</a:t>
                      </a:r>
                      <a:endParaRPr kumimoji="0" lang="ko-KR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894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6</a:t>
                      </a:r>
                      <a:endParaRPr kumimoji="0" lang="en-US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18000" marR="18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S6</a:t>
                      </a:r>
                      <a:endParaRPr kumimoji="0" lang="en-US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S7</a:t>
                      </a:r>
                      <a:endParaRPr kumimoji="0" lang="en-US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　</a:t>
                      </a:r>
                      <a:endParaRPr kumimoji="0" lang="ko-KR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　</a:t>
                      </a:r>
                      <a:endParaRPr kumimoji="0" lang="ko-KR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9</a:t>
                      </a:r>
                      <a:endParaRPr kumimoji="0" lang="en-US" altLang="ko-K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894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7</a:t>
                      </a:r>
                      <a:endParaRPr kumimoji="0" lang="en-US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18000" marR="18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　</a:t>
                      </a:r>
                      <a:endParaRPr kumimoji="0" lang="ko-KR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　</a:t>
                      </a:r>
                      <a:endParaRPr kumimoji="0" lang="ko-KR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R3</a:t>
                      </a:r>
                      <a:endParaRPr kumimoji="0" lang="en-US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　</a:t>
                      </a:r>
                      <a:endParaRPr kumimoji="0" lang="ko-KR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　</a:t>
                      </a:r>
                      <a:endParaRPr kumimoji="0" lang="ko-KR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894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8</a:t>
                      </a:r>
                      <a:endParaRPr kumimoji="0" lang="en-US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18000" marR="18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R2</a:t>
                      </a:r>
                      <a:endParaRPr kumimoji="0" lang="en-US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R2</a:t>
                      </a:r>
                      <a:endParaRPr kumimoji="0" lang="en-US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　</a:t>
                      </a:r>
                      <a:endParaRPr kumimoji="0" lang="ko-KR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　</a:t>
                      </a:r>
                      <a:endParaRPr kumimoji="0" lang="ko-KR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　</a:t>
                      </a:r>
                      <a:endParaRPr kumimoji="0" lang="ko-KR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894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9</a:t>
                      </a:r>
                      <a:endParaRPr kumimoji="0" lang="en-US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18000" marR="18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　</a:t>
                      </a:r>
                      <a:endParaRPr kumimoji="0" lang="ko-KR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　</a:t>
                      </a:r>
                      <a:endParaRPr kumimoji="0" lang="ko-KR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R2</a:t>
                      </a:r>
                      <a:endParaRPr kumimoji="0" lang="en-US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　</a:t>
                      </a:r>
                      <a:endParaRPr kumimoji="0" lang="ko-KR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돋움" pitchFamily="50" charset="-127"/>
                          <a:ea typeface="한양신명조" charset="-127"/>
                        </a:rPr>
                        <a:t>　</a:t>
                      </a:r>
                      <a:endParaRPr kumimoji="0" lang="ko-KR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4711" name="Text Box 138"/>
          <p:cNvSpPr txBox="1">
            <a:spLocks noChangeArrowheads="1"/>
          </p:cNvSpPr>
          <p:nvPr/>
        </p:nvSpPr>
        <p:spPr bwMode="auto">
          <a:xfrm>
            <a:off x="5638800" y="5867400"/>
            <a:ext cx="24479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latinLnBrk="1">
              <a:spcBef>
                <a:spcPct val="50000"/>
              </a:spcBef>
            </a:pPr>
            <a:r>
              <a:rPr kumimoji="1" lang="en-US" altLang="ko-KR" sz="1400" b="1" dirty="0">
                <a:latin typeface="Tahoma" pitchFamily="34" charset="0"/>
                <a:ea typeface="굴림" pitchFamily="50" charset="-127"/>
              </a:rPr>
              <a:t>&lt;LR(1) Parsing Table &gt;                 </a:t>
            </a:r>
          </a:p>
        </p:txBody>
      </p:sp>
      <p:sp>
        <p:nvSpPr>
          <p:cNvPr id="49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Bina</a:t>
            </a:r>
            <a:r>
              <a:rPr lang="en-US" dirty="0"/>
              <a:t> Nusantara University</a:t>
            </a:r>
          </a:p>
        </p:txBody>
      </p:sp>
      <p:sp>
        <p:nvSpPr>
          <p:cNvPr id="2471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9C486D1-6D97-44DA-9C41-629A63C1A45D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83A41BA6-94E7-0C44-8C8F-DCFD93AC55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76600" y="152400"/>
            <a:ext cx="5334000" cy="762000"/>
          </a:xfrm>
        </p:spPr>
        <p:txBody>
          <a:bodyPr>
            <a:normAutofit fontScale="90000"/>
          </a:bodyPr>
          <a:lstStyle/>
          <a:p>
            <a:pPr algn="r"/>
            <a:r>
              <a:rPr lang="en-US" altLang="ko-KR" sz="2800" dirty="0">
                <a:ea typeface="굴림" pitchFamily="50" charset="-127"/>
              </a:rPr>
              <a:t>Constructing LR(1) Parsing Table </a:t>
            </a:r>
            <a:br>
              <a:rPr lang="en-US" altLang="ko-KR" sz="2800" dirty="0">
                <a:ea typeface="굴림" pitchFamily="50" charset="-127"/>
              </a:rPr>
            </a:br>
            <a:r>
              <a:rPr lang="en-US" altLang="ko-KR" sz="2800" dirty="0">
                <a:ea typeface="굴림" pitchFamily="50" charset="-127"/>
              </a:rPr>
              <a:t>(4/4) 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0" y="228600"/>
            <a:ext cx="5466928" cy="914400"/>
          </a:xfrm>
        </p:spPr>
        <p:txBody>
          <a:bodyPr/>
          <a:lstStyle/>
          <a:p>
            <a:r>
              <a:rPr lang="en-US" dirty="0"/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1600200"/>
            <a:ext cx="7620000" cy="4648200"/>
          </a:xfrm>
        </p:spPr>
        <p:txBody>
          <a:bodyPr/>
          <a:lstStyle/>
          <a:p>
            <a:pPr marL="0" lvl="0" indent="0">
              <a:buNone/>
            </a:pPr>
            <a:r>
              <a:rPr lang="en-US" dirty="0"/>
              <a:t>Consider a grammar below :</a:t>
            </a:r>
          </a:p>
          <a:p>
            <a:pPr marL="0" lvl="0" indent="0">
              <a:buNone/>
            </a:pPr>
            <a:r>
              <a:rPr lang="en-US" b="1" dirty="0"/>
              <a:t>	S </a:t>
            </a:r>
            <a:r>
              <a:rPr lang="en-US" b="1" dirty="0">
                <a:sym typeface="Wingdings"/>
              </a:rPr>
              <a:t></a:t>
            </a:r>
            <a:r>
              <a:rPr lang="en-US" b="1" dirty="0"/>
              <a:t> ( L ) | a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	L </a:t>
            </a:r>
            <a:r>
              <a:rPr lang="en-US" b="1" dirty="0">
                <a:sym typeface="Wingdings"/>
              </a:rPr>
              <a:t></a:t>
            </a:r>
            <a:r>
              <a:rPr lang="en-US" b="1" dirty="0"/>
              <a:t> L , S | S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Question :</a:t>
            </a:r>
          </a:p>
          <a:p>
            <a:pPr marL="457200" lvl="0" indent="-457200" algn="just">
              <a:buFont typeface="+mj-lt"/>
              <a:buAutoNum type="arabicPeriod"/>
            </a:pPr>
            <a:r>
              <a:rPr lang="en-US" dirty="0"/>
              <a:t>Construct an augmented grammar, and kernel/non-kernel item set</a:t>
            </a:r>
          </a:p>
          <a:p>
            <a:pPr marL="457200" lvl="0" indent="-457200" algn="just">
              <a:buFont typeface="+mj-lt"/>
              <a:buAutoNum type="arabicPeriod"/>
            </a:pPr>
            <a:r>
              <a:rPr lang="en-US" dirty="0"/>
              <a:t>Construct Transition diagram for </a:t>
            </a:r>
            <a:r>
              <a:rPr lang="en-US"/>
              <a:t>GOTO operation</a:t>
            </a:r>
            <a:endParaRPr lang="en-US" dirty="0"/>
          </a:p>
          <a:p>
            <a:pPr marL="457200" lvl="0" indent="-457200" algn="just">
              <a:buFont typeface="+mj-lt"/>
              <a:buAutoNum type="arabicPeriod"/>
            </a:pPr>
            <a:r>
              <a:rPr lang="en-US"/>
              <a:t>Construct  an SLR 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60625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>
          <a:xfrm>
            <a:off x="3124200" y="228600"/>
            <a:ext cx="5847928" cy="685800"/>
          </a:xfrm>
        </p:spPr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25603" name="Content Placeholder 2"/>
          <p:cNvSpPr>
            <a:spLocks noGrp="1"/>
          </p:cNvSpPr>
          <p:nvPr>
            <p:ph idx="1"/>
          </p:nvPr>
        </p:nvSpPr>
        <p:spPr>
          <a:xfrm>
            <a:off x="1295400" y="1905000"/>
            <a:ext cx="7391400" cy="4221163"/>
          </a:xfrm>
        </p:spPr>
        <p:txBody>
          <a:bodyPr/>
          <a:lstStyle/>
          <a:p>
            <a:pPr algn="just"/>
            <a:r>
              <a:rPr lang="en-AU" dirty="0" err="1"/>
              <a:t>Aho</a:t>
            </a:r>
            <a:r>
              <a:rPr lang="en-AU" dirty="0"/>
              <a:t>, A.V., Ravi, S., &amp; Ullman, J.D. (2007). </a:t>
            </a:r>
            <a:r>
              <a:rPr lang="en-AU" b="1" i="1" dirty="0"/>
              <a:t>Compiler : Principle, techniques and tools</a:t>
            </a:r>
            <a:r>
              <a:rPr lang="en-AU" dirty="0"/>
              <a:t>. 2nd. Addison-Wesley. New York. ISBN : 0321491696, Chapter 4.5 – 4.9 (page 233-295)</a:t>
            </a:r>
          </a:p>
          <a:p>
            <a:pPr algn="just"/>
            <a:r>
              <a:rPr lang="en-AU" u="sng" dirty="0">
                <a:hlinkClick r:id="rId2"/>
              </a:rPr>
              <a:t>http://dragonbook.stanford.edu/lecture-notes/Stanford-CS143/08-Bottom-Up-Parsing.pdf</a:t>
            </a:r>
            <a:endParaRPr lang="en-AU" u="sng" dirty="0"/>
          </a:p>
          <a:p>
            <a:pPr algn="just"/>
            <a:r>
              <a:rPr lang="en-AU" dirty="0">
                <a:hlinkClick r:id="rId3"/>
              </a:rPr>
              <a:t>http://www.cs.tau.ac.il/~msagiv/courses/wcc05/parsing1.ppt</a:t>
            </a:r>
            <a:endParaRPr lang="en-AU" dirty="0"/>
          </a:p>
          <a:p>
            <a:pPr algn="just">
              <a:buFontTx/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Bina Nusantara University</a:t>
            </a:r>
          </a:p>
        </p:txBody>
      </p:sp>
      <p:sp>
        <p:nvSpPr>
          <p:cNvPr id="2560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5174207-59EF-4AF6-AB4A-72B70DCBF322}" type="slidenum">
              <a:rPr lang="en-US" smtClean="0"/>
              <a:pPr/>
              <a:t>29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plate PPT 2015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 PPT 2015</Template>
  <TotalTime>18591</TotalTime>
  <Words>3428</Words>
  <Application>Microsoft Macintosh PowerPoint</Application>
  <PresentationFormat>On-screen Show (4:3)</PresentationFormat>
  <Paragraphs>694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8" baseType="lpstr">
      <vt:lpstr>돋움</vt:lpstr>
      <vt:lpstr>굴림</vt:lpstr>
      <vt:lpstr>Arial</vt:lpstr>
      <vt:lpstr>Calibri</vt:lpstr>
      <vt:lpstr>Open Sans</vt:lpstr>
      <vt:lpstr>Symbol</vt:lpstr>
      <vt:lpstr>Tahoma</vt:lpstr>
      <vt:lpstr>Times New Roman</vt:lpstr>
      <vt:lpstr>Template PPT 2015</vt:lpstr>
      <vt:lpstr>Bottom Up Parsing Session  14-15-16</vt:lpstr>
      <vt:lpstr>Learning Outcomes</vt:lpstr>
      <vt:lpstr>Content Outline </vt:lpstr>
      <vt:lpstr>Introduction of Bottom-Up Parser</vt:lpstr>
      <vt:lpstr>Introduction of Bottom-Up Parser</vt:lpstr>
      <vt:lpstr>Handles of String (1/2)</vt:lpstr>
      <vt:lpstr>Handles of String (2/2)</vt:lpstr>
      <vt:lpstr>LR(k) Parsers</vt:lpstr>
      <vt:lpstr>LR(k) Parsers</vt:lpstr>
      <vt:lpstr>Constructing SLR (Simple LR) parser (Finding LR(0) Item)</vt:lpstr>
      <vt:lpstr>Constructing SLR (Simple LR) parser (Three Operation)</vt:lpstr>
      <vt:lpstr>Constructing SLR (Simple LR) parser (Closure Example)</vt:lpstr>
      <vt:lpstr>Constructing SLR (Simple LR) parser (Go To Operation)</vt:lpstr>
      <vt:lpstr>Constructing SLR (Simple LR) parser (DFA Construction)</vt:lpstr>
      <vt:lpstr>Constructing SLR (Simple LR) parser</vt:lpstr>
      <vt:lpstr>Constructing SLR (Simple LR) parser (Go to Table)</vt:lpstr>
      <vt:lpstr>Constructing SLR (Simple LR) parser</vt:lpstr>
      <vt:lpstr>Constructing SLR (Simple LR) parser</vt:lpstr>
      <vt:lpstr>Stack Implementation of  Shift-Reduce Parsing</vt:lpstr>
      <vt:lpstr>Viable Prefix</vt:lpstr>
      <vt:lpstr>Conflict During Shift-Reduce Parsing</vt:lpstr>
      <vt:lpstr>Constructing SLR (Simple LR) parser</vt:lpstr>
      <vt:lpstr>Constructing SLR (Simple LR) parser</vt:lpstr>
      <vt:lpstr>Constructing LR(1) Parsing Table  (1/4) </vt:lpstr>
      <vt:lpstr>Constructing LR(1) Parsing Table  (2/4) </vt:lpstr>
      <vt:lpstr>Constructing LR(1) Parsing Table  (3/4) </vt:lpstr>
      <vt:lpstr>Constructing LR(1) Parsing Table  (4/4) </vt:lpstr>
      <vt:lpstr>Exercise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  Session  #</dc:title>
  <dc:creator>Yulia</dc:creator>
  <cp:lastModifiedBy>Ayuliana, S.T., MMSI.</cp:lastModifiedBy>
  <cp:revision>120</cp:revision>
  <dcterms:created xsi:type="dcterms:W3CDTF">2015-05-04T03:33:03Z</dcterms:created>
  <dcterms:modified xsi:type="dcterms:W3CDTF">2023-12-11T04:43:23Z</dcterms:modified>
</cp:coreProperties>
</file>